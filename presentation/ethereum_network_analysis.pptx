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tags/tag1.xml" ContentType="application/vnd.openxmlformats-officedocument.presentationml.tags+xml"/>
  <Override PartName="/ppt/tags/tag2.xml" ContentType="application/vnd.openxmlformats-officedocument.presentationml.tags+xml"/>
  <Override PartName="/ppt/tags/tag3.xml" ContentType="application/vnd.openxmlformats-officedocument.presentationml.tags+xml"/>
  <Override PartName="/ppt/notesSlides/notesSlide1.xml" ContentType="application/vnd.openxmlformats-officedocument.presentationml.notesSlide+xml"/>
  <Override PartName="/ppt/notesSlides/notesSlide2.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tags/tag4.xml" ContentType="application/vnd.openxmlformats-officedocument.presentationml.tags+xml"/>
  <Override PartName="/ppt/tags/tag5.xml" ContentType="application/vnd.openxmlformats-officedocument.presentationml.tags+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tags/tag6.xml" ContentType="application/vnd.openxmlformats-officedocument.presentationml.tags+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tags/tag7.xml" ContentType="application/vnd.openxmlformats-officedocument.presentationml.tags+xml"/>
  <Override PartName="/ppt/tags/tag8.xml" ContentType="application/vnd.openxmlformats-officedocument.presentationml.tags+xml"/>
  <Override PartName="/ppt/notesSlides/notesSlide17.xml" ContentType="application/vnd.openxmlformats-officedocument.presentationml.notesSlide+xml"/>
  <Override PartName="/ppt/tags/tag9.xml" ContentType="application/vnd.openxmlformats-officedocument.presentationml.tags+xml"/>
  <Override PartName="/ppt/tags/tag10.xml" ContentType="application/vnd.openxmlformats-officedocument.presentationml.tags+xml"/>
  <Override PartName="/ppt/notesSlides/notesSlide18.xml" ContentType="application/vnd.openxmlformats-officedocument.presentationml.notesSlide+xml"/>
  <Override PartName="/ppt/tags/tag11.xml" ContentType="application/vnd.openxmlformats-officedocument.presentationml.tags+xml"/>
  <Override PartName="/ppt/tags/tag12.xml" ContentType="application/vnd.openxmlformats-officedocument.presentationml.tags+xml"/>
  <Override PartName="/ppt/notesSlides/notesSlide19.xml" ContentType="application/vnd.openxmlformats-officedocument.presentationml.notesSlide+xml"/>
  <Override PartName="/ppt/tags/tag13.xml" ContentType="application/vnd.openxmlformats-officedocument.presentationml.tags+xml"/>
  <Override PartName="/ppt/tags/tag14.xml" ContentType="application/vnd.openxmlformats-officedocument.presentationml.tags+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tags/tag15.xml" ContentType="application/vnd.openxmlformats-officedocument.presentationml.tags+xml"/>
  <Override PartName="/ppt/tags/tag16.xml" ContentType="application/vnd.openxmlformats-officedocument.presentationml.tags+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tags/tag17.xml" ContentType="application/vnd.openxmlformats-officedocument.presentationml.tags+xml"/>
  <Override PartName="/ppt/tags/tag18.xml" ContentType="application/vnd.openxmlformats-officedocument.presentationml.tags+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tags/tag19.xml" ContentType="application/vnd.openxmlformats-officedocument.presentationml.tags+xml"/>
  <Override PartName="/ppt/tags/tag20.xml" ContentType="application/vnd.openxmlformats-officedocument.presentationml.tags+xml"/>
  <Override PartName="/ppt/notesSlides/notesSlide26.xml" ContentType="application/vnd.openxmlformats-officedocument.presentationml.notesSlide+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notesSlides/notesSlide27.xml" ContentType="application/vnd.openxmlformats-officedocument.presentationml.notesSlide+xml"/>
  <Override PartName="/ppt/tags/tag24.xml" ContentType="application/vnd.openxmlformats-officedocument.presentationml.tags+xml"/>
  <Override PartName="/ppt/tags/tag25.xml" ContentType="application/vnd.openxmlformats-officedocument.presentationml.tags+xml"/>
  <Override PartName="/ppt/tags/tag26.xml" ContentType="application/vnd.openxmlformats-officedocument.presentationml.tags+xml"/>
  <Override PartName="/ppt/notesSlides/notesSlide28.xml" ContentType="application/vnd.openxmlformats-officedocument.presentationml.notesSlide+xml"/>
  <Override PartName="/ppt/tags/tag27.xml" ContentType="application/vnd.openxmlformats-officedocument.presentationml.tags+xml"/>
  <Override PartName="/ppt/tags/tag28.xml" ContentType="application/vnd.openxmlformats-officedocument.presentationml.tags+xml"/>
  <Override PartName="/ppt/tags/tag29.xml" ContentType="application/vnd.openxmlformats-officedocument.presentationml.tags+xml"/>
  <Override PartName="/ppt/notesSlides/notesSlide29.xml" ContentType="application/vnd.openxmlformats-officedocument.presentationml.notesSlide+xml"/>
  <Override PartName="/ppt/tags/tag30.xml" ContentType="application/vnd.openxmlformats-officedocument.presentationml.tags+xml"/>
  <Override PartName="/ppt/tags/tag31.xml" ContentType="application/vnd.openxmlformats-officedocument.presentationml.tags+xml"/>
  <Override PartName="/ppt/notesSlides/notesSlide3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removePersonalInfoOnSave="1" saveSubsetFonts="1">
  <p:sldMasterIdLst>
    <p:sldMasterId id="2147483648" r:id="rId1"/>
  </p:sldMasterIdLst>
  <p:notesMasterIdLst>
    <p:notesMasterId r:id="rId32"/>
  </p:notesMasterIdLst>
  <p:handoutMasterIdLst>
    <p:handoutMasterId r:id="rId33"/>
  </p:handoutMasterIdLst>
  <p:sldIdLst>
    <p:sldId id="259" r:id="rId2"/>
    <p:sldId id="262" r:id="rId3"/>
    <p:sldId id="288" r:id="rId4"/>
    <p:sldId id="284" r:id="rId5"/>
    <p:sldId id="294" r:id="rId6"/>
    <p:sldId id="289" r:id="rId7"/>
    <p:sldId id="290" r:id="rId8"/>
    <p:sldId id="291" r:id="rId9"/>
    <p:sldId id="286" r:id="rId10"/>
    <p:sldId id="281" r:id="rId11"/>
    <p:sldId id="282" r:id="rId12"/>
    <p:sldId id="293" r:id="rId13"/>
    <p:sldId id="287" r:id="rId14"/>
    <p:sldId id="283" r:id="rId15"/>
    <p:sldId id="267" r:id="rId16"/>
    <p:sldId id="292" r:id="rId17"/>
    <p:sldId id="269" r:id="rId18"/>
    <p:sldId id="295" r:id="rId19"/>
    <p:sldId id="296" r:id="rId20"/>
    <p:sldId id="297" r:id="rId21"/>
    <p:sldId id="298" r:id="rId22"/>
    <p:sldId id="299" r:id="rId23"/>
    <p:sldId id="300" r:id="rId24"/>
    <p:sldId id="301" r:id="rId25"/>
    <p:sldId id="302" r:id="rId26"/>
    <p:sldId id="303" r:id="rId27"/>
    <p:sldId id="272" r:id="rId28"/>
    <p:sldId id="275" r:id="rId29"/>
    <p:sldId id="276" r:id="rId30"/>
    <p:sldId id="277" r:id="rId31"/>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Default Section" id="{779CC93D-E52E-4D84-901B-11D7331DD495}">
          <p14:sldIdLst>
            <p14:sldId id="259"/>
          </p14:sldIdLst>
        </p14:section>
        <p14:section name="Overview and Objectives" id="{ABA716BF-3A5C-4ADB-94C9-CFEF84EBA240}">
          <p14:sldIdLst>
            <p14:sldId id="262"/>
            <p14:sldId id="288"/>
            <p14:sldId id="284"/>
            <p14:sldId id="294"/>
            <p14:sldId id="289"/>
            <p14:sldId id="290"/>
            <p14:sldId id="291"/>
            <p14:sldId id="286"/>
            <p14:sldId id="281"/>
            <p14:sldId id="282"/>
            <p14:sldId id="293"/>
            <p14:sldId id="287"/>
          </p14:sldIdLst>
        </p14:section>
        <p14:section name="Topic 1" id="{6D9936A3-3945-4757-BC8B-B5C252D8E036}">
          <p14:sldIdLst>
            <p14:sldId id="283"/>
            <p14:sldId id="267"/>
          </p14:sldIdLst>
        </p14:section>
        <p14:section name="Sample Slides for Visuals" id="{BAB3A466-96C9-4230-9978-795378D75699}">
          <p14:sldIdLst>
            <p14:sldId id="292"/>
            <p14:sldId id="269"/>
            <p14:sldId id="295"/>
            <p14:sldId id="296"/>
            <p14:sldId id="297"/>
            <p14:sldId id="298"/>
            <p14:sldId id="299"/>
            <p14:sldId id="300"/>
            <p14:sldId id="301"/>
            <p14:sldId id="302"/>
            <p14:sldId id="303"/>
            <p14:sldId id="272"/>
          </p14:sldIdLst>
        </p14:section>
        <p14:section name="Case Study" id="{8C0305C9-B152-4FBA-A789-FE1976D53990}">
          <p14:sldIdLst/>
        </p14:section>
        <p14:section name="Conclusion and Summary" id="{790CEF5B-569A-4C2F-BED5-750B08C0E5AD}">
          <p14:sldIdLst>
            <p14:sldId id="275"/>
            <p14:sldId id="276"/>
            <p14:sldId id="277"/>
          </p14:sldIdLst>
        </p14:section>
        <p14:section name="Appendix" id="{3F78B471-41DA-46F2-A8E4-97E471896AB3}">
          <p14:sldIdLst/>
        </p14:section>
      </p14:section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srgbClr val="FF0000"/>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0"/>
      </p:ext>
    </p:extLst>
  </p:showPr>
  <p:clrMru>
    <a:srgbClr val="009ED6"/>
    <a:srgbClr val="003300"/>
  </p:clrMru>
  <p:extLst>
    <p:ext uri="{E76CE94A-603C-4142-B9EB-6D1370010A27}">
      <p14:discardImageEditData xmlns:p14="http://schemas.microsoft.com/office/powerpoint/2010/main" val="1"/>
    </p:ext>
    <p:ext uri="{D31A062A-798A-4329-ABDD-BBA856620510}">
      <p14:defaultImageDpi xmlns:p14="http://schemas.microsoft.com/office/powerpoint/2010/main" val="96"/>
    </p:ext>
  </p:extLst>
</p:presentationPr>
</file>

<file path=ppt/tableStyles.xml><?xml version="1.0" encoding="utf-8"?>
<a:tblStyleLst xmlns:a="http://schemas.openxmlformats.org/drawingml/2006/main" def="{5C22544A-7EE6-4342-B048-85BDC9FD1C3A}">
  <a:tblStyle styleId="{327F97BB-C833-4FB7-BDE5-3F7075034690}" styleName="Themed Style 2 - Accent 5">
    <a:tblBg>
      <a:fillRef idx="3">
        <a:schemeClr val="accent5"/>
      </a:fillRef>
      <a:effectRef idx="3">
        <a:schemeClr val="accent5"/>
      </a:effectRef>
    </a:tblBg>
    <a:wholeTbl>
      <a:tcTxStyle>
        <a:fontRef idx="minor">
          <a:scrgbClr r="0" g="0" b="0"/>
        </a:fontRef>
        <a:schemeClr val="lt1"/>
      </a:tcTxStyle>
      <a:tcStyle>
        <a:tcBdr>
          <a:left>
            <a:lnRef idx="1">
              <a:schemeClr val="accent5">
                <a:tint val="50000"/>
              </a:schemeClr>
            </a:lnRef>
          </a:left>
          <a:right>
            <a:lnRef idx="1">
              <a:schemeClr val="accent5">
                <a:tint val="50000"/>
              </a:schemeClr>
            </a:lnRef>
          </a:right>
          <a:top>
            <a:lnRef idx="1">
              <a:schemeClr val="accent5">
                <a:tint val="50000"/>
              </a:schemeClr>
            </a:lnRef>
          </a:top>
          <a:bottom>
            <a:lnRef idx="1">
              <a:schemeClr val="accent5">
                <a:tint val="50000"/>
              </a:schemeClr>
            </a:lnRef>
          </a:bottom>
          <a:insideH>
            <a:ln>
              <a:noFill/>
            </a:ln>
          </a:insideH>
          <a:insideV>
            <a:ln>
              <a:noFill/>
            </a:ln>
          </a:insideV>
        </a:tcBdr>
        <a:fill>
          <a:noFill/>
        </a:fill>
      </a:tcStyle>
    </a:wholeTbl>
    <a:band1H>
      <a:tcStyle>
        <a:tcBdr/>
        <a:fill>
          <a:solidFill>
            <a:schemeClr val="lt1">
              <a:alpha val="20000"/>
            </a:schemeClr>
          </a:solidFill>
        </a:fill>
      </a:tcStyle>
    </a:band1H>
    <a:band1V>
      <a:tcStyle>
        <a:tcBdr/>
        <a:fill>
          <a:solidFill>
            <a:schemeClr val="lt1">
              <a:alpha val="20000"/>
            </a:schemeClr>
          </a:solidFill>
        </a:fill>
      </a:tcStyle>
    </a:band1V>
    <a:lastCol>
      <a:tcTxStyle b="on"/>
      <a:tcStyle>
        <a:tcBdr>
          <a:left>
            <a:lnRef idx="2">
              <a:schemeClr val="lt1"/>
            </a:lnRef>
          </a:left>
        </a:tcBdr>
      </a:tcStyle>
    </a:lastCol>
    <a:firstCol>
      <a:tcTxStyle b="on"/>
      <a:tcStyle>
        <a:tcBdr>
          <a:right>
            <a:lnRef idx="2">
              <a:schemeClr val="lt1"/>
            </a:lnRef>
          </a:right>
        </a:tcBdr>
      </a:tcStyle>
    </a:firstCol>
    <a:lastRow>
      <a:tcTxStyle b="on"/>
      <a:tcStyle>
        <a:tcBdr>
          <a:top>
            <a:lnRef idx="2">
              <a:schemeClr val="lt1"/>
            </a:lnRef>
          </a:top>
        </a:tcBdr>
        <a:fill>
          <a:noFill/>
        </a:fill>
      </a:tcStyle>
    </a:lastRow>
    <a:seCell>
      <a:tcStyle>
        <a:tcBdr>
          <a:left>
            <a:ln>
              <a:noFill/>
            </a:ln>
          </a:left>
          <a:top>
            <a:ln>
              <a:noFill/>
            </a:ln>
          </a:top>
        </a:tcBdr>
      </a:tcStyle>
    </a:seCell>
    <a:swCell>
      <a:tcStyle>
        <a:tcBdr>
          <a:right>
            <a:ln>
              <a:noFill/>
            </a:ln>
          </a:right>
          <a:top>
            <a:ln>
              <a:noFill/>
            </a:ln>
          </a:top>
        </a:tcBdr>
      </a:tcStyle>
    </a:swCell>
    <a:firstRow>
      <a:tcTxStyle b="on"/>
      <a:tcStyle>
        <a:tcBdr>
          <a:bottom>
            <a:lnRef idx="3">
              <a:schemeClr val="lt1"/>
            </a:lnRef>
          </a:bottom>
        </a:tcBdr>
        <a:fill>
          <a:noFill/>
        </a:fill>
      </a:tcStyle>
    </a:firstRow>
    <a:neCell>
      <a:tcStyle>
        <a:tcBdr>
          <a:bottom>
            <a:ln>
              <a:noFill/>
            </a:ln>
          </a:bottom>
        </a:tcBdr>
      </a:tcStyle>
    </a:neCell>
  </a:tblStyle>
  <a:tblStyle styleId="{7DF18680-E054-41AD-8BC1-D1AEF772440D}" styleName="Medium Style 2 - Accent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 styleId="{5FD0F851-EC5A-4D38-B0AD-8093EC10F338}" styleName="Light Style 1 - Accent 5">
    <a:wholeTbl>
      <a:tcTxStyle>
        <a:fontRef idx="minor">
          <a:scrgbClr r="0" g="0" b="0"/>
        </a:fontRef>
        <a:schemeClr val="tx1"/>
      </a:tcTxStyle>
      <a:tcStyle>
        <a:tcBdr>
          <a:left>
            <a:ln>
              <a:noFill/>
            </a:ln>
          </a:left>
          <a:right>
            <a:ln>
              <a:noFill/>
            </a:ln>
          </a:right>
          <a:top>
            <a:ln w="12700" cmpd="sng">
              <a:solidFill>
                <a:schemeClr val="accent5"/>
              </a:solidFill>
            </a:ln>
          </a:top>
          <a:bottom>
            <a:ln w="12700" cmpd="sng">
              <a:solidFill>
                <a:schemeClr val="accent5"/>
              </a:solidFill>
            </a:ln>
          </a:bottom>
          <a:insideH>
            <a:ln>
              <a:noFill/>
            </a:ln>
          </a:insideH>
          <a:insideV>
            <a:ln>
              <a:noFill/>
            </a:ln>
          </a:insideV>
        </a:tcBdr>
        <a:fill>
          <a:noFill/>
        </a:fill>
      </a:tcStyle>
    </a:wholeTbl>
    <a:band1H>
      <a:tcStyle>
        <a:tcBdr/>
        <a:fill>
          <a:solidFill>
            <a:schemeClr val="accent5">
              <a:alpha val="20000"/>
            </a:schemeClr>
          </a:solidFill>
        </a:fill>
      </a:tcStyle>
    </a:band1H>
    <a:band2H>
      <a:tcStyle>
        <a:tcBdr/>
      </a:tcStyle>
    </a:band2H>
    <a:band1V>
      <a:tcStyle>
        <a:tcBdr/>
        <a:fill>
          <a:solidFill>
            <a:schemeClr val="accent5">
              <a:alpha val="20000"/>
            </a:schemeClr>
          </a:solidFill>
        </a:fill>
      </a:tcStyle>
    </a:band1V>
    <a:lastCol>
      <a:tcTxStyle b="on"/>
      <a:tcStyle>
        <a:tcBdr/>
      </a:tcStyle>
    </a:lastCol>
    <a:firstCol>
      <a:tcTxStyle b="on"/>
      <a:tcStyle>
        <a:tcBdr/>
      </a:tcStyle>
    </a:firstCol>
    <a:lastRow>
      <a:tcTxStyle b="on"/>
      <a:tcStyle>
        <a:tcBdr>
          <a:top>
            <a:ln w="12700" cmpd="sng">
              <a:solidFill>
                <a:schemeClr val="accent5"/>
              </a:solidFill>
            </a:ln>
          </a:top>
        </a:tcBdr>
        <a:fill>
          <a:noFill/>
        </a:fill>
      </a:tcStyle>
    </a:lastRow>
    <a:firstRow>
      <a:tcTxStyle b="on"/>
      <a:tcStyle>
        <a:tcBdr>
          <a:bottom>
            <a:ln w="12700" cmpd="sng">
              <a:solidFill>
                <a:schemeClr val="accent5"/>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3174" autoAdjust="0"/>
    <p:restoredTop sz="95080" autoAdjust="0"/>
  </p:normalViewPr>
  <p:slideViewPr>
    <p:cSldViewPr>
      <p:cViewPr>
        <p:scale>
          <a:sx n="125" d="100"/>
          <a:sy n="125" d="100"/>
        </p:scale>
        <p:origin x="-1338" y="168"/>
      </p:cViewPr>
      <p:guideLst>
        <p:guide orient="horz" pos="2160"/>
        <p:guide pos="2880"/>
      </p:guideLst>
    </p:cSldViewPr>
  </p:slideViewPr>
  <p:notesTextViewPr>
    <p:cViewPr>
      <p:scale>
        <a:sx n="100" d="100"/>
        <a:sy n="100" d="100"/>
      </p:scale>
      <p:origin x="0" y="0"/>
    </p:cViewPr>
  </p:notesTextViewPr>
  <p:sorterViewPr>
    <p:cViewPr>
      <p:scale>
        <a:sx n="154" d="100"/>
        <a:sy n="154" d="100"/>
      </p:scale>
      <p:origin x="0" y="0"/>
    </p:cViewPr>
  </p:sorterViewPr>
  <p:notesViewPr>
    <p:cSldViewPr>
      <p:cViewPr varScale="1">
        <p:scale>
          <a:sx n="83" d="100"/>
          <a:sy n="83" d="100"/>
        </p:scale>
        <p:origin x="-3144" y="-96"/>
      </p:cViewPr>
      <p:guideLst>
        <p:guide orient="horz" pos="2880"/>
        <p:guide pos="2160"/>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handoutMaster" Target="handoutMasters/handout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notesMaster" Target="notesMasters/notesMaster1.xml"/><Relationship Id="rId37"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viewProps" Target="viewProps.xml"/></Relationships>
</file>

<file path=ppt/diagrams/colors1.xml><?xml version="1.0" encoding="utf-8"?>
<dgm:colorsDef xmlns:dgm="http://schemas.openxmlformats.org/drawingml/2006/diagram" xmlns:a="http://schemas.openxmlformats.org/drawingml/2006/main" uniqueId="urn:microsoft.com/office/officeart/2005/8/colors/colorful3">
  <dgm:title val=""/>
  <dgm:desc val=""/>
  <dgm:catLst>
    <dgm:cat type="colorful" pri="10300"/>
  </dgm:catLst>
  <dgm:styleLbl name="node0">
    <dgm:fillClrLst meth="repeat">
      <a:schemeClr val="accent2"/>
    </dgm:fillClrLst>
    <dgm:linClrLst meth="repeat">
      <a:schemeClr val="lt1"/>
    </dgm:linClrLst>
    <dgm:effectClrLst/>
    <dgm:txLinClrLst/>
    <dgm:txFillClrLst/>
    <dgm:txEffectClrLst/>
  </dgm:styleLbl>
  <dgm:styleLbl name="node1">
    <dgm:fillClrLst>
      <a:schemeClr val="accent3"/>
      <a:schemeClr val="accent4"/>
    </dgm:fillClrLst>
    <dgm:linClrLst meth="repeat">
      <a:schemeClr val="lt1"/>
    </dgm:linClrLst>
    <dgm:effectClrLst/>
    <dgm:txLinClrLst/>
    <dgm:txFillClrLst/>
    <dgm:txEffectClrLst/>
  </dgm:styleLbl>
  <dgm:styleLbl name="alignNode1">
    <dgm:fillClrLst>
      <a:schemeClr val="accent3"/>
      <a:schemeClr val="accent4"/>
    </dgm:fillClrLst>
    <dgm:linClrLst>
      <a:schemeClr val="accent3"/>
      <a:schemeClr val="accent4"/>
    </dgm:linClrLst>
    <dgm:effectClrLst/>
    <dgm:txLinClrLst/>
    <dgm:txFillClrLst/>
    <dgm:txEffectClrLst/>
  </dgm:styleLbl>
  <dgm:styleLbl name="lnNode1">
    <dgm:fillClrLst>
      <a:schemeClr val="accent3"/>
      <a:schemeClr val="accent4"/>
    </dgm:fillClrLst>
    <dgm:linClrLst meth="repeat">
      <a:schemeClr val="lt1"/>
    </dgm:linClrLst>
    <dgm:effectClrLst/>
    <dgm:txLinClrLst/>
    <dgm:txFillClrLst/>
    <dgm:txEffectClrLst/>
  </dgm:styleLbl>
  <dgm:styleLbl name="vennNode1">
    <dgm:fillClrLst>
      <a:schemeClr val="accent3">
        <a:alpha val="50000"/>
      </a:schemeClr>
      <a:schemeClr val="accent4">
        <a:alpha val="50000"/>
      </a:schemeClr>
    </dgm:fillClrLst>
    <dgm:linClrLst meth="repeat">
      <a:schemeClr val="lt1"/>
    </dgm:linClrLst>
    <dgm:effectClrLst/>
    <dgm:txLinClrLst/>
    <dgm:txFillClrLst/>
    <dgm:txEffectClrLst/>
  </dgm:styleLbl>
  <dgm:styleLbl name="node2">
    <dgm:fillClrLst>
      <a:schemeClr val="accent4"/>
    </dgm:fillClrLst>
    <dgm:linClrLst meth="repeat">
      <a:schemeClr val="lt1"/>
    </dgm:linClrLst>
    <dgm:effectClrLst/>
    <dgm:txLinClrLst/>
    <dgm:txFillClrLst/>
    <dgm:txEffectClrLst/>
  </dgm:styleLbl>
  <dgm:styleLbl name="node3">
    <dgm:fillClrLst>
      <a:schemeClr val="accent5"/>
    </dgm:fillClrLst>
    <dgm:linClrLst meth="repeat">
      <a:schemeClr val="lt1"/>
    </dgm:linClrLst>
    <dgm:effectClrLst/>
    <dgm:txLinClrLst/>
    <dgm:txFillClrLst/>
    <dgm:txEffectClrLst/>
  </dgm:styleLbl>
  <dgm:styleLbl name="node4">
    <dgm:fillClrLst>
      <a:schemeClr val="accent6"/>
    </dgm:fillClrLst>
    <dgm:linClrLst meth="repeat">
      <a:schemeClr val="lt1"/>
    </dgm:linClrLst>
    <dgm:effectClrLst/>
    <dgm:txLinClrLst/>
    <dgm:txFillClrLst/>
    <dgm:txEffectClrLst/>
  </dgm:styleLbl>
  <dgm:styleLbl name="fgImgPlace1">
    <dgm:fillClrLst>
      <a:schemeClr val="accent3">
        <a:tint val="50000"/>
      </a:schemeClr>
      <a:schemeClr val="accent4">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3">
        <a:tint val="50000"/>
      </a:schemeClr>
      <a:schemeClr val="accent4">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3">
        <a:tint val="50000"/>
      </a:schemeClr>
      <a:schemeClr val="accent4">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3"/>
      <a:schemeClr val="accent4"/>
    </dgm:fillClrLst>
    <dgm:linClrLst meth="repeat">
      <a:schemeClr val="lt1"/>
    </dgm:linClrLst>
    <dgm:effectClrLst/>
    <dgm:txLinClrLst/>
    <dgm:txFillClrLst/>
    <dgm:txEffectClrLst/>
  </dgm:styleLbl>
  <dgm:styleLbl name="fgSibTrans2D1">
    <dgm:fillClrLst>
      <a:schemeClr val="accent3"/>
      <a:schemeClr val="accent4"/>
    </dgm:fillClrLst>
    <dgm:linClrLst meth="repeat">
      <a:schemeClr val="lt1"/>
    </dgm:linClrLst>
    <dgm:effectClrLst/>
    <dgm:txLinClrLst/>
    <dgm:txFillClrLst meth="repeat">
      <a:schemeClr val="lt1"/>
    </dgm:txFillClrLst>
    <dgm:txEffectClrLst/>
  </dgm:styleLbl>
  <dgm:styleLbl name="bgSibTrans2D1">
    <dgm:fillClrLst>
      <a:schemeClr val="accent3"/>
      <a:schemeClr val="accent4"/>
    </dgm:fillClrLst>
    <dgm:linClrLst meth="repeat">
      <a:schemeClr val="lt1"/>
    </dgm:linClrLst>
    <dgm:effectClrLst/>
    <dgm:txLinClrLst/>
    <dgm:txFillClrLst meth="repeat">
      <a:schemeClr val="lt1"/>
    </dgm:txFillClrLst>
    <dgm:txEffectClrLst/>
  </dgm:styleLbl>
  <dgm:styleLbl name="sibTrans1D1">
    <dgm:fillClrLst/>
    <dgm:linClrLst>
      <a:schemeClr val="accent3"/>
      <a:schemeClr val="accent4"/>
    </dgm:linClrLst>
    <dgm:effectClrLst/>
    <dgm:txLinClrLst/>
    <dgm:txFillClrLst meth="repeat">
      <a:schemeClr val="tx1"/>
    </dgm:txFillClrLst>
    <dgm:txEffectClrLst/>
  </dgm:styleLbl>
  <dgm:styleLbl name="callout">
    <dgm:fillClrLst meth="repeat">
      <a:schemeClr val="accent3"/>
    </dgm:fillClrLst>
    <dgm:linClrLst meth="repeat">
      <a:schemeClr val="accent3">
        <a:tint val="50000"/>
      </a:schemeClr>
    </dgm:linClrLst>
    <dgm:effectClrLst/>
    <dgm:txLinClrLst/>
    <dgm:txFillClrLst meth="repeat">
      <a:schemeClr val="tx1"/>
    </dgm:txFillClrLst>
    <dgm:txEffectClrLst/>
  </dgm:styleLbl>
  <dgm:styleLbl name="asst0">
    <dgm:fillClrLst meth="repeat">
      <a:schemeClr val="accent3"/>
    </dgm:fillClrLst>
    <dgm:linClrLst meth="repeat">
      <a:schemeClr val="lt1">
        <a:shade val="80000"/>
      </a:schemeClr>
    </dgm:linClrLst>
    <dgm:effectClrLst/>
    <dgm:txLinClrLst/>
    <dgm:txFillClrLst/>
    <dgm:txEffectClrLst/>
  </dgm:styleLbl>
  <dgm:styleLbl name="asst1">
    <dgm:fillClrLst meth="repeat">
      <a:schemeClr val="accent4"/>
    </dgm:fillClrLst>
    <dgm:linClrLst meth="repeat">
      <a:schemeClr val="lt1">
        <a:shade val="80000"/>
      </a:schemeClr>
    </dgm:linClrLst>
    <dgm:effectClrLst/>
    <dgm:txLinClrLst/>
    <dgm:txFillClrLst/>
    <dgm:txEffectClrLst/>
  </dgm:styleLbl>
  <dgm:styleLbl name="asst2">
    <dgm:fillClrLst>
      <a:schemeClr val="accent5"/>
    </dgm:fillClrLst>
    <dgm:linClrLst meth="repeat">
      <a:schemeClr val="lt1"/>
    </dgm:linClrLst>
    <dgm:effectClrLst/>
    <dgm:txLinClrLst/>
    <dgm:txFillClrLst/>
    <dgm:txEffectClrLst/>
  </dgm:styleLbl>
  <dgm:styleLbl name="asst3">
    <dgm:fillClrLst>
      <a:schemeClr val="accent6"/>
    </dgm:fillClrLst>
    <dgm:linClrLst meth="repeat">
      <a:schemeClr val="lt1"/>
    </dgm:linClrLst>
    <dgm:effectClrLst/>
    <dgm:txLinClrLst/>
    <dgm:txFillClrLst/>
    <dgm:txEffectClrLst/>
  </dgm:styleLbl>
  <dgm:styleLbl name="asst4">
    <dgm:fillClrLst>
      <a:schemeClr val="accent1"/>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3"/>
    </dgm:fillClrLst>
    <dgm:linClrLst meth="repeat">
      <a:schemeClr val="accent3"/>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4"/>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5"/>
    </dgm:linClrLst>
    <dgm:effectClrLst/>
    <dgm:txLinClrLst/>
    <dgm:txFillClrLst meth="repeat">
      <a:schemeClr val="tx1"/>
    </dgm:txFillClrLst>
    <dgm:txEffectClrLst/>
  </dgm:styleLbl>
  <dgm:styleLbl name="parChTrans1D4">
    <dgm:fillClrLst meth="repeat">
      <a:schemeClr val="accent6">
        <a:tint val="50000"/>
      </a:schemeClr>
    </dgm:fillClrLst>
    <dgm:linClrLst meth="repeat">
      <a:schemeClr val="accent6"/>
    </dgm:linClrLst>
    <dgm:effectClrLst/>
    <dgm:txLinClrLst/>
    <dgm:txFillClrLst meth="repeat">
      <a:schemeClr val="tx1"/>
    </dgm:txFillClrLst>
    <dgm:txEffectClrLst/>
  </dgm:styleLbl>
  <dgm:styleLbl name="fg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conFg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align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solidFgAcc1">
    <dgm:fillClrLst meth="repeat">
      <a:schemeClr val="lt1"/>
    </dgm:fillClrLst>
    <dgm:linClrLst>
      <a:schemeClr val="accent3"/>
      <a:schemeClr val="accent4"/>
    </dgm:linClrLst>
    <dgm:effectClrLst/>
    <dgm:txLinClrLst/>
    <dgm:txFillClrLst meth="repeat">
      <a:schemeClr val="dk1"/>
    </dgm:txFillClrLst>
    <dgm:txEffectClrLst/>
  </dgm:styleLbl>
  <dgm:styleLbl name="solidAlignAcc1">
    <dgm:fillClrLst meth="repeat">
      <a:schemeClr val="lt1"/>
    </dgm:fillClrLst>
    <dgm:linClrLst>
      <a:schemeClr val="accent3"/>
      <a:schemeClr val="accent4"/>
    </dgm:linClrLst>
    <dgm:effectClrLst/>
    <dgm:txLinClrLst/>
    <dgm:txFillClrLst meth="repeat">
      <a:schemeClr val="dk1"/>
    </dgm:txFillClrLst>
    <dgm:txEffectClrLst/>
  </dgm:styleLbl>
  <dgm:styleLbl name="solidBgAcc1">
    <dgm:fillClrLst meth="repeat">
      <a:schemeClr val="lt1"/>
    </dgm:fillClrLst>
    <dgm:linClrLst>
      <a:schemeClr val="accent3"/>
      <a:schemeClr val="accent4"/>
    </dgm:linClrLst>
    <dgm:effectClrLst/>
    <dgm:txLinClrLst/>
    <dgm:txFillClrLst meth="repeat">
      <a:schemeClr val="dk1"/>
    </dgm:txFillClrLst>
    <dgm:txEffectClrLst/>
  </dgm:styleLbl>
  <dgm:styleLbl name="fgAccFollowNode1">
    <dgm:fillClrLst>
      <a:schemeClr val="accent3">
        <a:tint val="40000"/>
        <a:alpha val="90000"/>
      </a:schemeClr>
      <a:schemeClr val="accent4">
        <a:tint val="40000"/>
        <a:alpha val="90000"/>
      </a:schemeClr>
    </dgm:fillClrLst>
    <dgm:linClrLst>
      <a:schemeClr val="accent3">
        <a:tint val="40000"/>
        <a:alpha val="90000"/>
      </a:schemeClr>
      <a:schemeClr val="accent4">
        <a:tint val="40000"/>
        <a:alpha val="90000"/>
      </a:schemeClr>
    </dgm:linClrLst>
    <dgm:effectClrLst/>
    <dgm:txLinClrLst/>
    <dgm:txFillClrLst meth="repeat">
      <a:schemeClr val="dk1"/>
    </dgm:txFillClrLst>
    <dgm:txEffectClrLst/>
  </dgm:styleLbl>
  <dgm:styleLbl name="alignAccFollowNode1">
    <dgm:fillClrLst>
      <a:schemeClr val="accent3">
        <a:tint val="40000"/>
        <a:alpha val="90000"/>
      </a:schemeClr>
      <a:schemeClr val="accent4">
        <a:tint val="40000"/>
        <a:alpha val="90000"/>
      </a:schemeClr>
    </dgm:fillClrLst>
    <dgm:linClrLst>
      <a:schemeClr val="accent3">
        <a:tint val="40000"/>
        <a:alpha val="90000"/>
      </a:schemeClr>
      <a:schemeClr val="accent4">
        <a:tint val="40000"/>
        <a:alpha val="90000"/>
      </a:schemeClr>
    </dgm:linClrLst>
    <dgm:effectClrLst/>
    <dgm:txLinClrLst/>
    <dgm:txFillClrLst meth="repeat">
      <a:schemeClr val="dk1"/>
    </dgm:txFillClrLst>
    <dgm:txEffectClrLst/>
  </dgm:styleLbl>
  <dgm:styleLbl name="bgAccFollowNode1">
    <dgm:fillClrLst>
      <a:schemeClr val="accent3">
        <a:tint val="40000"/>
        <a:alpha val="90000"/>
      </a:schemeClr>
      <a:schemeClr val="accent4">
        <a:tint val="40000"/>
        <a:alpha val="90000"/>
      </a:schemeClr>
    </dgm:fillClrLst>
    <dgm:linClrLst>
      <a:schemeClr val="accent3">
        <a:tint val="40000"/>
        <a:alpha val="90000"/>
      </a:schemeClr>
      <a:schemeClr val="accent4">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2"/>
    </dgm:linClrLst>
    <dgm:effectClrLst/>
    <dgm:txLinClrLst/>
    <dgm:txFillClrLst meth="repeat">
      <a:schemeClr val="dk1"/>
    </dgm:txFillClrLst>
    <dgm:txEffectClrLst/>
  </dgm:styleLbl>
  <dgm:styleLbl name="fgAcc2">
    <dgm:fillClrLst meth="repeat">
      <a:schemeClr val="lt1">
        <a:alpha val="90000"/>
      </a:schemeClr>
    </dgm:fillClrLst>
    <dgm:linClrLst>
      <a:schemeClr val="accent4"/>
    </dgm:linClrLst>
    <dgm:effectClrLst/>
    <dgm:txLinClrLst/>
    <dgm:txFillClrLst meth="repeat">
      <a:schemeClr val="dk1"/>
    </dgm:txFillClrLst>
    <dgm:txEffectClrLst/>
  </dgm:styleLbl>
  <dgm:styleLbl name="fgAcc3">
    <dgm:fillClrLst meth="repeat">
      <a:schemeClr val="lt1">
        <a:alpha val="90000"/>
      </a:schemeClr>
    </dgm:fillClrLst>
    <dgm:linClrLst>
      <a:schemeClr val="accent5"/>
    </dgm:linClrLst>
    <dgm:effectClrLst/>
    <dgm:txLinClrLst/>
    <dgm:txFillClrLst meth="repeat">
      <a:schemeClr val="dk1"/>
    </dgm:txFillClrLst>
    <dgm:txEffectClrLst/>
  </dgm:styleLbl>
  <dgm:styleLbl name="fgAcc4">
    <dgm:fillClrLst meth="repeat">
      <a:schemeClr val="lt1">
        <a:alpha val="90000"/>
      </a:schemeClr>
    </dgm:fillClrLst>
    <dgm:linClrLst>
      <a:schemeClr val="accent6"/>
    </dgm:linClrLst>
    <dgm:effectClrLst/>
    <dgm:txLinClrLst/>
    <dgm:txFillClrLst meth="repeat">
      <a:schemeClr val="dk1"/>
    </dgm:txFillClrLst>
    <dgm:txEffectClrLst/>
  </dgm:styleLbl>
  <dgm:styleLbl name="bgShp">
    <dgm:fillClrLst meth="repeat">
      <a:schemeClr val="accent3">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3">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3"/>
    </dgm:linClrLst>
    <dgm:effectClrLst/>
    <dgm:txLinClrLst/>
    <dgm:txFillClrLst meth="repeat">
      <a:schemeClr val="lt1"/>
    </dgm:txFillClrLst>
    <dgm:txEffectClrLst/>
  </dgm:styleLbl>
  <dgm:styleLbl name="fgShp">
    <dgm:fillClrLst meth="repeat">
      <a:schemeClr val="accent3">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F6FEADD9-F67D-41F5-BA4C-3C84956E7F46}" type="doc">
      <dgm:prSet loTypeId="urn:microsoft.com/office/officeart/2005/8/layout/vList5" loCatId="list" qsTypeId="urn:microsoft.com/office/officeart/2005/8/quickstyle/simple5" qsCatId="simple" csTypeId="urn:microsoft.com/office/officeart/2005/8/colors/colorful3" csCatId="colorful" phldr="1"/>
      <dgm:spPr/>
      <dgm:t>
        <a:bodyPr/>
        <a:lstStyle/>
        <a:p>
          <a:endParaRPr lang="en-US"/>
        </a:p>
      </dgm:t>
    </dgm:pt>
    <dgm:pt modelId="{74EE5CD8-078F-4590-BF9C-A341A294A016}">
      <dgm:prSet phldrT="[Text]" custT="1"/>
      <dgm:spPr/>
      <dgm:t>
        <a:bodyPr/>
        <a:lstStyle/>
        <a:p>
          <a:r>
            <a:rPr lang="en-US" sz="4400" dirty="0" smtClean="0"/>
            <a:t>1</a:t>
          </a:r>
          <a:endParaRPr lang="en-US" sz="4400" dirty="0"/>
        </a:p>
      </dgm:t>
    </dgm:pt>
    <dgm:pt modelId="{BB568D76-3363-43D3-B00C-3359A643216C}" type="parTrans" cxnId="{F40F9561-0D4C-44CF-91EF-A92B1DBDE44B}">
      <dgm:prSet/>
      <dgm:spPr/>
      <dgm:t>
        <a:bodyPr/>
        <a:lstStyle/>
        <a:p>
          <a:endParaRPr lang="en-US" sz="3200"/>
        </a:p>
      </dgm:t>
    </dgm:pt>
    <dgm:pt modelId="{CF9FB981-E6ED-4440-AC98-4E4E2ABA2C55}" type="sibTrans" cxnId="{F40F9561-0D4C-44CF-91EF-A92B1DBDE44B}">
      <dgm:prSet/>
      <dgm:spPr/>
      <dgm:t>
        <a:bodyPr/>
        <a:lstStyle/>
        <a:p>
          <a:endParaRPr lang="en-US" sz="3200"/>
        </a:p>
      </dgm:t>
    </dgm:pt>
    <dgm:pt modelId="{AA046201-5C4D-445E-BF0B-5C6D2B0A1945}">
      <dgm:prSet phldrT="[Text]" custT="1"/>
      <dgm:spPr/>
      <dgm:t>
        <a:bodyPr/>
        <a:lstStyle/>
        <a:p>
          <a:r>
            <a:rPr lang="en-US" sz="4400" dirty="0" smtClean="0"/>
            <a:t>2</a:t>
          </a:r>
          <a:endParaRPr lang="en-US" sz="4400" dirty="0"/>
        </a:p>
      </dgm:t>
    </dgm:pt>
    <dgm:pt modelId="{FE92FC33-5E0F-4302-9E80-A69E8ACDDE56}" type="parTrans" cxnId="{B8AF1086-D7BE-446F-9133-738B599E9A7D}">
      <dgm:prSet/>
      <dgm:spPr/>
      <dgm:t>
        <a:bodyPr/>
        <a:lstStyle/>
        <a:p>
          <a:endParaRPr lang="en-US" sz="3200"/>
        </a:p>
      </dgm:t>
    </dgm:pt>
    <dgm:pt modelId="{40767EFF-7D52-4469-ACEE-7D28E67337E2}" type="sibTrans" cxnId="{B8AF1086-D7BE-446F-9133-738B599E9A7D}">
      <dgm:prSet/>
      <dgm:spPr/>
      <dgm:t>
        <a:bodyPr/>
        <a:lstStyle/>
        <a:p>
          <a:endParaRPr lang="en-US" sz="3200"/>
        </a:p>
      </dgm:t>
    </dgm:pt>
    <dgm:pt modelId="{C59269D0-92A5-481C-BA64-727AFB0DD545}">
      <dgm:prSet phldrT="[Text]" custT="1"/>
      <dgm:spPr/>
      <dgm:t>
        <a:bodyPr/>
        <a:lstStyle/>
        <a:p>
          <a:r>
            <a:rPr lang="en-US" sz="2000" dirty="0" smtClean="0"/>
            <a:t>to walk you through all steps necessary to create a network, as well as simple network visualizations</a:t>
          </a:r>
          <a:endParaRPr lang="en-US" sz="2000" dirty="0">
            <a:effectLst>
              <a:outerShdw blurRad="38100" dist="38100" dir="2700000" algn="tl">
                <a:srgbClr val="000000">
                  <a:alpha val="43137"/>
                </a:srgbClr>
              </a:outerShdw>
            </a:effectLst>
          </a:endParaRPr>
        </a:p>
      </dgm:t>
    </dgm:pt>
    <dgm:pt modelId="{312CC84D-092F-422A-AA24-A4619DBBB7BE}" type="parTrans" cxnId="{9071FB3B-D26B-4384-BD1A-80C12C62D02C}">
      <dgm:prSet/>
      <dgm:spPr/>
      <dgm:t>
        <a:bodyPr/>
        <a:lstStyle/>
        <a:p>
          <a:endParaRPr lang="en-US" sz="3200"/>
        </a:p>
      </dgm:t>
    </dgm:pt>
    <dgm:pt modelId="{266DE8E8-1339-41C4-B9A7-6148496C7FA9}" type="sibTrans" cxnId="{9071FB3B-D26B-4384-BD1A-80C12C62D02C}">
      <dgm:prSet/>
      <dgm:spPr/>
      <dgm:t>
        <a:bodyPr/>
        <a:lstStyle/>
        <a:p>
          <a:endParaRPr lang="en-US" sz="3200"/>
        </a:p>
      </dgm:t>
    </dgm:pt>
    <dgm:pt modelId="{D1776C8F-2B10-4075-8DF7-7F65AB725ED5}">
      <dgm:prSet phldrT="[Text]" custT="1"/>
      <dgm:spPr/>
      <dgm:t>
        <a:bodyPr/>
        <a:lstStyle/>
        <a:p>
          <a:r>
            <a:rPr lang="en-US" sz="4400" dirty="0" smtClean="0"/>
            <a:t>3</a:t>
          </a:r>
          <a:endParaRPr lang="en-US" sz="4400" dirty="0"/>
        </a:p>
      </dgm:t>
    </dgm:pt>
    <dgm:pt modelId="{7291E740-3E17-41B3-99D3-1D67AE37CC3F}" type="parTrans" cxnId="{7077B78D-FCDC-4519-8416-DC357ACD5043}">
      <dgm:prSet/>
      <dgm:spPr/>
      <dgm:t>
        <a:bodyPr/>
        <a:lstStyle/>
        <a:p>
          <a:endParaRPr lang="en-US" sz="3200"/>
        </a:p>
      </dgm:t>
    </dgm:pt>
    <dgm:pt modelId="{88B75C29-8054-417D-BCE3-878A55118F6D}" type="sibTrans" cxnId="{7077B78D-FCDC-4519-8416-DC357ACD5043}">
      <dgm:prSet/>
      <dgm:spPr/>
      <dgm:t>
        <a:bodyPr/>
        <a:lstStyle/>
        <a:p>
          <a:endParaRPr lang="en-US" sz="3200"/>
        </a:p>
      </dgm:t>
    </dgm:pt>
    <dgm:pt modelId="{1E4D3931-0DBD-4211-A24A-6AF364284B1E}">
      <dgm:prSet phldrT="[Text]" custT="1"/>
      <dgm:spPr/>
      <dgm:t>
        <a:bodyPr/>
        <a:lstStyle/>
        <a:p>
          <a:pPr marL="280988" indent="-280988"/>
          <a:r>
            <a:rPr lang="en-US" sz="2000" dirty="0" smtClean="0"/>
            <a:t>to familiarize you with the concept of social networks in a practical sense by working on a real data set</a:t>
          </a:r>
          <a:endParaRPr lang="en-US" sz="2000" dirty="0">
            <a:effectLst>
              <a:outerShdw blurRad="38100" dist="38100" dir="2700000" algn="tl">
                <a:srgbClr val="000000">
                  <a:alpha val="43137"/>
                </a:srgbClr>
              </a:outerShdw>
            </a:effectLst>
          </a:endParaRPr>
        </a:p>
      </dgm:t>
    </dgm:pt>
    <dgm:pt modelId="{CADAA3D9-7C63-4729-85B0-64C8AF644EEF}" type="sibTrans" cxnId="{63E4D827-0083-4625-9FD6-043D8D32091E}">
      <dgm:prSet/>
      <dgm:spPr/>
      <dgm:t>
        <a:bodyPr/>
        <a:lstStyle/>
        <a:p>
          <a:endParaRPr lang="en-US" sz="3200"/>
        </a:p>
      </dgm:t>
    </dgm:pt>
    <dgm:pt modelId="{FC93695B-FD0E-4353-B1FD-4328F4386DEC}" type="parTrans" cxnId="{63E4D827-0083-4625-9FD6-043D8D32091E}">
      <dgm:prSet/>
      <dgm:spPr/>
      <dgm:t>
        <a:bodyPr/>
        <a:lstStyle/>
        <a:p>
          <a:endParaRPr lang="en-US" sz="3200"/>
        </a:p>
      </dgm:t>
    </dgm:pt>
    <dgm:pt modelId="{6BE4E373-0656-4EDC-821E-BE09C952B1F6}">
      <dgm:prSet phldrT="[Text]" custT="1"/>
      <dgm:spPr/>
      <dgm:t>
        <a:bodyPr/>
        <a:lstStyle/>
        <a:p>
          <a:r>
            <a:rPr lang="en-US" sz="1200" dirty="0" smtClean="0"/>
            <a:t>to introduce basic features of a social network that provides insights into a relationship of interests to help you learn how to perform basic network analytics such as clustering and community detection, and to introduce you to some advanced topics that may be of interest to you.</a:t>
          </a:r>
          <a:endParaRPr lang="en-US" sz="1200" dirty="0">
            <a:effectLst>
              <a:outerShdw blurRad="38100" dist="38100" dir="2700000" algn="tl">
                <a:srgbClr val="000000">
                  <a:alpha val="43137"/>
                </a:srgbClr>
              </a:outerShdw>
            </a:effectLst>
          </a:endParaRPr>
        </a:p>
      </dgm:t>
    </dgm:pt>
    <dgm:pt modelId="{E17B9BF1-2948-497F-8EC7-3BF734D839DB}" type="sibTrans" cxnId="{119690D4-400B-468B-8BA0-5C9C9E2AFEAF}">
      <dgm:prSet/>
      <dgm:spPr/>
      <dgm:t>
        <a:bodyPr/>
        <a:lstStyle/>
        <a:p>
          <a:endParaRPr lang="en-US" sz="3200"/>
        </a:p>
      </dgm:t>
    </dgm:pt>
    <dgm:pt modelId="{34218063-BF94-4304-99BD-B3F7BA4D3C8F}" type="parTrans" cxnId="{119690D4-400B-468B-8BA0-5C9C9E2AFEAF}">
      <dgm:prSet/>
      <dgm:spPr/>
      <dgm:t>
        <a:bodyPr/>
        <a:lstStyle/>
        <a:p>
          <a:endParaRPr lang="en-US" sz="3200"/>
        </a:p>
      </dgm:t>
    </dgm:pt>
    <dgm:pt modelId="{AAE7A1E6-6847-453D-B55B-8A82BF138C1D}" type="pres">
      <dgm:prSet presAssocID="{F6FEADD9-F67D-41F5-BA4C-3C84956E7F46}" presName="Name0" presStyleCnt="0">
        <dgm:presLayoutVars>
          <dgm:dir/>
          <dgm:animLvl val="lvl"/>
          <dgm:resizeHandles val="exact"/>
        </dgm:presLayoutVars>
      </dgm:prSet>
      <dgm:spPr/>
      <dgm:t>
        <a:bodyPr/>
        <a:lstStyle/>
        <a:p>
          <a:endParaRPr lang="en-US"/>
        </a:p>
      </dgm:t>
    </dgm:pt>
    <dgm:pt modelId="{C4407577-18A2-46E0-8805-2838042EB67A}" type="pres">
      <dgm:prSet presAssocID="{74EE5CD8-078F-4590-BF9C-A341A294A016}" presName="linNode" presStyleCnt="0"/>
      <dgm:spPr/>
      <dgm:t>
        <a:bodyPr/>
        <a:lstStyle/>
        <a:p>
          <a:endParaRPr lang="en-US"/>
        </a:p>
      </dgm:t>
    </dgm:pt>
    <dgm:pt modelId="{7E429971-BC57-430F-BB25-C0574E5E39E3}" type="pres">
      <dgm:prSet presAssocID="{74EE5CD8-078F-4590-BF9C-A341A294A016}" presName="parentText" presStyleLbl="node1" presStyleIdx="0" presStyleCnt="3" custLinFactNeighborY="-15667">
        <dgm:presLayoutVars>
          <dgm:chMax val="1"/>
          <dgm:bulletEnabled val="1"/>
        </dgm:presLayoutVars>
      </dgm:prSet>
      <dgm:spPr>
        <a:prstGeom prst="roundRect">
          <a:avLst/>
        </a:prstGeom>
      </dgm:spPr>
      <dgm:t>
        <a:bodyPr/>
        <a:lstStyle/>
        <a:p>
          <a:endParaRPr lang="en-US"/>
        </a:p>
      </dgm:t>
    </dgm:pt>
    <dgm:pt modelId="{D54B1729-BC98-42C1-9C6C-D65DCBA4358F}" type="pres">
      <dgm:prSet presAssocID="{74EE5CD8-078F-4590-BF9C-A341A294A016}" presName="descendantText" presStyleLbl="alignAccFollowNode1" presStyleIdx="0" presStyleCnt="3" custScaleX="259632">
        <dgm:presLayoutVars>
          <dgm:bulletEnabled val="1"/>
        </dgm:presLayoutVars>
      </dgm:prSet>
      <dgm:spPr>
        <a:prstGeom prst="rect">
          <a:avLst/>
        </a:prstGeom>
      </dgm:spPr>
      <dgm:t>
        <a:bodyPr/>
        <a:lstStyle/>
        <a:p>
          <a:endParaRPr lang="en-US"/>
        </a:p>
      </dgm:t>
    </dgm:pt>
    <dgm:pt modelId="{AB8574CC-D4F2-4555-AEE3-F4EE58B11D03}" type="pres">
      <dgm:prSet presAssocID="{CF9FB981-E6ED-4440-AC98-4E4E2ABA2C55}" presName="sp" presStyleCnt="0"/>
      <dgm:spPr/>
      <dgm:t>
        <a:bodyPr/>
        <a:lstStyle/>
        <a:p>
          <a:endParaRPr lang="en-US"/>
        </a:p>
      </dgm:t>
    </dgm:pt>
    <dgm:pt modelId="{85B8F607-FDD8-476A-ADBE-E1250824F294}" type="pres">
      <dgm:prSet presAssocID="{AA046201-5C4D-445E-BF0B-5C6D2B0A1945}" presName="linNode" presStyleCnt="0"/>
      <dgm:spPr/>
      <dgm:t>
        <a:bodyPr/>
        <a:lstStyle/>
        <a:p>
          <a:endParaRPr lang="en-US"/>
        </a:p>
      </dgm:t>
    </dgm:pt>
    <dgm:pt modelId="{C04276DC-EE64-470A-B8BC-09067B8045FA}" type="pres">
      <dgm:prSet presAssocID="{AA046201-5C4D-445E-BF0B-5C6D2B0A1945}" presName="parentText" presStyleLbl="node1" presStyleIdx="1" presStyleCnt="3">
        <dgm:presLayoutVars>
          <dgm:chMax val="1"/>
          <dgm:bulletEnabled val="1"/>
        </dgm:presLayoutVars>
      </dgm:prSet>
      <dgm:spPr>
        <a:prstGeom prst="roundRect">
          <a:avLst/>
        </a:prstGeom>
      </dgm:spPr>
      <dgm:t>
        <a:bodyPr/>
        <a:lstStyle/>
        <a:p>
          <a:endParaRPr lang="en-US"/>
        </a:p>
      </dgm:t>
    </dgm:pt>
    <dgm:pt modelId="{B37A5355-225B-4C6F-AED7-6C620F99EECC}" type="pres">
      <dgm:prSet presAssocID="{AA046201-5C4D-445E-BF0B-5C6D2B0A1945}" presName="descendantText" presStyleLbl="alignAccFollowNode1" presStyleIdx="1" presStyleCnt="3" custScaleX="259632">
        <dgm:presLayoutVars>
          <dgm:bulletEnabled val="1"/>
        </dgm:presLayoutVars>
      </dgm:prSet>
      <dgm:spPr>
        <a:prstGeom prst="rect">
          <a:avLst/>
        </a:prstGeom>
      </dgm:spPr>
      <dgm:t>
        <a:bodyPr/>
        <a:lstStyle/>
        <a:p>
          <a:endParaRPr lang="en-US"/>
        </a:p>
      </dgm:t>
    </dgm:pt>
    <dgm:pt modelId="{5ACAA866-A8A8-4183-97B5-CEEAB1525C60}" type="pres">
      <dgm:prSet presAssocID="{40767EFF-7D52-4469-ACEE-7D28E67337E2}" presName="sp" presStyleCnt="0"/>
      <dgm:spPr/>
      <dgm:t>
        <a:bodyPr/>
        <a:lstStyle/>
        <a:p>
          <a:endParaRPr lang="en-US"/>
        </a:p>
      </dgm:t>
    </dgm:pt>
    <dgm:pt modelId="{477213BE-9E91-4950-8451-7F60796F47F4}" type="pres">
      <dgm:prSet presAssocID="{D1776C8F-2B10-4075-8DF7-7F65AB725ED5}" presName="linNode" presStyleCnt="0"/>
      <dgm:spPr/>
      <dgm:t>
        <a:bodyPr/>
        <a:lstStyle/>
        <a:p>
          <a:endParaRPr lang="en-US"/>
        </a:p>
      </dgm:t>
    </dgm:pt>
    <dgm:pt modelId="{F5034101-5B7D-4FE7-B47A-5A48CF39606B}" type="pres">
      <dgm:prSet presAssocID="{D1776C8F-2B10-4075-8DF7-7F65AB725ED5}" presName="parentText" presStyleLbl="node1" presStyleIdx="2" presStyleCnt="3">
        <dgm:presLayoutVars>
          <dgm:chMax val="1"/>
          <dgm:bulletEnabled val="1"/>
        </dgm:presLayoutVars>
      </dgm:prSet>
      <dgm:spPr>
        <a:prstGeom prst="roundRect">
          <a:avLst/>
        </a:prstGeom>
      </dgm:spPr>
      <dgm:t>
        <a:bodyPr/>
        <a:lstStyle/>
        <a:p>
          <a:endParaRPr lang="en-US"/>
        </a:p>
      </dgm:t>
    </dgm:pt>
    <dgm:pt modelId="{C7C3E6FD-D83F-4BDA-907E-B5EE041DA931}" type="pres">
      <dgm:prSet presAssocID="{D1776C8F-2B10-4075-8DF7-7F65AB725ED5}" presName="descendantText" presStyleLbl="alignAccFollowNode1" presStyleIdx="2" presStyleCnt="3" custScaleX="259632">
        <dgm:presLayoutVars>
          <dgm:bulletEnabled val="1"/>
        </dgm:presLayoutVars>
      </dgm:prSet>
      <dgm:spPr>
        <a:prstGeom prst="rect">
          <a:avLst/>
        </a:prstGeom>
      </dgm:spPr>
      <dgm:t>
        <a:bodyPr/>
        <a:lstStyle/>
        <a:p>
          <a:endParaRPr lang="en-US"/>
        </a:p>
      </dgm:t>
    </dgm:pt>
  </dgm:ptLst>
  <dgm:cxnLst>
    <dgm:cxn modelId="{7077B78D-FCDC-4519-8416-DC357ACD5043}" srcId="{F6FEADD9-F67D-41F5-BA4C-3C84956E7F46}" destId="{D1776C8F-2B10-4075-8DF7-7F65AB725ED5}" srcOrd="2" destOrd="0" parTransId="{7291E740-3E17-41B3-99D3-1D67AE37CC3F}" sibTransId="{88B75C29-8054-417D-BCE3-878A55118F6D}"/>
    <dgm:cxn modelId="{119690D4-400B-468B-8BA0-5C9C9E2AFEAF}" srcId="{D1776C8F-2B10-4075-8DF7-7F65AB725ED5}" destId="{6BE4E373-0656-4EDC-821E-BE09C952B1F6}" srcOrd="0" destOrd="0" parTransId="{34218063-BF94-4304-99BD-B3F7BA4D3C8F}" sibTransId="{E17B9BF1-2948-497F-8EC7-3BF734D839DB}"/>
    <dgm:cxn modelId="{3D887057-7E91-45EF-8E4B-3006C2DFECB4}" type="presOf" srcId="{6BE4E373-0656-4EDC-821E-BE09C952B1F6}" destId="{C7C3E6FD-D83F-4BDA-907E-B5EE041DA931}" srcOrd="0" destOrd="0" presId="urn:microsoft.com/office/officeart/2005/8/layout/vList5"/>
    <dgm:cxn modelId="{B6416E04-E5DE-46CA-AD27-47EBE280D636}" type="presOf" srcId="{C59269D0-92A5-481C-BA64-727AFB0DD545}" destId="{B37A5355-225B-4C6F-AED7-6C620F99EECC}" srcOrd="0" destOrd="0" presId="urn:microsoft.com/office/officeart/2005/8/layout/vList5"/>
    <dgm:cxn modelId="{F40F9561-0D4C-44CF-91EF-A92B1DBDE44B}" srcId="{F6FEADD9-F67D-41F5-BA4C-3C84956E7F46}" destId="{74EE5CD8-078F-4590-BF9C-A341A294A016}" srcOrd="0" destOrd="0" parTransId="{BB568D76-3363-43D3-B00C-3359A643216C}" sibTransId="{CF9FB981-E6ED-4440-AC98-4E4E2ABA2C55}"/>
    <dgm:cxn modelId="{5417F3DF-8CAE-4E6C-ADBB-ED6F50084B8E}" type="presOf" srcId="{D1776C8F-2B10-4075-8DF7-7F65AB725ED5}" destId="{F5034101-5B7D-4FE7-B47A-5A48CF39606B}" srcOrd="0" destOrd="0" presId="urn:microsoft.com/office/officeart/2005/8/layout/vList5"/>
    <dgm:cxn modelId="{9071FB3B-D26B-4384-BD1A-80C12C62D02C}" srcId="{AA046201-5C4D-445E-BF0B-5C6D2B0A1945}" destId="{C59269D0-92A5-481C-BA64-727AFB0DD545}" srcOrd="0" destOrd="0" parTransId="{312CC84D-092F-422A-AA24-A4619DBBB7BE}" sibTransId="{266DE8E8-1339-41C4-B9A7-6148496C7FA9}"/>
    <dgm:cxn modelId="{B8AF1086-D7BE-446F-9133-738B599E9A7D}" srcId="{F6FEADD9-F67D-41F5-BA4C-3C84956E7F46}" destId="{AA046201-5C4D-445E-BF0B-5C6D2B0A1945}" srcOrd="1" destOrd="0" parTransId="{FE92FC33-5E0F-4302-9E80-A69E8ACDDE56}" sibTransId="{40767EFF-7D52-4469-ACEE-7D28E67337E2}"/>
    <dgm:cxn modelId="{DBCA7E61-D822-40A0-A27A-D7E092386A0B}" type="presOf" srcId="{F6FEADD9-F67D-41F5-BA4C-3C84956E7F46}" destId="{AAE7A1E6-6847-453D-B55B-8A82BF138C1D}" srcOrd="0" destOrd="0" presId="urn:microsoft.com/office/officeart/2005/8/layout/vList5"/>
    <dgm:cxn modelId="{9A0DCB65-9DCB-4972-9768-1762E4116F3C}" type="presOf" srcId="{74EE5CD8-078F-4590-BF9C-A341A294A016}" destId="{7E429971-BC57-430F-BB25-C0574E5E39E3}" srcOrd="0" destOrd="0" presId="urn:microsoft.com/office/officeart/2005/8/layout/vList5"/>
    <dgm:cxn modelId="{63E4D827-0083-4625-9FD6-043D8D32091E}" srcId="{74EE5CD8-078F-4590-BF9C-A341A294A016}" destId="{1E4D3931-0DBD-4211-A24A-6AF364284B1E}" srcOrd="0" destOrd="0" parTransId="{FC93695B-FD0E-4353-B1FD-4328F4386DEC}" sibTransId="{CADAA3D9-7C63-4729-85B0-64C8AF644EEF}"/>
    <dgm:cxn modelId="{1D12F37E-DF42-400C-B5B5-A8FAF49EC0EC}" type="presOf" srcId="{1E4D3931-0DBD-4211-A24A-6AF364284B1E}" destId="{D54B1729-BC98-42C1-9C6C-D65DCBA4358F}" srcOrd="0" destOrd="0" presId="urn:microsoft.com/office/officeart/2005/8/layout/vList5"/>
    <dgm:cxn modelId="{AFF7133D-5E9D-4613-9299-006F9E49301B}" type="presOf" srcId="{AA046201-5C4D-445E-BF0B-5C6D2B0A1945}" destId="{C04276DC-EE64-470A-B8BC-09067B8045FA}" srcOrd="0" destOrd="0" presId="urn:microsoft.com/office/officeart/2005/8/layout/vList5"/>
    <dgm:cxn modelId="{1E18118B-9778-4714-A249-2B714D5427F7}" type="presParOf" srcId="{AAE7A1E6-6847-453D-B55B-8A82BF138C1D}" destId="{C4407577-18A2-46E0-8805-2838042EB67A}" srcOrd="0" destOrd="0" presId="urn:microsoft.com/office/officeart/2005/8/layout/vList5"/>
    <dgm:cxn modelId="{84152E8A-21A6-4CAF-BC09-47C13F4FFFB8}" type="presParOf" srcId="{C4407577-18A2-46E0-8805-2838042EB67A}" destId="{7E429971-BC57-430F-BB25-C0574E5E39E3}" srcOrd="0" destOrd="0" presId="urn:microsoft.com/office/officeart/2005/8/layout/vList5"/>
    <dgm:cxn modelId="{1D51832F-3B38-483B-8C08-BDD413206841}" type="presParOf" srcId="{C4407577-18A2-46E0-8805-2838042EB67A}" destId="{D54B1729-BC98-42C1-9C6C-D65DCBA4358F}" srcOrd="1" destOrd="0" presId="urn:microsoft.com/office/officeart/2005/8/layout/vList5"/>
    <dgm:cxn modelId="{F2BB24AB-7DB6-4F0F-92D8-664E0F322520}" type="presParOf" srcId="{AAE7A1E6-6847-453D-B55B-8A82BF138C1D}" destId="{AB8574CC-D4F2-4555-AEE3-F4EE58B11D03}" srcOrd="1" destOrd="0" presId="urn:microsoft.com/office/officeart/2005/8/layout/vList5"/>
    <dgm:cxn modelId="{3F47CC38-27AC-4E4E-92A2-FDE046382C80}" type="presParOf" srcId="{AAE7A1E6-6847-453D-B55B-8A82BF138C1D}" destId="{85B8F607-FDD8-476A-ADBE-E1250824F294}" srcOrd="2" destOrd="0" presId="urn:microsoft.com/office/officeart/2005/8/layout/vList5"/>
    <dgm:cxn modelId="{B4BBC5E0-69C0-4FD2-84A6-C47E62DEA28D}" type="presParOf" srcId="{85B8F607-FDD8-476A-ADBE-E1250824F294}" destId="{C04276DC-EE64-470A-B8BC-09067B8045FA}" srcOrd="0" destOrd="0" presId="urn:microsoft.com/office/officeart/2005/8/layout/vList5"/>
    <dgm:cxn modelId="{71B90C6E-E0F2-4EE1-8864-5914AAFA20A7}" type="presParOf" srcId="{85B8F607-FDD8-476A-ADBE-E1250824F294}" destId="{B37A5355-225B-4C6F-AED7-6C620F99EECC}" srcOrd="1" destOrd="0" presId="urn:microsoft.com/office/officeart/2005/8/layout/vList5"/>
    <dgm:cxn modelId="{E6DEED78-0C33-4D1D-A595-AFE4311369E4}" type="presParOf" srcId="{AAE7A1E6-6847-453D-B55B-8A82BF138C1D}" destId="{5ACAA866-A8A8-4183-97B5-CEEAB1525C60}" srcOrd="3" destOrd="0" presId="urn:microsoft.com/office/officeart/2005/8/layout/vList5"/>
    <dgm:cxn modelId="{FD2A22C3-24B0-4E4D-A3BC-79528D3FBC48}" type="presParOf" srcId="{AAE7A1E6-6847-453D-B55B-8A82BF138C1D}" destId="{477213BE-9E91-4950-8451-7F60796F47F4}" srcOrd="4" destOrd="0" presId="urn:microsoft.com/office/officeart/2005/8/layout/vList5"/>
    <dgm:cxn modelId="{2D9E3819-8AF8-4F78-AD5E-1D892BCE0381}" type="presParOf" srcId="{477213BE-9E91-4950-8451-7F60796F47F4}" destId="{F5034101-5B7D-4FE7-B47A-5A48CF39606B}" srcOrd="0" destOrd="0" presId="urn:microsoft.com/office/officeart/2005/8/layout/vList5"/>
    <dgm:cxn modelId="{5FD7E964-E46A-45B4-A545-5D657B6094BB}" type="presParOf" srcId="{477213BE-9E91-4950-8451-7F60796F47F4}" destId="{C7C3E6FD-D83F-4BDA-907E-B5EE041DA931}" srcOrd="1" destOrd="0" presId="urn:microsoft.com/office/officeart/2005/8/layout/vList5"/>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D54B1729-BC98-42C1-9C6C-D65DCBA4358F}">
      <dsp:nvSpPr>
        <dsp:cNvPr id="0" name=""/>
        <dsp:cNvSpPr/>
      </dsp:nvSpPr>
      <dsp:spPr>
        <a:xfrm rot="5400000">
          <a:off x="3066871" y="-1848315"/>
          <a:ext cx="1047750" cy="5010287"/>
        </a:xfrm>
        <a:prstGeom prst="rect">
          <a:avLst/>
        </a:prstGeom>
        <a:solidFill>
          <a:schemeClr val="accent3">
            <a:tint val="40000"/>
            <a:alpha val="90000"/>
            <a:hueOff val="0"/>
            <a:satOff val="0"/>
            <a:lumOff val="0"/>
            <a:alphaOff val="0"/>
          </a:schemeClr>
        </a:solidFill>
        <a:ln w="9525" cap="flat" cmpd="sng" algn="ctr">
          <a:solidFill>
            <a:schemeClr val="accent3">
              <a:tint val="40000"/>
              <a:alpha val="90000"/>
              <a:hueOff val="0"/>
              <a:satOff val="0"/>
              <a:lumOff val="0"/>
              <a:alphaOff val="0"/>
            </a:schemeClr>
          </a:solidFill>
          <a:prstDash val="solid"/>
        </a:ln>
        <a:effectLst>
          <a:outerShdw blurRad="40000" dist="23000" dir="5400000" rotWithShape="0">
            <a:srgbClr val="000000">
              <a:alpha val="35000"/>
            </a:srgbClr>
          </a:outerShdw>
        </a:effectLst>
      </dsp:spPr>
      <dsp:style>
        <a:lnRef idx="1">
          <a:scrgbClr r="0" g="0" b="0"/>
        </a:lnRef>
        <a:fillRef idx="1">
          <a:scrgbClr r="0" g="0" b="0"/>
        </a:fillRef>
        <a:effectRef idx="2">
          <a:scrgbClr r="0" g="0" b="0"/>
        </a:effectRef>
        <a:fontRef idx="minor"/>
      </dsp:style>
      <dsp:txBody>
        <a:bodyPr spcFirstLastPara="0" vert="horz" wrap="square" lIns="247650" tIns="123825" rIns="247650" bIns="123825" numCol="1" spcCol="1270" anchor="ctr" anchorCtr="0">
          <a:noAutofit/>
        </a:bodyPr>
        <a:lstStyle/>
        <a:p>
          <a:pPr marL="280988" lvl="1" indent="-280988" algn="l" defTabSz="889000">
            <a:lnSpc>
              <a:spcPct val="90000"/>
            </a:lnSpc>
            <a:spcBef>
              <a:spcPct val="0"/>
            </a:spcBef>
            <a:spcAft>
              <a:spcPct val="15000"/>
            </a:spcAft>
            <a:buChar char="••"/>
          </a:pPr>
          <a:r>
            <a:rPr lang="en-US" sz="2000" kern="1200" dirty="0" smtClean="0"/>
            <a:t>to familiarize you with the concept of social networks in a practical sense by working on a real data set</a:t>
          </a:r>
          <a:endParaRPr lang="en-US" sz="2000" kern="1200" dirty="0">
            <a:effectLst>
              <a:outerShdw blurRad="38100" dist="38100" dir="2700000" algn="tl">
                <a:srgbClr val="000000">
                  <a:alpha val="43137"/>
                </a:srgbClr>
              </a:outerShdw>
            </a:effectLst>
          </a:endParaRPr>
        </a:p>
      </dsp:txBody>
      <dsp:txXfrm rot="-5400000">
        <a:off x="1085603" y="132953"/>
        <a:ext cx="5010287" cy="1047750"/>
      </dsp:txXfrm>
    </dsp:sp>
    <dsp:sp modelId="{7E429971-BC57-430F-BB25-C0574E5E39E3}">
      <dsp:nvSpPr>
        <dsp:cNvPr id="0" name=""/>
        <dsp:cNvSpPr/>
      </dsp:nvSpPr>
      <dsp:spPr>
        <a:xfrm>
          <a:off x="109" y="0"/>
          <a:ext cx="1085492" cy="1309687"/>
        </a:xfrm>
        <a:prstGeom prst="roundRect">
          <a:avLst/>
        </a:prstGeom>
        <a:gradFill rotWithShape="0">
          <a:gsLst>
            <a:gs pos="0">
              <a:schemeClr val="accent3">
                <a:hueOff val="0"/>
                <a:satOff val="0"/>
                <a:lumOff val="0"/>
                <a:alphaOff val="0"/>
                <a:shade val="51000"/>
                <a:satMod val="130000"/>
              </a:schemeClr>
            </a:gs>
            <a:gs pos="80000">
              <a:schemeClr val="accent3">
                <a:hueOff val="0"/>
                <a:satOff val="0"/>
                <a:lumOff val="0"/>
                <a:alphaOff val="0"/>
                <a:shade val="93000"/>
                <a:satMod val="130000"/>
              </a:schemeClr>
            </a:gs>
            <a:gs pos="100000">
              <a:schemeClr val="accent3">
                <a:hueOff val="0"/>
                <a:satOff val="0"/>
                <a:lumOff val="0"/>
                <a:alphaOff val="0"/>
                <a:shade val="94000"/>
                <a:satMod val="135000"/>
              </a:schemeClr>
            </a:gs>
          </a:gsLst>
          <a:lin ang="16200000" scaled="0"/>
        </a:gradFill>
        <a:ln>
          <a:noFill/>
        </a:ln>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dsp:spPr>
      <dsp:style>
        <a:lnRef idx="0">
          <a:scrgbClr r="0" g="0" b="0"/>
        </a:lnRef>
        <a:fillRef idx="3">
          <a:scrgbClr r="0" g="0" b="0"/>
        </a:fillRef>
        <a:effectRef idx="3">
          <a:scrgbClr r="0" g="0" b="0"/>
        </a:effectRef>
        <a:fontRef idx="minor">
          <a:schemeClr val="lt1"/>
        </a:fontRef>
      </dsp:style>
      <dsp:txBody>
        <a:bodyPr spcFirstLastPara="0" vert="horz" wrap="square" lIns="167640" tIns="83820" rIns="167640" bIns="83820" numCol="1" spcCol="1270" anchor="ctr" anchorCtr="0">
          <a:noAutofit/>
        </a:bodyPr>
        <a:lstStyle/>
        <a:p>
          <a:pPr lvl="0" algn="ctr" defTabSz="1955800">
            <a:lnSpc>
              <a:spcPct val="90000"/>
            </a:lnSpc>
            <a:spcBef>
              <a:spcPct val="0"/>
            </a:spcBef>
            <a:spcAft>
              <a:spcPct val="35000"/>
            </a:spcAft>
          </a:pPr>
          <a:r>
            <a:rPr lang="en-US" sz="4400" kern="1200" dirty="0" smtClean="0"/>
            <a:t>1</a:t>
          </a:r>
          <a:endParaRPr lang="en-US" sz="4400" kern="1200" dirty="0"/>
        </a:p>
      </dsp:txBody>
      <dsp:txXfrm>
        <a:off x="53098" y="52989"/>
        <a:ext cx="979514" cy="1203709"/>
      </dsp:txXfrm>
    </dsp:sp>
    <dsp:sp modelId="{B37A5355-225B-4C6F-AED7-6C620F99EECC}">
      <dsp:nvSpPr>
        <dsp:cNvPr id="0" name=""/>
        <dsp:cNvSpPr/>
      </dsp:nvSpPr>
      <dsp:spPr>
        <a:xfrm rot="5400000">
          <a:off x="3066871" y="-473143"/>
          <a:ext cx="1047750" cy="5010287"/>
        </a:xfrm>
        <a:prstGeom prst="rect">
          <a:avLst/>
        </a:prstGeom>
        <a:solidFill>
          <a:schemeClr val="accent3">
            <a:tint val="40000"/>
            <a:alpha val="90000"/>
            <a:hueOff val="5358425"/>
            <a:satOff val="-6896"/>
            <a:lumOff val="-537"/>
            <a:alphaOff val="0"/>
          </a:schemeClr>
        </a:solidFill>
        <a:ln w="9525" cap="flat" cmpd="sng" algn="ctr">
          <a:solidFill>
            <a:schemeClr val="accent3">
              <a:tint val="40000"/>
              <a:alpha val="90000"/>
              <a:hueOff val="5358425"/>
              <a:satOff val="-6896"/>
              <a:lumOff val="-537"/>
              <a:alphaOff val="0"/>
            </a:schemeClr>
          </a:solidFill>
          <a:prstDash val="solid"/>
        </a:ln>
        <a:effectLst>
          <a:outerShdw blurRad="40000" dist="23000" dir="5400000" rotWithShape="0">
            <a:srgbClr val="000000">
              <a:alpha val="35000"/>
            </a:srgbClr>
          </a:outerShdw>
        </a:effectLst>
      </dsp:spPr>
      <dsp:style>
        <a:lnRef idx="1">
          <a:scrgbClr r="0" g="0" b="0"/>
        </a:lnRef>
        <a:fillRef idx="1">
          <a:scrgbClr r="0" g="0" b="0"/>
        </a:fillRef>
        <a:effectRef idx="2">
          <a:scrgbClr r="0" g="0" b="0"/>
        </a:effectRef>
        <a:fontRef idx="minor"/>
      </dsp:style>
      <dsp:txBody>
        <a:bodyPr spcFirstLastPara="0" vert="horz" wrap="square" lIns="247650" tIns="123825" rIns="247650" bIns="123825" numCol="1" spcCol="1270" anchor="ctr" anchorCtr="0">
          <a:noAutofit/>
        </a:bodyPr>
        <a:lstStyle/>
        <a:p>
          <a:pPr marL="228600" lvl="1" indent="-228600" algn="l" defTabSz="889000">
            <a:lnSpc>
              <a:spcPct val="90000"/>
            </a:lnSpc>
            <a:spcBef>
              <a:spcPct val="0"/>
            </a:spcBef>
            <a:spcAft>
              <a:spcPct val="15000"/>
            </a:spcAft>
            <a:buChar char="••"/>
          </a:pPr>
          <a:r>
            <a:rPr lang="en-US" sz="2000" kern="1200" dirty="0" smtClean="0"/>
            <a:t>to walk you through all steps necessary to create a network, as well as simple network visualizations</a:t>
          </a:r>
          <a:endParaRPr lang="en-US" sz="2000" kern="1200" dirty="0">
            <a:effectLst>
              <a:outerShdw blurRad="38100" dist="38100" dir="2700000" algn="tl">
                <a:srgbClr val="000000">
                  <a:alpha val="43137"/>
                </a:srgbClr>
              </a:outerShdw>
            </a:effectLst>
          </a:endParaRPr>
        </a:p>
      </dsp:txBody>
      <dsp:txXfrm rot="-5400000">
        <a:off x="1085603" y="1508125"/>
        <a:ext cx="5010287" cy="1047750"/>
      </dsp:txXfrm>
    </dsp:sp>
    <dsp:sp modelId="{C04276DC-EE64-470A-B8BC-09067B8045FA}">
      <dsp:nvSpPr>
        <dsp:cNvPr id="0" name=""/>
        <dsp:cNvSpPr/>
      </dsp:nvSpPr>
      <dsp:spPr>
        <a:xfrm>
          <a:off x="109" y="1377156"/>
          <a:ext cx="1085492" cy="1309687"/>
        </a:xfrm>
        <a:prstGeom prst="roundRect">
          <a:avLst/>
        </a:prstGeom>
        <a:gradFill rotWithShape="0">
          <a:gsLst>
            <a:gs pos="0">
              <a:schemeClr val="accent3">
                <a:hueOff val="5625132"/>
                <a:satOff val="-8440"/>
                <a:lumOff val="-1373"/>
                <a:alphaOff val="0"/>
                <a:shade val="51000"/>
                <a:satMod val="130000"/>
              </a:schemeClr>
            </a:gs>
            <a:gs pos="80000">
              <a:schemeClr val="accent3">
                <a:hueOff val="5625132"/>
                <a:satOff val="-8440"/>
                <a:lumOff val="-1373"/>
                <a:alphaOff val="0"/>
                <a:shade val="93000"/>
                <a:satMod val="130000"/>
              </a:schemeClr>
            </a:gs>
            <a:gs pos="100000">
              <a:schemeClr val="accent3">
                <a:hueOff val="5625132"/>
                <a:satOff val="-8440"/>
                <a:lumOff val="-1373"/>
                <a:alphaOff val="0"/>
                <a:shade val="94000"/>
                <a:satMod val="135000"/>
              </a:schemeClr>
            </a:gs>
          </a:gsLst>
          <a:lin ang="16200000" scaled="0"/>
        </a:gradFill>
        <a:ln>
          <a:noFill/>
        </a:ln>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dsp:spPr>
      <dsp:style>
        <a:lnRef idx="0">
          <a:scrgbClr r="0" g="0" b="0"/>
        </a:lnRef>
        <a:fillRef idx="3">
          <a:scrgbClr r="0" g="0" b="0"/>
        </a:fillRef>
        <a:effectRef idx="3">
          <a:scrgbClr r="0" g="0" b="0"/>
        </a:effectRef>
        <a:fontRef idx="minor">
          <a:schemeClr val="lt1"/>
        </a:fontRef>
      </dsp:style>
      <dsp:txBody>
        <a:bodyPr spcFirstLastPara="0" vert="horz" wrap="square" lIns="167640" tIns="83820" rIns="167640" bIns="83820" numCol="1" spcCol="1270" anchor="ctr" anchorCtr="0">
          <a:noAutofit/>
        </a:bodyPr>
        <a:lstStyle/>
        <a:p>
          <a:pPr lvl="0" algn="ctr" defTabSz="1955800">
            <a:lnSpc>
              <a:spcPct val="90000"/>
            </a:lnSpc>
            <a:spcBef>
              <a:spcPct val="0"/>
            </a:spcBef>
            <a:spcAft>
              <a:spcPct val="35000"/>
            </a:spcAft>
          </a:pPr>
          <a:r>
            <a:rPr lang="en-US" sz="4400" kern="1200" dirty="0" smtClean="0"/>
            <a:t>2</a:t>
          </a:r>
          <a:endParaRPr lang="en-US" sz="4400" kern="1200" dirty="0"/>
        </a:p>
      </dsp:txBody>
      <dsp:txXfrm>
        <a:off x="53098" y="1430145"/>
        <a:ext cx="979514" cy="1203709"/>
      </dsp:txXfrm>
    </dsp:sp>
    <dsp:sp modelId="{C7C3E6FD-D83F-4BDA-907E-B5EE041DA931}">
      <dsp:nvSpPr>
        <dsp:cNvPr id="0" name=""/>
        <dsp:cNvSpPr/>
      </dsp:nvSpPr>
      <dsp:spPr>
        <a:xfrm rot="5400000">
          <a:off x="3066871" y="902028"/>
          <a:ext cx="1047750" cy="5010287"/>
        </a:xfrm>
        <a:prstGeom prst="rect">
          <a:avLst/>
        </a:prstGeom>
        <a:solidFill>
          <a:schemeClr val="accent3">
            <a:tint val="40000"/>
            <a:alpha val="90000"/>
            <a:hueOff val="10716850"/>
            <a:satOff val="-13793"/>
            <a:lumOff val="-1075"/>
            <a:alphaOff val="0"/>
          </a:schemeClr>
        </a:solidFill>
        <a:ln w="9525" cap="flat" cmpd="sng" algn="ctr">
          <a:solidFill>
            <a:schemeClr val="accent3">
              <a:tint val="40000"/>
              <a:alpha val="90000"/>
              <a:hueOff val="10716850"/>
              <a:satOff val="-13793"/>
              <a:lumOff val="-1075"/>
              <a:alphaOff val="0"/>
            </a:schemeClr>
          </a:solidFill>
          <a:prstDash val="solid"/>
        </a:ln>
        <a:effectLst>
          <a:outerShdw blurRad="40000" dist="23000" dir="5400000" rotWithShape="0">
            <a:srgbClr val="000000">
              <a:alpha val="35000"/>
            </a:srgbClr>
          </a:outerShdw>
        </a:effectLst>
      </dsp:spPr>
      <dsp:style>
        <a:lnRef idx="1">
          <a:scrgbClr r="0" g="0" b="0"/>
        </a:lnRef>
        <a:fillRef idx="1">
          <a:scrgbClr r="0" g="0" b="0"/>
        </a:fillRef>
        <a:effectRef idx="2">
          <a:scrgbClr r="0" g="0" b="0"/>
        </a:effectRef>
        <a:fontRef idx="minor"/>
      </dsp:style>
      <dsp:txBody>
        <a:bodyPr spcFirstLastPara="0" vert="horz" wrap="square" lIns="247650" tIns="123825" rIns="247650" bIns="123825" numCol="1" spcCol="1270" anchor="ctr" anchorCtr="0">
          <a:noAutofit/>
        </a:bodyPr>
        <a:lstStyle/>
        <a:p>
          <a:pPr marL="114300" lvl="1" indent="-114300" algn="l" defTabSz="533400">
            <a:lnSpc>
              <a:spcPct val="90000"/>
            </a:lnSpc>
            <a:spcBef>
              <a:spcPct val="0"/>
            </a:spcBef>
            <a:spcAft>
              <a:spcPct val="15000"/>
            </a:spcAft>
            <a:buChar char="••"/>
          </a:pPr>
          <a:r>
            <a:rPr lang="en-US" sz="1200" kern="1200" dirty="0" smtClean="0"/>
            <a:t>to introduce basic features of a social network that provides insights into a relationship of interests to help you learn how to perform basic network analytics such as clustering and community detection, and to introduce you to some advanced topics that may be of interest to you.</a:t>
          </a:r>
          <a:endParaRPr lang="en-US" sz="1200" kern="1200" dirty="0">
            <a:effectLst>
              <a:outerShdw blurRad="38100" dist="38100" dir="2700000" algn="tl">
                <a:srgbClr val="000000">
                  <a:alpha val="43137"/>
                </a:srgbClr>
              </a:outerShdw>
            </a:effectLst>
          </a:endParaRPr>
        </a:p>
      </dsp:txBody>
      <dsp:txXfrm rot="-5400000">
        <a:off x="1085603" y="2883296"/>
        <a:ext cx="5010287" cy="1047750"/>
      </dsp:txXfrm>
    </dsp:sp>
    <dsp:sp modelId="{F5034101-5B7D-4FE7-B47A-5A48CF39606B}">
      <dsp:nvSpPr>
        <dsp:cNvPr id="0" name=""/>
        <dsp:cNvSpPr/>
      </dsp:nvSpPr>
      <dsp:spPr>
        <a:xfrm>
          <a:off x="109" y="2752328"/>
          <a:ext cx="1085492" cy="1309687"/>
        </a:xfrm>
        <a:prstGeom prst="roundRect">
          <a:avLst/>
        </a:prstGeom>
        <a:gradFill rotWithShape="0">
          <a:gsLst>
            <a:gs pos="0">
              <a:schemeClr val="accent3">
                <a:hueOff val="11250264"/>
                <a:satOff val="-16880"/>
                <a:lumOff val="-2745"/>
                <a:alphaOff val="0"/>
                <a:shade val="51000"/>
                <a:satMod val="130000"/>
              </a:schemeClr>
            </a:gs>
            <a:gs pos="80000">
              <a:schemeClr val="accent3">
                <a:hueOff val="11250264"/>
                <a:satOff val="-16880"/>
                <a:lumOff val="-2745"/>
                <a:alphaOff val="0"/>
                <a:shade val="93000"/>
                <a:satMod val="130000"/>
              </a:schemeClr>
            </a:gs>
            <a:gs pos="100000">
              <a:schemeClr val="accent3">
                <a:hueOff val="11250264"/>
                <a:satOff val="-16880"/>
                <a:lumOff val="-2745"/>
                <a:alphaOff val="0"/>
                <a:shade val="94000"/>
                <a:satMod val="135000"/>
              </a:schemeClr>
            </a:gs>
          </a:gsLst>
          <a:lin ang="16200000" scaled="0"/>
        </a:gradFill>
        <a:ln>
          <a:noFill/>
        </a:ln>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dsp:spPr>
      <dsp:style>
        <a:lnRef idx="0">
          <a:scrgbClr r="0" g="0" b="0"/>
        </a:lnRef>
        <a:fillRef idx="3">
          <a:scrgbClr r="0" g="0" b="0"/>
        </a:fillRef>
        <a:effectRef idx="3">
          <a:scrgbClr r="0" g="0" b="0"/>
        </a:effectRef>
        <a:fontRef idx="minor">
          <a:schemeClr val="lt1"/>
        </a:fontRef>
      </dsp:style>
      <dsp:txBody>
        <a:bodyPr spcFirstLastPara="0" vert="horz" wrap="square" lIns="167640" tIns="83820" rIns="167640" bIns="83820" numCol="1" spcCol="1270" anchor="ctr" anchorCtr="0">
          <a:noAutofit/>
        </a:bodyPr>
        <a:lstStyle/>
        <a:p>
          <a:pPr lvl="0" algn="ctr" defTabSz="1955800">
            <a:lnSpc>
              <a:spcPct val="90000"/>
            </a:lnSpc>
            <a:spcBef>
              <a:spcPct val="0"/>
            </a:spcBef>
            <a:spcAft>
              <a:spcPct val="35000"/>
            </a:spcAft>
          </a:pPr>
          <a:r>
            <a:rPr lang="en-US" sz="4400" kern="1200" dirty="0" smtClean="0"/>
            <a:t>3</a:t>
          </a:r>
          <a:endParaRPr lang="en-US" sz="4400" kern="1200" dirty="0"/>
        </a:p>
      </dsp:txBody>
      <dsp:txXfrm>
        <a:off x="53098" y="2805317"/>
        <a:ext cx="979514" cy="1203709"/>
      </dsp:txXfrm>
    </dsp:sp>
  </dsp:spTree>
</dsp:drawing>
</file>

<file path=ppt/diagrams/layout1.xml><?xml version="1.0" encoding="utf-8"?>
<dgm:layoutDef xmlns:dgm="http://schemas.openxmlformats.org/drawingml/2006/diagram" xmlns:a="http://schemas.openxmlformats.org/drawingml/2006/main" uniqueId="urn:microsoft.com/office/officeart/2005/8/layout/vList5">
  <dgm:title val=""/>
  <dgm:desc val=""/>
  <dgm:catLst>
    <dgm:cat type="list" pri="15000"/>
    <dgm:cat type="convert" pri="2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Name0">
    <dgm:varLst>
      <dgm:dir/>
      <dgm:animLvl val="lvl"/>
      <dgm:resizeHandles val="exact"/>
    </dgm:varLst>
    <dgm:choose name="Name1">
      <dgm:if name="Name2" func="var" arg="dir" op="equ" val="norm">
        <dgm:alg type="lin">
          <dgm:param type="linDir" val="fromT"/>
          <dgm:param type="nodeHorzAlign" val="l"/>
        </dgm:alg>
      </dgm:if>
      <dgm:else name="Name3">
        <dgm:alg type="lin">
          <dgm:param type="linDir" val="fromT"/>
          <dgm:param type="nodeHorzAlign" val="r"/>
        </dgm:alg>
      </dgm:else>
    </dgm:choose>
    <dgm:shape xmlns:r="http://schemas.openxmlformats.org/officeDocument/2006/relationships" r:blip="">
      <dgm:adjLst/>
    </dgm:shape>
    <dgm:presOf/>
    <dgm:constrLst>
      <dgm:constr type="h" for="ch" forName="linNode" refType="h"/>
      <dgm:constr type="w" for="ch" forName="linNode" refType="w"/>
      <dgm:constr type="h" for="ch" forName="sp" refType="h" fact="0.05"/>
      <dgm:constr type="primFontSz" for="des" forName="parentText" op="equ" val="65"/>
      <dgm:constr type="secFontSz" for="des" forName="descendantText" op="equ"/>
    </dgm:constrLst>
    <dgm:ruleLst/>
    <dgm:forEach name="Name4" axis="ch" ptType="node">
      <dgm:layoutNode name="linNode">
        <dgm:choose name="Name5">
          <dgm:if name="Name6" func="var" arg="dir" op="equ" val="norm">
            <dgm:alg type="lin">
              <dgm:param type="linDir" val="fromL"/>
            </dgm:alg>
          </dgm:if>
          <dgm:else name="Name7">
            <dgm:alg type="lin">
              <dgm:param type="linDir" val="fromR"/>
            </dgm:alg>
          </dgm:else>
        </dgm:choose>
        <dgm:shape xmlns:r="http://schemas.openxmlformats.org/officeDocument/2006/relationships" r:blip="">
          <dgm:adjLst/>
        </dgm:shape>
        <dgm:presOf/>
        <dgm:constrLst>
          <dgm:constr type="w" for="ch" forName="parentText" refType="w" fact="0.36"/>
          <dgm:constr type="w" for="ch" forName="descendantText" refType="w" fact="0.64"/>
          <dgm:constr type="h" for="ch" forName="parentText" refType="h"/>
          <dgm:constr type="h" for="ch" forName="descendantText" refType="h" refFor="ch" refForName="parentText" fact="0.8"/>
        </dgm:constrLst>
        <dgm:ruleLst/>
        <dgm:layoutNode name="parentText">
          <dgm:varLst>
            <dgm:chMax val="1"/>
            <dgm:bulletEnabled val="1"/>
          </dgm:varLst>
          <dgm:alg type="tx"/>
          <dgm:shape xmlns:r="http://schemas.openxmlformats.org/officeDocument/2006/relationships" type="roundRect" r:blip="" zOrderOff="3">
            <dgm:adjLst/>
          </dgm:shape>
          <dgm:presOf axis="self" ptType="node"/>
          <dgm:constrLst>
            <dgm:constr type="tMarg" refType="primFontSz" fact="0.15"/>
            <dgm:constr type="bMarg" refType="primFontSz" fact="0.15"/>
            <dgm:constr type="lMarg" refType="primFontSz" fact="0.3"/>
            <dgm:constr type="rMarg" refType="primFontSz" fact="0.3"/>
          </dgm:constrLst>
          <dgm:ruleLst>
            <dgm:rule type="primFontSz" val="5" fact="NaN" max="NaN"/>
          </dgm:ruleLst>
        </dgm:layoutNode>
        <dgm:choose name="Name8">
          <dgm:if name="Name9" axis="ch" ptType="node" func="cnt" op="gte" val="1">
            <dgm:layoutNode name="descendantText" styleLbl="alignAccFollowNode1">
              <dgm:varLst>
                <dgm:bulletEnabled val="1"/>
              </dgm:varLst>
              <dgm:alg type="tx">
                <dgm:param type="stBulletLvl" val="1"/>
                <dgm:param type="txAnchorVertCh" val="mid"/>
              </dgm:alg>
              <dgm:choose name="Name10">
                <dgm:if name="Name11" func="var" arg="dir" op="equ" val="norm">
                  <dgm:shape xmlns:r="http://schemas.openxmlformats.org/officeDocument/2006/relationships" rot="90" type="round2SameRect" r:blip="">
                    <dgm:adjLst/>
                  </dgm:shape>
                </dgm:if>
                <dgm:else name="Name12">
                  <dgm:shape xmlns:r="http://schemas.openxmlformats.org/officeDocument/2006/relationships" rot="-90" type="round2SameRect" r:blip="">
                    <dgm:adjLst/>
                  </dgm:shape>
                </dgm:else>
              </dgm:choose>
              <dgm:presOf axis="des" ptType="node"/>
              <dgm:constrLst>
                <dgm:constr type="secFontSz" val="65"/>
                <dgm:constr type="primFontSz" refType="secFontSz"/>
                <dgm:constr type="lMarg" refType="secFontSz" fact="0.3"/>
                <dgm:constr type="rMarg" refType="secFontSz" fact="0.3"/>
                <dgm:constr type="tMarg" refType="secFontSz" fact="0.15"/>
                <dgm:constr type="bMarg" refType="secFontSz" fact="0.15"/>
              </dgm:constrLst>
              <dgm:ruleLst>
                <dgm:rule type="secFontSz" val="5" fact="NaN" max="NaN"/>
              </dgm:ruleLst>
            </dgm:layoutNode>
          </dgm:if>
          <dgm:else name="Name13"/>
        </dgm:choose>
      </dgm:layoutNode>
      <dgm:forEach name="Name14" axis="followSib" ptType="sibTrans" cnt="1">
        <dgm:layoutNode name="sp">
          <dgm:alg type="sp"/>
          <dgm:shape xmlns:r="http://schemas.openxmlformats.org/officeDocument/2006/relationships" r:blip="">
            <dgm:adjLst/>
          </dgm:shape>
          <dgm:presOf/>
          <dgm:constrLst/>
          <dgm:ruleLst/>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5">
  <dgm:title val=""/>
  <dgm:desc val=""/>
  <dgm:catLst>
    <dgm:cat type="simple" pri="105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lnNode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3">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3">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1">
        <a:scrgbClr r="0" g="0" b="0"/>
      </a:lnRef>
      <a:fillRef idx="0">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3">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3">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3">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sz="quarter" idx="1"/>
          </p:nvPr>
        </p:nvSpPr>
        <p:spPr>
          <a:xfrm>
            <a:off x="3884613" y="0"/>
            <a:ext cx="2971800" cy="457200"/>
          </a:xfrm>
          <a:prstGeom prst="rect">
            <a:avLst/>
          </a:prstGeom>
        </p:spPr>
        <p:txBody>
          <a:bodyPr vert="horz" lIns="91440" tIns="45720" rIns="91440" bIns="45720" rtlCol="0"/>
          <a:lstStyle>
            <a:lvl1pPr algn="r">
              <a:defRPr sz="1200"/>
            </a:lvl1pPr>
          </a:lstStyle>
          <a:p>
            <a:fld id="{D83FDC75-7F73-4A4A-A77C-09AADF00E0EA}" type="datetimeFigureOut">
              <a:rPr lang="en-US" smtClean="0"/>
              <a:pPr/>
              <a:t>12/24/2023</a:t>
            </a:fld>
            <a:endParaRPr lang="en-US" dirty="0"/>
          </a:p>
        </p:txBody>
      </p:sp>
      <p:sp>
        <p:nvSpPr>
          <p:cNvPr id="4" name="Footer Placeholder 3"/>
          <p:cNvSpPr>
            <a:spLocks noGrp="1"/>
          </p:cNvSpPr>
          <p:nvPr>
            <p:ph type="ftr" sz="quarter" idx="2"/>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dirty="0"/>
          </a:p>
        </p:txBody>
      </p:sp>
      <p:sp>
        <p:nvSpPr>
          <p:cNvPr id="5" name="Slide Number Placeholder 4"/>
          <p:cNvSpPr>
            <a:spLocks noGrp="1"/>
          </p:cNvSpPr>
          <p:nvPr>
            <p:ph type="sldNum" sz="quarter" idx="3"/>
          </p:nvPr>
        </p:nvSpPr>
        <p:spPr>
          <a:xfrm>
            <a:off x="3884613" y="8685213"/>
            <a:ext cx="2971800" cy="457200"/>
          </a:xfrm>
          <a:prstGeom prst="rect">
            <a:avLst/>
          </a:prstGeom>
        </p:spPr>
        <p:txBody>
          <a:bodyPr vert="horz" lIns="91440" tIns="45720" rIns="91440" bIns="45720" rtlCol="0" anchor="b"/>
          <a:lstStyle>
            <a:lvl1pPr algn="r">
              <a:defRPr sz="1200"/>
            </a:lvl1pPr>
          </a:lstStyle>
          <a:p>
            <a:fld id="{459226BF-1F13-42D3-80DC-373E7ADD1EBC}" type="slidenum">
              <a:rPr lang="en-US" smtClean="0"/>
              <a:pPr/>
              <a:t>‹#›</a:t>
            </a:fld>
            <a:endParaRPr lang="en-US" dirty="0"/>
          </a:p>
        </p:txBody>
      </p:sp>
    </p:spTree>
    <p:extLst>
      <p:ext uri="{BB962C8B-B14F-4D97-AF65-F5344CB8AC3E}">
        <p14:creationId xmlns:p14="http://schemas.microsoft.com/office/powerpoint/2010/main" val="1843239496"/>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48AEF76B-3757-4A0B-AF93-28494465C1DD}" type="datetimeFigureOut">
              <a:rPr lang="en-US" smtClean="0"/>
              <a:pPr/>
              <a:t>12/24/2023</a:t>
            </a:fld>
            <a:endParaRPr lang="en-US" dirty="0"/>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dirty="0"/>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75693FD4-8F83-4EF7-AC3F-0DC0388986B0}" type="slidenum">
              <a:rPr lang="en-US" smtClean="0"/>
              <a:pPr/>
              <a:t>‹#›</a:t>
            </a:fld>
            <a:endParaRPr lang="en-US" dirty="0"/>
          </a:p>
        </p:txBody>
      </p:sp>
    </p:spTree>
    <p:extLst>
      <p:ext uri="{BB962C8B-B14F-4D97-AF65-F5344CB8AC3E}">
        <p14:creationId xmlns:p14="http://schemas.microsoft.com/office/powerpoint/2010/main" val="91659615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dirty="0" smtClean="0"/>
              <a:t>This template can be used as a starter file for presenting training materials in a group setting.</a:t>
            </a:r>
          </a:p>
          <a:p>
            <a:endParaRPr lang="en-US" dirty="0" smtClean="0"/>
          </a:p>
          <a:p>
            <a:pPr lvl="0"/>
            <a:r>
              <a:rPr lang="en-US" sz="1200" b="1" dirty="0" smtClean="0"/>
              <a:t>Sections</a:t>
            </a:r>
            <a:endParaRPr lang="en-US" sz="1200" b="0" dirty="0" smtClean="0"/>
          </a:p>
          <a:p>
            <a:pPr lvl="0"/>
            <a:r>
              <a:rPr lang="en-US" sz="1200" b="0" dirty="0" smtClean="0"/>
              <a:t>Right-click on a slide to add sections.</a:t>
            </a:r>
            <a:r>
              <a:rPr lang="en-US" sz="1200" b="0" baseline="0" dirty="0" smtClean="0"/>
              <a:t> Sections can help to organize your slides or facilitate collaboration between multiple authors.</a:t>
            </a:r>
            <a:endParaRPr lang="en-US" sz="1200" b="0" dirty="0" smtClean="0"/>
          </a:p>
          <a:p>
            <a:pPr lvl="0"/>
            <a:endParaRPr lang="en-US" sz="1200" b="1" dirty="0" smtClean="0"/>
          </a:p>
          <a:p>
            <a:pPr lvl="0"/>
            <a:r>
              <a:rPr lang="en-US" sz="1200" b="1" dirty="0" smtClean="0"/>
              <a:t>Notes</a:t>
            </a:r>
          </a:p>
          <a:p>
            <a:pPr lvl="0"/>
            <a:r>
              <a:rPr lang="en-US" sz="1200" dirty="0" smtClean="0"/>
              <a:t>Use the Notes section for delivery notes or to provide additional details for the audience.</a:t>
            </a:r>
            <a:r>
              <a:rPr lang="en-US" sz="1200" baseline="0" dirty="0" smtClean="0"/>
              <a:t> View these notes in Presentation View during your presentation. </a:t>
            </a:r>
          </a:p>
          <a:p>
            <a:pPr lvl="0">
              <a:buFontTx/>
              <a:buNone/>
            </a:pPr>
            <a:r>
              <a:rPr lang="en-US" sz="1200" dirty="0" smtClean="0"/>
              <a:t>Keep in mind the font size (important for accessibility, visibility, videotaping, and online production)</a:t>
            </a:r>
          </a:p>
          <a:p>
            <a:pPr lvl="0"/>
            <a:endParaRPr lang="en-US" sz="1200" dirty="0" smtClean="0"/>
          </a:p>
          <a:p>
            <a:pPr lvl="0">
              <a:buFontTx/>
              <a:buNone/>
            </a:pPr>
            <a:r>
              <a:rPr lang="en-US" sz="1200" b="1" dirty="0" smtClean="0"/>
              <a:t>Coordinated colors </a:t>
            </a:r>
          </a:p>
          <a:p>
            <a:pPr lvl="0">
              <a:buFontTx/>
              <a:buNone/>
            </a:pPr>
            <a:r>
              <a:rPr lang="en-US" sz="1200" dirty="0" smtClean="0"/>
              <a:t>Pay particular attention to the graphs, charts, and text boxes.</a:t>
            </a:r>
            <a:r>
              <a:rPr lang="en-US" sz="1200" baseline="0" dirty="0" smtClean="0"/>
              <a:t> </a:t>
            </a:r>
            <a:endParaRPr lang="en-US" sz="1200" dirty="0" smtClean="0"/>
          </a:p>
          <a:p>
            <a:pPr lvl="0"/>
            <a:r>
              <a:rPr lang="en-US" sz="1200" dirty="0" smtClean="0"/>
              <a:t>Consider that attendees will print in black and white or </a:t>
            </a:r>
            <a:r>
              <a:rPr lang="en-US" sz="1200" dirty="0" err="1" smtClean="0"/>
              <a:t>grayscale</a:t>
            </a:r>
            <a:r>
              <a:rPr lang="en-US" sz="1200" dirty="0" smtClean="0"/>
              <a:t>. Run a test print to make sure your colors work when printed in pure black and white and </a:t>
            </a:r>
            <a:r>
              <a:rPr lang="en-US" sz="1200" dirty="0" err="1" smtClean="0"/>
              <a:t>grayscale</a:t>
            </a:r>
            <a:r>
              <a:rPr lang="en-US" sz="1200" dirty="0" smtClean="0"/>
              <a:t>.</a:t>
            </a:r>
          </a:p>
          <a:p>
            <a:pPr lvl="0">
              <a:buFontTx/>
              <a:buNone/>
            </a:pPr>
            <a:endParaRPr lang="en-US" sz="1200" dirty="0" smtClean="0"/>
          </a:p>
          <a:p>
            <a:pPr lvl="0">
              <a:buFontTx/>
              <a:buNone/>
            </a:pPr>
            <a:r>
              <a:rPr lang="en-US" sz="1200" b="1" dirty="0" smtClean="0"/>
              <a:t>Graphics, tables, and graphs</a:t>
            </a:r>
          </a:p>
          <a:p>
            <a:pPr lvl="0"/>
            <a:r>
              <a:rPr lang="en-US" sz="1200" dirty="0" smtClean="0"/>
              <a:t>Keep it simple: If possible, use consistent, non-distracting styles and colors.</a:t>
            </a:r>
          </a:p>
          <a:p>
            <a:pPr lvl="0"/>
            <a:r>
              <a:rPr lang="en-US" sz="1200" dirty="0" smtClean="0"/>
              <a:t>Label all graphs and tables.</a:t>
            </a:r>
          </a:p>
          <a:p>
            <a:endParaRPr lang="en-US" dirty="0" smtClean="0"/>
          </a:p>
          <a:p>
            <a:endParaRPr lang="en-US" dirty="0" smtClean="0"/>
          </a:p>
          <a:p>
            <a:endParaRPr lang="en-US" dirty="0"/>
          </a:p>
        </p:txBody>
      </p:sp>
      <p:sp>
        <p:nvSpPr>
          <p:cNvPr id="4" name="Slide Number Placeholder 3"/>
          <p:cNvSpPr>
            <a:spLocks noGrp="1"/>
          </p:cNvSpPr>
          <p:nvPr>
            <p:ph type="sldNum" sz="quarter" idx="10"/>
          </p:nvPr>
        </p:nvSpPr>
        <p:spPr/>
        <p:txBody>
          <a:bodyPr/>
          <a:lstStyle/>
          <a:p>
            <a:fld id="{EC6EAC7D-5A89-47C2-8ABA-56C9C2DEF7A4}" type="slidenum">
              <a:rPr lang="en-US" smtClean="0"/>
              <a:pPr/>
              <a:t>1</a:t>
            </a:fld>
            <a:endParaRPr 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numCol="2" spcCol="182880">
            <a:noAutofit/>
          </a:bodyPr>
          <a:lstStyle/>
          <a:p>
            <a:pPr marL="228600" marR="0" indent="-228600" algn="l" defTabSz="914400" rtl="0" eaLnBrk="1" fontAlgn="auto" latinLnBrk="0" hangingPunct="1">
              <a:lnSpc>
                <a:spcPct val="100000"/>
              </a:lnSpc>
              <a:spcBef>
                <a:spcPts val="0"/>
              </a:spcBef>
              <a:spcAft>
                <a:spcPts val="0"/>
              </a:spcAft>
              <a:buClrTx/>
              <a:buSzTx/>
              <a:buFont typeface="+mj-lt"/>
              <a:buNone/>
              <a:tabLst/>
              <a:defRPr/>
            </a:pPr>
            <a:r>
              <a:rPr lang="en-US" sz="1200" dirty="0" smtClean="0"/>
              <a:t>This is another option</a:t>
            </a:r>
            <a:r>
              <a:rPr lang="en-US" sz="1200" baseline="0" dirty="0" smtClean="0"/>
              <a:t> for an Overview slide.</a:t>
            </a:r>
            <a:endParaRPr lang="en-US" sz="1200" dirty="0" smtClean="0"/>
          </a:p>
          <a:p>
            <a:pPr marL="228600" indent="-228600">
              <a:buFont typeface="+mj-lt"/>
              <a:buNone/>
            </a:pPr>
            <a:endParaRPr lang="en-US" sz="1200" dirty="0"/>
          </a:p>
        </p:txBody>
      </p:sp>
      <p:sp>
        <p:nvSpPr>
          <p:cNvPr id="5" name="Slide Image Placeholder 4"/>
          <p:cNvSpPr>
            <a:spLocks noGrp="1" noRot="1" noChangeAspect="1"/>
          </p:cNvSpPr>
          <p:nvPr>
            <p:ph type="sldImg"/>
          </p:nvPr>
        </p:nvSpPr>
        <p:spPr>
          <a:xfrm>
            <a:off x="539750" y="503238"/>
            <a:ext cx="3143250" cy="2359025"/>
          </a:xfrm>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75693FD4-8F83-4EF7-AC3F-0DC0388986B0}" type="slidenum">
              <a:rPr lang="en-US" smtClean="0"/>
              <a:pPr/>
              <a:t>3</a:t>
            </a:fld>
            <a:endParaRPr 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75693FD4-8F83-4EF7-AC3F-0DC0388986B0}" type="slidenum">
              <a:rPr lang="en-US" smtClean="0"/>
              <a:pPr/>
              <a:t>4</a:t>
            </a:fld>
            <a:endParaRPr 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75693FD4-8F83-4EF7-AC3F-0DC0388986B0}" type="slidenum">
              <a:rPr lang="en-US" smtClean="0"/>
              <a:pPr/>
              <a:t>5</a:t>
            </a:fld>
            <a:endParaRPr 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75693FD4-8F83-4EF7-AC3F-0DC0388986B0}" type="slidenum">
              <a:rPr lang="en-US" smtClean="0"/>
              <a:pPr/>
              <a:t>6</a:t>
            </a:fld>
            <a:endParaRPr 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75693FD4-8F83-4EF7-AC3F-0DC0388986B0}" type="slidenum">
              <a:rPr lang="en-US" smtClean="0"/>
              <a:pPr/>
              <a:t>7</a:t>
            </a:fld>
            <a:endParaRPr lang="en-US"/>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75693FD4-8F83-4EF7-AC3F-0DC0388986B0}" type="slidenum">
              <a:rPr lang="en-US" smtClean="0"/>
              <a:pPr/>
              <a:t>8</a:t>
            </a:fld>
            <a:endParaRPr lang="en-US"/>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dirty="0" smtClean="0"/>
              <a:t>Use a section header for each of the topics, so there is a clear transition to the audience. </a:t>
            </a:r>
          </a:p>
          <a:p>
            <a:endParaRPr lang="en-US" dirty="0"/>
          </a:p>
        </p:txBody>
      </p:sp>
      <p:sp>
        <p:nvSpPr>
          <p:cNvPr id="4" name="Slide Number Placeholder 3"/>
          <p:cNvSpPr>
            <a:spLocks noGrp="1"/>
          </p:cNvSpPr>
          <p:nvPr>
            <p:ph type="sldNum" sz="quarter" idx="10"/>
          </p:nvPr>
        </p:nvSpPr>
        <p:spPr/>
        <p:txBody>
          <a:bodyPr/>
          <a:lstStyle/>
          <a:p>
            <a:fld id="{75693FD4-8F83-4EF7-AC3F-0DC0388986B0}" type="slidenum">
              <a:rPr lang="en-US" smtClean="0"/>
              <a:pPr/>
              <a:t>9</a:t>
            </a:fld>
            <a:endParaRPr lang="en-US" dirty="0"/>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200" dirty="0" smtClean="0"/>
              <a:t>This is another option</a:t>
            </a:r>
            <a:r>
              <a:rPr lang="en-US" sz="1200" baseline="0" dirty="0" smtClean="0"/>
              <a:t> for an Overview slides using transitions.</a:t>
            </a:r>
            <a:endParaRPr lang="en-US" sz="1200" dirty="0" smtClean="0"/>
          </a:p>
          <a:p>
            <a:endParaRPr lang="en-US" dirty="0"/>
          </a:p>
        </p:txBody>
      </p:sp>
      <p:sp>
        <p:nvSpPr>
          <p:cNvPr id="4" name="Slide Number Placeholder 3"/>
          <p:cNvSpPr>
            <a:spLocks noGrp="1"/>
          </p:cNvSpPr>
          <p:nvPr>
            <p:ph type="sldNum" sz="quarter" idx="10"/>
          </p:nvPr>
        </p:nvSpPr>
        <p:spPr/>
        <p:txBody>
          <a:bodyPr/>
          <a:lstStyle/>
          <a:p>
            <a:fld id="{75693FD4-8F83-4EF7-AC3F-0DC0388986B0}" type="slidenum">
              <a:rPr lang="en-US" smtClean="0"/>
              <a:pPr/>
              <a:t>10</a:t>
            </a:fld>
            <a:endParaRPr lang="en-US"/>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75693FD4-8F83-4EF7-AC3F-0DC0388986B0}" type="slidenum">
              <a:rPr lang="en-US" smtClean="0"/>
              <a:pPr/>
              <a:t>11</a:t>
            </a:fld>
            <a:endParaRPr lang="en-US"/>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75693FD4-8F83-4EF7-AC3F-0DC0388986B0}" type="slidenum">
              <a:rPr lang="en-US" smtClean="0"/>
              <a:pPr/>
              <a:t>12</a:t>
            </a:fld>
            <a:endParaRPr lang="en-US"/>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lnSpcReduction="10000"/>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b="0" dirty="0" smtClean="0"/>
              <a:t>What</a:t>
            </a:r>
            <a:r>
              <a:rPr lang="en-US" b="0" baseline="0" dirty="0" smtClean="0"/>
              <a:t> will the audience be able to do after this training is complete?</a:t>
            </a:r>
            <a:r>
              <a:rPr lang="en-US" dirty="0" smtClean="0"/>
              <a:t> Briefly describe each objective how the audience</a:t>
            </a:r>
            <a:r>
              <a:rPr lang="en-US" baseline="0" dirty="0" smtClean="0"/>
              <a:t> </a:t>
            </a:r>
            <a:r>
              <a:rPr lang="en-US" dirty="0" smtClean="0"/>
              <a:t>will benefit from this</a:t>
            </a:r>
            <a:r>
              <a:rPr lang="en-US" baseline="0" dirty="0" smtClean="0"/>
              <a:t> presentation.</a:t>
            </a:r>
            <a:endParaRPr lang="en-US" dirty="0" smtClean="0"/>
          </a:p>
        </p:txBody>
      </p:sp>
      <p:sp>
        <p:nvSpPr>
          <p:cNvPr id="4" name="Slide Number Placeholder 3"/>
          <p:cNvSpPr>
            <a:spLocks noGrp="1"/>
          </p:cNvSpPr>
          <p:nvPr>
            <p:ph type="sldNum" sz="quarter" idx="10"/>
          </p:nvPr>
        </p:nvSpPr>
        <p:spPr/>
        <p:txBody>
          <a:bodyPr/>
          <a:lstStyle/>
          <a:p>
            <a:fld id="{EC6EAC7D-5A89-47C2-8ABA-56C9C2DEF7A4}" type="slidenum">
              <a:rPr lang="en-US" smtClean="0"/>
              <a:pPr/>
              <a:t>13</a:t>
            </a:fld>
            <a:endParaRPr lang="en-US"/>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75693FD4-8F83-4EF7-AC3F-0DC0388986B0}" type="slidenum">
              <a:rPr lang="en-US" smtClean="0"/>
              <a:pPr/>
              <a:t>14</a:t>
            </a:fld>
            <a:endParaRPr lang="en-US"/>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dirty="0" smtClean="0"/>
              <a:t>Add slides to each topic section as necessary, including slides with tables, graphs, and images. </a:t>
            </a:r>
          </a:p>
          <a:p>
            <a:r>
              <a:rPr lang="en-US" dirty="0" smtClean="0"/>
              <a:t>See next section for sample</a:t>
            </a:r>
            <a:r>
              <a:rPr lang="en-US" baseline="0" dirty="0" smtClean="0"/>
              <a:t> </a:t>
            </a:r>
            <a:r>
              <a:rPr lang="en-US" dirty="0" smtClean="0"/>
              <a:t>table,</a:t>
            </a:r>
            <a:r>
              <a:rPr lang="en-US" baseline="0" dirty="0" smtClean="0"/>
              <a:t> graph, image, and video layouts. </a:t>
            </a:r>
            <a:endParaRPr lang="en-US" dirty="0"/>
          </a:p>
        </p:txBody>
      </p:sp>
      <p:sp>
        <p:nvSpPr>
          <p:cNvPr id="4" name="Slide Number Placeholder 3"/>
          <p:cNvSpPr>
            <a:spLocks noGrp="1"/>
          </p:cNvSpPr>
          <p:nvPr>
            <p:ph type="sldNum" sz="quarter" idx="10"/>
          </p:nvPr>
        </p:nvSpPr>
        <p:spPr/>
        <p:txBody>
          <a:bodyPr/>
          <a:lstStyle/>
          <a:p>
            <a:fld id="{EC6EAC7D-5A89-47C2-8ABA-56C9C2DEF7A4}" type="slidenum">
              <a:rPr lang="en-US" smtClean="0"/>
              <a:pPr/>
              <a:t>15</a:t>
            </a:fld>
            <a:endParaRPr lang="en-US"/>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75693FD4-8F83-4EF7-AC3F-0DC0388986B0}" type="slidenum">
              <a:rPr lang="en-US" smtClean="0"/>
              <a:pPr/>
              <a:t>16</a:t>
            </a:fld>
            <a:endParaRPr lang="en-US"/>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2" name="Rectangle 23"/>
          <p:cNvSpPr>
            <a:spLocks noGrp="1" noChangeArrowheads="1"/>
          </p:cNvSpPr>
          <p:nvPr>
            <p:ph type="hdr" sz="quarter"/>
          </p:nvPr>
        </p:nvSpPr>
        <p:spPr>
          <a:noFill/>
        </p:spPr>
        <p:txBody>
          <a:bodyPr/>
          <a:lstStyle/>
          <a:p>
            <a:r>
              <a:rPr lang="en-US" smtClean="0"/>
              <a:t>Microsoft </a:t>
            </a:r>
            <a:r>
              <a:rPr lang="en-US" b="1" smtClean="0"/>
              <a:t>Engineering Excellence</a:t>
            </a:r>
            <a:endParaRPr lang="en-US" smtClean="0"/>
          </a:p>
        </p:txBody>
      </p:sp>
      <p:sp>
        <p:nvSpPr>
          <p:cNvPr id="46083" name="Rectangle 25"/>
          <p:cNvSpPr>
            <a:spLocks noGrp="1" noChangeArrowheads="1"/>
          </p:cNvSpPr>
          <p:nvPr>
            <p:ph type="ftr" sz="quarter" idx="4"/>
          </p:nvPr>
        </p:nvSpPr>
        <p:spPr>
          <a:noFill/>
        </p:spPr>
        <p:txBody>
          <a:bodyPr/>
          <a:lstStyle/>
          <a:p>
            <a:r>
              <a:rPr lang="en-US" smtClean="0"/>
              <a:t>Microsoft Confidential</a:t>
            </a:r>
          </a:p>
        </p:txBody>
      </p:sp>
      <p:sp>
        <p:nvSpPr>
          <p:cNvPr id="46084" name="Rectangle 26"/>
          <p:cNvSpPr>
            <a:spLocks noGrp="1" noChangeArrowheads="1"/>
          </p:cNvSpPr>
          <p:nvPr>
            <p:ph type="sldNum" sz="quarter" idx="5"/>
          </p:nvPr>
        </p:nvSpPr>
        <p:spPr>
          <a:noFill/>
        </p:spPr>
        <p:txBody>
          <a:bodyPr/>
          <a:lstStyle/>
          <a:p>
            <a:fld id="{F2C51ECC-86A3-4073-ADEB-F5E3C216F85C}" type="slidenum">
              <a:rPr lang="en-US" smtClean="0"/>
              <a:pPr/>
              <a:t>17</a:t>
            </a:fld>
            <a:endParaRPr lang="en-US" smtClean="0"/>
          </a:p>
        </p:txBody>
      </p:sp>
      <p:sp>
        <p:nvSpPr>
          <p:cNvPr id="46085" name="Rectangle 2"/>
          <p:cNvSpPr>
            <a:spLocks noGrp="1" noRot="1" noChangeAspect="1" noChangeArrowheads="1" noTextEdit="1"/>
          </p:cNvSpPr>
          <p:nvPr>
            <p:ph type="sldImg"/>
          </p:nvPr>
        </p:nvSpPr>
        <p:spPr>
          <a:xfrm>
            <a:off x="1143000" y="450850"/>
            <a:ext cx="4572000" cy="3429000"/>
          </a:xfrm>
          <a:ln/>
        </p:spPr>
      </p:sp>
      <p:sp>
        <p:nvSpPr>
          <p:cNvPr id="46086" name="Rectangle 3"/>
          <p:cNvSpPr>
            <a:spLocks noGrp="1" noChangeArrowheads="1"/>
          </p:cNvSpPr>
          <p:nvPr>
            <p:ph type="body" idx="1"/>
          </p:nvPr>
        </p:nvSpPr>
        <p:spPr>
          <a:xfrm>
            <a:off x="307492" y="4130103"/>
            <a:ext cx="6261652" cy="4593861"/>
          </a:xfrm>
          <a:noFill/>
          <a:ln/>
        </p:spPr>
        <p:txBody>
          <a:bodyPr/>
          <a:lstStyle/>
          <a:p>
            <a:endParaRPr lang="en-US" dirty="0" smtClean="0"/>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2" name="Rectangle 23"/>
          <p:cNvSpPr>
            <a:spLocks noGrp="1" noChangeArrowheads="1"/>
          </p:cNvSpPr>
          <p:nvPr>
            <p:ph type="hdr" sz="quarter"/>
          </p:nvPr>
        </p:nvSpPr>
        <p:spPr>
          <a:noFill/>
        </p:spPr>
        <p:txBody>
          <a:bodyPr/>
          <a:lstStyle/>
          <a:p>
            <a:r>
              <a:rPr lang="en-US" smtClean="0"/>
              <a:t>Microsoft </a:t>
            </a:r>
            <a:r>
              <a:rPr lang="en-US" b="1" smtClean="0"/>
              <a:t>Engineering Excellence</a:t>
            </a:r>
            <a:endParaRPr lang="en-US" smtClean="0"/>
          </a:p>
        </p:txBody>
      </p:sp>
      <p:sp>
        <p:nvSpPr>
          <p:cNvPr id="46083" name="Rectangle 25"/>
          <p:cNvSpPr>
            <a:spLocks noGrp="1" noChangeArrowheads="1"/>
          </p:cNvSpPr>
          <p:nvPr>
            <p:ph type="ftr" sz="quarter" idx="4"/>
          </p:nvPr>
        </p:nvSpPr>
        <p:spPr>
          <a:noFill/>
        </p:spPr>
        <p:txBody>
          <a:bodyPr/>
          <a:lstStyle/>
          <a:p>
            <a:r>
              <a:rPr lang="en-US" smtClean="0"/>
              <a:t>Microsoft Confidential</a:t>
            </a:r>
          </a:p>
        </p:txBody>
      </p:sp>
      <p:sp>
        <p:nvSpPr>
          <p:cNvPr id="46084" name="Rectangle 26"/>
          <p:cNvSpPr>
            <a:spLocks noGrp="1" noChangeArrowheads="1"/>
          </p:cNvSpPr>
          <p:nvPr>
            <p:ph type="sldNum" sz="quarter" idx="5"/>
          </p:nvPr>
        </p:nvSpPr>
        <p:spPr>
          <a:noFill/>
        </p:spPr>
        <p:txBody>
          <a:bodyPr/>
          <a:lstStyle/>
          <a:p>
            <a:fld id="{F2C51ECC-86A3-4073-ADEB-F5E3C216F85C}" type="slidenum">
              <a:rPr lang="en-US" smtClean="0"/>
              <a:pPr/>
              <a:t>18</a:t>
            </a:fld>
            <a:endParaRPr lang="en-US" smtClean="0"/>
          </a:p>
        </p:txBody>
      </p:sp>
      <p:sp>
        <p:nvSpPr>
          <p:cNvPr id="46085" name="Rectangle 2"/>
          <p:cNvSpPr>
            <a:spLocks noGrp="1" noRot="1" noChangeAspect="1" noChangeArrowheads="1" noTextEdit="1"/>
          </p:cNvSpPr>
          <p:nvPr>
            <p:ph type="sldImg"/>
          </p:nvPr>
        </p:nvSpPr>
        <p:spPr>
          <a:xfrm>
            <a:off x="1143000" y="450850"/>
            <a:ext cx="4572000" cy="3429000"/>
          </a:xfrm>
          <a:ln/>
        </p:spPr>
      </p:sp>
      <p:sp>
        <p:nvSpPr>
          <p:cNvPr id="46086" name="Rectangle 3"/>
          <p:cNvSpPr>
            <a:spLocks noGrp="1" noChangeArrowheads="1"/>
          </p:cNvSpPr>
          <p:nvPr>
            <p:ph type="body" idx="1"/>
          </p:nvPr>
        </p:nvSpPr>
        <p:spPr>
          <a:xfrm>
            <a:off x="307492" y="4130103"/>
            <a:ext cx="6261652" cy="4593861"/>
          </a:xfrm>
          <a:noFill/>
          <a:ln/>
        </p:spPr>
        <p:txBody>
          <a:bodyPr/>
          <a:lstStyle/>
          <a:p>
            <a:endParaRPr lang="en-US" dirty="0" smtClean="0"/>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2" name="Rectangle 23"/>
          <p:cNvSpPr>
            <a:spLocks noGrp="1" noChangeArrowheads="1"/>
          </p:cNvSpPr>
          <p:nvPr>
            <p:ph type="hdr" sz="quarter"/>
          </p:nvPr>
        </p:nvSpPr>
        <p:spPr>
          <a:noFill/>
        </p:spPr>
        <p:txBody>
          <a:bodyPr/>
          <a:lstStyle/>
          <a:p>
            <a:r>
              <a:rPr lang="en-US" smtClean="0"/>
              <a:t>Microsoft </a:t>
            </a:r>
            <a:r>
              <a:rPr lang="en-US" b="1" smtClean="0"/>
              <a:t>Engineering Excellence</a:t>
            </a:r>
            <a:endParaRPr lang="en-US" smtClean="0"/>
          </a:p>
        </p:txBody>
      </p:sp>
      <p:sp>
        <p:nvSpPr>
          <p:cNvPr id="46083" name="Rectangle 25"/>
          <p:cNvSpPr>
            <a:spLocks noGrp="1" noChangeArrowheads="1"/>
          </p:cNvSpPr>
          <p:nvPr>
            <p:ph type="ftr" sz="quarter" idx="4"/>
          </p:nvPr>
        </p:nvSpPr>
        <p:spPr>
          <a:noFill/>
        </p:spPr>
        <p:txBody>
          <a:bodyPr/>
          <a:lstStyle/>
          <a:p>
            <a:r>
              <a:rPr lang="en-US" smtClean="0"/>
              <a:t>Microsoft Confidential</a:t>
            </a:r>
          </a:p>
        </p:txBody>
      </p:sp>
      <p:sp>
        <p:nvSpPr>
          <p:cNvPr id="46084" name="Rectangle 26"/>
          <p:cNvSpPr>
            <a:spLocks noGrp="1" noChangeArrowheads="1"/>
          </p:cNvSpPr>
          <p:nvPr>
            <p:ph type="sldNum" sz="quarter" idx="5"/>
          </p:nvPr>
        </p:nvSpPr>
        <p:spPr>
          <a:noFill/>
        </p:spPr>
        <p:txBody>
          <a:bodyPr/>
          <a:lstStyle/>
          <a:p>
            <a:fld id="{F2C51ECC-86A3-4073-ADEB-F5E3C216F85C}" type="slidenum">
              <a:rPr lang="en-US" smtClean="0"/>
              <a:pPr/>
              <a:t>19</a:t>
            </a:fld>
            <a:endParaRPr lang="en-US" smtClean="0"/>
          </a:p>
        </p:txBody>
      </p:sp>
      <p:sp>
        <p:nvSpPr>
          <p:cNvPr id="46085" name="Rectangle 2"/>
          <p:cNvSpPr>
            <a:spLocks noGrp="1" noRot="1" noChangeAspect="1" noChangeArrowheads="1" noTextEdit="1"/>
          </p:cNvSpPr>
          <p:nvPr>
            <p:ph type="sldImg"/>
          </p:nvPr>
        </p:nvSpPr>
        <p:spPr>
          <a:xfrm>
            <a:off x="1143000" y="450850"/>
            <a:ext cx="4572000" cy="3429000"/>
          </a:xfrm>
          <a:ln/>
        </p:spPr>
      </p:sp>
      <p:sp>
        <p:nvSpPr>
          <p:cNvPr id="46086" name="Rectangle 3"/>
          <p:cNvSpPr>
            <a:spLocks noGrp="1" noChangeArrowheads="1"/>
          </p:cNvSpPr>
          <p:nvPr>
            <p:ph type="body" idx="1"/>
          </p:nvPr>
        </p:nvSpPr>
        <p:spPr>
          <a:xfrm>
            <a:off x="307492" y="4130103"/>
            <a:ext cx="6261652" cy="4593861"/>
          </a:xfrm>
          <a:noFill/>
          <a:ln/>
        </p:spPr>
        <p:txBody>
          <a:bodyPr/>
          <a:lstStyle/>
          <a:p>
            <a:endParaRPr lang="en-US" dirty="0" smtClean="0"/>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2" name="Rectangle 23"/>
          <p:cNvSpPr>
            <a:spLocks noGrp="1" noChangeArrowheads="1"/>
          </p:cNvSpPr>
          <p:nvPr>
            <p:ph type="hdr" sz="quarter"/>
          </p:nvPr>
        </p:nvSpPr>
        <p:spPr>
          <a:noFill/>
        </p:spPr>
        <p:txBody>
          <a:bodyPr/>
          <a:lstStyle/>
          <a:p>
            <a:r>
              <a:rPr lang="en-US" smtClean="0"/>
              <a:t>Microsoft </a:t>
            </a:r>
            <a:r>
              <a:rPr lang="en-US" b="1" smtClean="0"/>
              <a:t>Engineering Excellence</a:t>
            </a:r>
            <a:endParaRPr lang="en-US" smtClean="0"/>
          </a:p>
        </p:txBody>
      </p:sp>
      <p:sp>
        <p:nvSpPr>
          <p:cNvPr id="46083" name="Rectangle 25"/>
          <p:cNvSpPr>
            <a:spLocks noGrp="1" noChangeArrowheads="1"/>
          </p:cNvSpPr>
          <p:nvPr>
            <p:ph type="ftr" sz="quarter" idx="4"/>
          </p:nvPr>
        </p:nvSpPr>
        <p:spPr>
          <a:noFill/>
        </p:spPr>
        <p:txBody>
          <a:bodyPr/>
          <a:lstStyle/>
          <a:p>
            <a:r>
              <a:rPr lang="en-US" smtClean="0"/>
              <a:t>Microsoft Confidential</a:t>
            </a:r>
          </a:p>
        </p:txBody>
      </p:sp>
      <p:sp>
        <p:nvSpPr>
          <p:cNvPr id="46084" name="Rectangle 26"/>
          <p:cNvSpPr>
            <a:spLocks noGrp="1" noChangeArrowheads="1"/>
          </p:cNvSpPr>
          <p:nvPr>
            <p:ph type="sldNum" sz="quarter" idx="5"/>
          </p:nvPr>
        </p:nvSpPr>
        <p:spPr>
          <a:noFill/>
        </p:spPr>
        <p:txBody>
          <a:bodyPr/>
          <a:lstStyle/>
          <a:p>
            <a:fld id="{F2C51ECC-86A3-4073-ADEB-F5E3C216F85C}" type="slidenum">
              <a:rPr lang="en-US" smtClean="0"/>
              <a:pPr/>
              <a:t>20</a:t>
            </a:fld>
            <a:endParaRPr lang="en-US" smtClean="0"/>
          </a:p>
        </p:txBody>
      </p:sp>
      <p:sp>
        <p:nvSpPr>
          <p:cNvPr id="46085" name="Rectangle 2"/>
          <p:cNvSpPr>
            <a:spLocks noGrp="1" noRot="1" noChangeAspect="1" noChangeArrowheads="1" noTextEdit="1"/>
          </p:cNvSpPr>
          <p:nvPr>
            <p:ph type="sldImg"/>
          </p:nvPr>
        </p:nvSpPr>
        <p:spPr>
          <a:xfrm>
            <a:off x="1143000" y="450850"/>
            <a:ext cx="4572000" cy="3429000"/>
          </a:xfrm>
          <a:ln/>
        </p:spPr>
      </p:sp>
      <p:sp>
        <p:nvSpPr>
          <p:cNvPr id="46086" name="Rectangle 3"/>
          <p:cNvSpPr>
            <a:spLocks noGrp="1" noChangeArrowheads="1"/>
          </p:cNvSpPr>
          <p:nvPr>
            <p:ph type="body" idx="1"/>
          </p:nvPr>
        </p:nvSpPr>
        <p:spPr>
          <a:xfrm>
            <a:off x="307492" y="4130103"/>
            <a:ext cx="6261652" cy="4593861"/>
          </a:xfrm>
          <a:noFill/>
          <a:ln/>
        </p:spPr>
        <p:txBody>
          <a:bodyPr/>
          <a:lstStyle/>
          <a:p>
            <a:endParaRPr lang="en-US" dirty="0" smtClean="0"/>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75693FD4-8F83-4EF7-AC3F-0DC0388986B0}" type="slidenum">
              <a:rPr lang="en-US" smtClean="0"/>
              <a:pPr/>
              <a:t>21</a:t>
            </a:fld>
            <a:endParaRPr lang="en-US"/>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2" name="Rectangle 23"/>
          <p:cNvSpPr>
            <a:spLocks noGrp="1" noChangeArrowheads="1"/>
          </p:cNvSpPr>
          <p:nvPr>
            <p:ph type="hdr" sz="quarter"/>
          </p:nvPr>
        </p:nvSpPr>
        <p:spPr>
          <a:noFill/>
        </p:spPr>
        <p:txBody>
          <a:bodyPr/>
          <a:lstStyle/>
          <a:p>
            <a:r>
              <a:rPr lang="en-US" smtClean="0"/>
              <a:t>Microsoft </a:t>
            </a:r>
            <a:r>
              <a:rPr lang="en-US" b="1" smtClean="0"/>
              <a:t>Engineering Excellence</a:t>
            </a:r>
            <a:endParaRPr lang="en-US" smtClean="0"/>
          </a:p>
        </p:txBody>
      </p:sp>
      <p:sp>
        <p:nvSpPr>
          <p:cNvPr id="46083" name="Rectangle 25"/>
          <p:cNvSpPr>
            <a:spLocks noGrp="1" noChangeArrowheads="1"/>
          </p:cNvSpPr>
          <p:nvPr>
            <p:ph type="ftr" sz="quarter" idx="4"/>
          </p:nvPr>
        </p:nvSpPr>
        <p:spPr>
          <a:noFill/>
        </p:spPr>
        <p:txBody>
          <a:bodyPr/>
          <a:lstStyle/>
          <a:p>
            <a:r>
              <a:rPr lang="en-US" smtClean="0"/>
              <a:t>Microsoft Confidential</a:t>
            </a:r>
          </a:p>
        </p:txBody>
      </p:sp>
      <p:sp>
        <p:nvSpPr>
          <p:cNvPr id="46084" name="Rectangle 26"/>
          <p:cNvSpPr>
            <a:spLocks noGrp="1" noChangeArrowheads="1"/>
          </p:cNvSpPr>
          <p:nvPr>
            <p:ph type="sldNum" sz="quarter" idx="5"/>
          </p:nvPr>
        </p:nvSpPr>
        <p:spPr>
          <a:noFill/>
        </p:spPr>
        <p:txBody>
          <a:bodyPr/>
          <a:lstStyle/>
          <a:p>
            <a:fld id="{F2C51ECC-86A3-4073-ADEB-F5E3C216F85C}" type="slidenum">
              <a:rPr lang="en-US" smtClean="0"/>
              <a:pPr/>
              <a:t>22</a:t>
            </a:fld>
            <a:endParaRPr lang="en-US" smtClean="0"/>
          </a:p>
        </p:txBody>
      </p:sp>
      <p:sp>
        <p:nvSpPr>
          <p:cNvPr id="46085" name="Rectangle 2"/>
          <p:cNvSpPr>
            <a:spLocks noGrp="1" noRot="1" noChangeAspect="1" noChangeArrowheads="1" noTextEdit="1"/>
          </p:cNvSpPr>
          <p:nvPr>
            <p:ph type="sldImg"/>
          </p:nvPr>
        </p:nvSpPr>
        <p:spPr>
          <a:xfrm>
            <a:off x="1143000" y="450850"/>
            <a:ext cx="4572000" cy="3429000"/>
          </a:xfrm>
          <a:ln/>
        </p:spPr>
      </p:sp>
      <p:sp>
        <p:nvSpPr>
          <p:cNvPr id="46086" name="Rectangle 3"/>
          <p:cNvSpPr>
            <a:spLocks noGrp="1" noChangeArrowheads="1"/>
          </p:cNvSpPr>
          <p:nvPr>
            <p:ph type="body" idx="1"/>
          </p:nvPr>
        </p:nvSpPr>
        <p:spPr>
          <a:xfrm>
            <a:off x="307492" y="4130103"/>
            <a:ext cx="6261652" cy="4593861"/>
          </a:xfrm>
          <a:noFill/>
          <a:ln/>
        </p:spPr>
        <p:txBody>
          <a:bodyPr/>
          <a:lstStyle/>
          <a:p>
            <a:endParaRPr lang="en-US" dirty="0" smtClean="0"/>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75693FD4-8F83-4EF7-AC3F-0DC0388986B0}" type="slidenum">
              <a:rPr lang="en-US" smtClean="0"/>
              <a:pPr/>
              <a:t>23</a:t>
            </a:fld>
            <a:endParaRPr lang="en-US"/>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2" name="Rectangle 23"/>
          <p:cNvSpPr>
            <a:spLocks noGrp="1" noChangeArrowheads="1"/>
          </p:cNvSpPr>
          <p:nvPr>
            <p:ph type="hdr" sz="quarter"/>
          </p:nvPr>
        </p:nvSpPr>
        <p:spPr>
          <a:noFill/>
        </p:spPr>
        <p:txBody>
          <a:bodyPr/>
          <a:lstStyle/>
          <a:p>
            <a:r>
              <a:rPr lang="en-US" smtClean="0"/>
              <a:t>Microsoft </a:t>
            </a:r>
            <a:r>
              <a:rPr lang="en-US" b="1" smtClean="0"/>
              <a:t>Engineering Excellence</a:t>
            </a:r>
            <a:endParaRPr lang="en-US" smtClean="0"/>
          </a:p>
        </p:txBody>
      </p:sp>
      <p:sp>
        <p:nvSpPr>
          <p:cNvPr id="46083" name="Rectangle 25"/>
          <p:cNvSpPr>
            <a:spLocks noGrp="1" noChangeArrowheads="1"/>
          </p:cNvSpPr>
          <p:nvPr>
            <p:ph type="ftr" sz="quarter" idx="4"/>
          </p:nvPr>
        </p:nvSpPr>
        <p:spPr>
          <a:noFill/>
        </p:spPr>
        <p:txBody>
          <a:bodyPr/>
          <a:lstStyle/>
          <a:p>
            <a:r>
              <a:rPr lang="en-US" smtClean="0"/>
              <a:t>Microsoft Confidential</a:t>
            </a:r>
          </a:p>
        </p:txBody>
      </p:sp>
      <p:sp>
        <p:nvSpPr>
          <p:cNvPr id="46084" name="Rectangle 26"/>
          <p:cNvSpPr>
            <a:spLocks noGrp="1" noChangeArrowheads="1"/>
          </p:cNvSpPr>
          <p:nvPr>
            <p:ph type="sldNum" sz="quarter" idx="5"/>
          </p:nvPr>
        </p:nvSpPr>
        <p:spPr>
          <a:noFill/>
        </p:spPr>
        <p:txBody>
          <a:bodyPr/>
          <a:lstStyle/>
          <a:p>
            <a:fld id="{F2C51ECC-86A3-4073-ADEB-F5E3C216F85C}" type="slidenum">
              <a:rPr lang="en-US" smtClean="0"/>
              <a:pPr/>
              <a:t>24</a:t>
            </a:fld>
            <a:endParaRPr lang="en-US" smtClean="0"/>
          </a:p>
        </p:txBody>
      </p:sp>
      <p:sp>
        <p:nvSpPr>
          <p:cNvPr id="46085" name="Rectangle 2"/>
          <p:cNvSpPr>
            <a:spLocks noGrp="1" noRot="1" noChangeAspect="1" noChangeArrowheads="1" noTextEdit="1"/>
          </p:cNvSpPr>
          <p:nvPr>
            <p:ph type="sldImg"/>
          </p:nvPr>
        </p:nvSpPr>
        <p:spPr>
          <a:xfrm>
            <a:off x="1143000" y="450850"/>
            <a:ext cx="4572000" cy="3429000"/>
          </a:xfrm>
          <a:ln/>
        </p:spPr>
      </p:sp>
      <p:sp>
        <p:nvSpPr>
          <p:cNvPr id="46086" name="Rectangle 3"/>
          <p:cNvSpPr>
            <a:spLocks noGrp="1" noChangeArrowheads="1"/>
          </p:cNvSpPr>
          <p:nvPr>
            <p:ph type="body" idx="1"/>
          </p:nvPr>
        </p:nvSpPr>
        <p:spPr>
          <a:xfrm>
            <a:off x="307492" y="4130103"/>
            <a:ext cx="6261652" cy="4593861"/>
          </a:xfrm>
          <a:noFill/>
          <a:ln/>
        </p:spPr>
        <p:txBody>
          <a:bodyPr/>
          <a:lstStyle/>
          <a:p>
            <a:endParaRPr lang="en-US" dirty="0" smtClean="0"/>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75693FD4-8F83-4EF7-AC3F-0DC0388986B0}" type="slidenum">
              <a:rPr lang="en-US" smtClean="0"/>
              <a:pPr/>
              <a:t>25</a:t>
            </a:fld>
            <a:endParaRPr lang="en-US"/>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2" name="Rectangle 23"/>
          <p:cNvSpPr>
            <a:spLocks noGrp="1" noChangeArrowheads="1"/>
          </p:cNvSpPr>
          <p:nvPr>
            <p:ph type="hdr" sz="quarter"/>
          </p:nvPr>
        </p:nvSpPr>
        <p:spPr>
          <a:noFill/>
        </p:spPr>
        <p:txBody>
          <a:bodyPr/>
          <a:lstStyle/>
          <a:p>
            <a:r>
              <a:rPr lang="en-US" smtClean="0"/>
              <a:t>Microsoft </a:t>
            </a:r>
            <a:r>
              <a:rPr lang="en-US" b="1" smtClean="0"/>
              <a:t>Engineering Excellence</a:t>
            </a:r>
            <a:endParaRPr lang="en-US" smtClean="0"/>
          </a:p>
        </p:txBody>
      </p:sp>
      <p:sp>
        <p:nvSpPr>
          <p:cNvPr id="46083" name="Rectangle 25"/>
          <p:cNvSpPr>
            <a:spLocks noGrp="1" noChangeArrowheads="1"/>
          </p:cNvSpPr>
          <p:nvPr>
            <p:ph type="ftr" sz="quarter" idx="4"/>
          </p:nvPr>
        </p:nvSpPr>
        <p:spPr>
          <a:noFill/>
        </p:spPr>
        <p:txBody>
          <a:bodyPr/>
          <a:lstStyle/>
          <a:p>
            <a:r>
              <a:rPr lang="en-US" smtClean="0"/>
              <a:t>Microsoft Confidential</a:t>
            </a:r>
          </a:p>
        </p:txBody>
      </p:sp>
      <p:sp>
        <p:nvSpPr>
          <p:cNvPr id="46084" name="Rectangle 26"/>
          <p:cNvSpPr>
            <a:spLocks noGrp="1" noChangeArrowheads="1"/>
          </p:cNvSpPr>
          <p:nvPr>
            <p:ph type="sldNum" sz="quarter" idx="5"/>
          </p:nvPr>
        </p:nvSpPr>
        <p:spPr>
          <a:noFill/>
        </p:spPr>
        <p:txBody>
          <a:bodyPr/>
          <a:lstStyle/>
          <a:p>
            <a:fld id="{F2C51ECC-86A3-4073-ADEB-F5E3C216F85C}" type="slidenum">
              <a:rPr lang="en-US" smtClean="0"/>
              <a:pPr/>
              <a:t>26</a:t>
            </a:fld>
            <a:endParaRPr lang="en-US" smtClean="0"/>
          </a:p>
        </p:txBody>
      </p:sp>
      <p:sp>
        <p:nvSpPr>
          <p:cNvPr id="46085" name="Rectangle 2"/>
          <p:cNvSpPr>
            <a:spLocks noGrp="1" noRot="1" noChangeAspect="1" noChangeArrowheads="1" noTextEdit="1"/>
          </p:cNvSpPr>
          <p:nvPr>
            <p:ph type="sldImg"/>
          </p:nvPr>
        </p:nvSpPr>
        <p:spPr>
          <a:xfrm>
            <a:off x="1143000" y="450850"/>
            <a:ext cx="4572000" cy="3429000"/>
          </a:xfrm>
          <a:ln/>
        </p:spPr>
      </p:sp>
      <p:sp>
        <p:nvSpPr>
          <p:cNvPr id="46086" name="Rectangle 3"/>
          <p:cNvSpPr>
            <a:spLocks noGrp="1" noChangeArrowheads="1"/>
          </p:cNvSpPr>
          <p:nvPr>
            <p:ph type="body" idx="1"/>
          </p:nvPr>
        </p:nvSpPr>
        <p:spPr>
          <a:xfrm>
            <a:off x="307492" y="4130103"/>
            <a:ext cx="6261652" cy="4593861"/>
          </a:xfrm>
          <a:noFill/>
          <a:ln/>
        </p:spPr>
        <p:txBody>
          <a:bodyPr/>
          <a:lstStyle/>
          <a:p>
            <a:endParaRPr lang="en-US" dirty="0" smtClean="0"/>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Add a case study or</a:t>
            </a:r>
            <a:r>
              <a:rPr lang="en-US" baseline="0" dirty="0" smtClean="0"/>
              <a:t> class simulation to encourage discussion and apply lessons. </a:t>
            </a:r>
            <a:endParaRPr lang="en-US" dirty="0"/>
          </a:p>
        </p:txBody>
      </p:sp>
      <p:sp>
        <p:nvSpPr>
          <p:cNvPr id="4" name="Slide Number Placeholder 3"/>
          <p:cNvSpPr>
            <a:spLocks noGrp="1"/>
          </p:cNvSpPr>
          <p:nvPr>
            <p:ph type="sldNum" sz="quarter" idx="10"/>
          </p:nvPr>
        </p:nvSpPr>
        <p:spPr/>
        <p:txBody>
          <a:bodyPr/>
          <a:lstStyle/>
          <a:p>
            <a:fld id="{75693FD4-8F83-4EF7-AC3F-0DC0388986B0}" type="slidenum">
              <a:rPr lang="en-US" smtClean="0"/>
              <a:pPr/>
              <a:t>27</a:t>
            </a:fld>
            <a:endParaRPr lang="en-US"/>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dirty="0" smtClean="0"/>
              <a:t>Summarize presentation content by restating the important points from the lessons.</a:t>
            </a:r>
          </a:p>
          <a:p>
            <a:r>
              <a:rPr lang="en-US" dirty="0" smtClean="0"/>
              <a:t>What do you want the audience to remember when they leave your presentation?</a:t>
            </a:r>
          </a:p>
          <a:p>
            <a:endParaRPr lang="en-US" dirty="0" smtClean="0"/>
          </a:p>
          <a:p>
            <a:r>
              <a:rPr lang="en-US" dirty="0" smtClean="0"/>
              <a:t>Save your presentation to a video for easy distribution (To create a video, click the File tab, and then click Share.  Under File Types, click Create a Video.)</a:t>
            </a:r>
            <a:endParaRPr lang="en-US" dirty="0"/>
          </a:p>
        </p:txBody>
      </p:sp>
      <p:sp>
        <p:nvSpPr>
          <p:cNvPr id="4" name="Slide Number Placeholder 3"/>
          <p:cNvSpPr>
            <a:spLocks noGrp="1"/>
          </p:cNvSpPr>
          <p:nvPr>
            <p:ph type="sldNum" sz="quarter" idx="10"/>
          </p:nvPr>
        </p:nvSpPr>
        <p:spPr/>
        <p:txBody>
          <a:bodyPr/>
          <a:lstStyle/>
          <a:p>
            <a:fld id="{EC6EAC7D-5A89-47C2-8ABA-56C9C2DEF7A4}" type="slidenum">
              <a:rPr lang="en-US" smtClean="0"/>
              <a:pPr/>
              <a:t>28</a:t>
            </a:fld>
            <a:endParaRPr lang="en-US" dirty="0"/>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2" name="Rectangle 23"/>
          <p:cNvSpPr>
            <a:spLocks noGrp="1" noChangeArrowheads="1"/>
          </p:cNvSpPr>
          <p:nvPr>
            <p:ph type="hdr" sz="quarter"/>
          </p:nvPr>
        </p:nvSpPr>
        <p:spPr>
          <a:noFill/>
        </p:spPr>
        <p:txBody>
          <a:bodyPr/>
          <a:lstStyle/>
          <a:p>
            <a:r>
              <a:rPr lang="en-US" dirty="0" smtClean="0"/>
              <a:t>Microsoft </a:t>
            </a:r>
            <a:r>
              <a:rPr lang="en-US" b="1" dirty="0" smtClean="0"/>
              <a:t>Engineering Excellence</a:t>
            </a:r>
            <a:endParaRPr lang="en-US" dirty="0" smtClean="0"/>
          </a:p>
        </p:txBody>
      </p:sp>
      <p:sp>
        <p:nvSpPr>
          <p:cNvPr id="40963" name="Rectangle 25"/>
          <p:cNvSpPr>
            <a:spLocks noGrp="1" noChangeArrowheads="1"/>
          </p:cNvSpPr>
          <p:nvPr>
            <p:ph type="ftr" sz="quarter" idx="4"/>
          </p:nvPr>
        </p:nvSpPr>
        <p:spPr>
          <a:noFill/>
        </p:spPr>
        <p:txBody>
          <a:bodyPr/>
          <a:lstStyle/>
          <a:p>
            <a:r>
              <a:rPr lang="en-US" dirty="0" smtClean="0"/>
              <a:t>Microsoft Confidential</a:t>
            </a:r>
          </a:p>
        </p:txBody>
      </p:sp>
      <p:sp>
        <p:nvSpPr>
          <p:cNvPr id="40964" name="Rectangle 26"/>
          <p:cNvSpPr>
            <a:spLocks noGrp="1" noChangeArrowheads="1"/>
          </p:cNvSpPr>
          <p:nvPr>
            <p:ph type="sldNum" sz="quarter" idx="5"/>
          </p:nvPr>
        </p:nvSpPr>
        <p:spPr>
          <a:noFill/>
        </p:spPr>
        <p:txBody>
          <a:bodyPr/>
          <a:lstStyle/>
          <a:p>
            <a:fld id="{85CEDE57-F8FE-4B43-B511-2E9F76624F74}" type="slidenum">
              <a:rPr lang="en-US" smtClean="0"/>
              <a:pPr/>
              <a:t>29</a:t>
            </a:fld>
            <a:endParaRPr lang="en-US" dirty="0" smtClean="0"/>
          </a:p>
        </p:txBody>
      </p:sp>
      <p:sp>
        <p:nvSpPr>
          <p:cNvPr id="40965" name="Rectangle 2"/>
          <p:cNvSpPr>
            <a:spLocks noGrp="1" noRot="1" noChangeAspect="1" noChangeArrowheads="1" noTextEdit="1"/>
          </p:cNvSpPr>
          <p:nvPr>
            <p:ph type="sldImg"/>
          </p:nvPr>
        </p:nvSpPr>
        <p:spPr>
          <a:xfrm>
            <a:off x="1157288" y="449263"/>
            <a:ext cx="4541837" cy="3408362"/>
          </a:xfrm>
          <a:ln/>
        </p:spPr>
      </p:sp>
      <p:sp>
        <p:nvSpPr>
          <p:cNvPr id="40966" name="Rectangle 3"/>
          <p:cNvSpPr>
            <a:spLocks noGrp="1" noChangeArrowheads="1"/>
          </p:cNvSpPr>
          <p:nvPr>
            <p:ph type="body" idx="1"/>
          </p:nvPr>
        </p:nvSpPr>
        <p:spPr>
          <a:xfrm>
            <a:off x="307492" y="4139472"/>
            <a:ext cx="6261652" cy="4593861"/>
          </a:xfrm>
          <a:noFill/>
          <a:ln/>
        </p:spPr>
        <p:txBody>
          <a:bodyPr/>
          <a:lstStyle/>
          <a:p>
            <a:pPr>
              <a:buFontTx/>
              <a:buNone/>
            </a:pPr>
            <a:endParaRPr lang="en-US" dirty="0" smtClean="0"/>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6" name="Rectangle 23"/>
          <p:cNvSpPr>
            <a:spLocks noGrp="1" noChangeArrowheads="1"/>
          </p:cNvSpPr>
          <p:nvPr>
            <p:ph type="hdr" sz="quarter"/>
          </p:nvPr>
        </p:nvSpPr>
        <p:spPr>
          <a:noFill/>
        </p:spPr>
        <p:txBody>
          <a:bodyPr/>
          <a:lstStyle/>
          <a:p>
            <a:r>
              <a:rPr lang="en-US" dirty="0" smtClean="0"/>
              <a:t>Microsoft </a:t>
            </a:r>
            <a:r>
              <a:rPr lang="en-US" b="1" dirty="0" smtClean="0"/>
              <a:t>Engineering Excellence</a:t>
            </a:r>
            <a:endParaRPr lang="en-US" dirty="0" smtClean="0"/>
          </a:p>
        </p:txBody>
      </p:sp>
      <p:sp>
        <p:nvSpPr>
          <p:cNvPr id="41987" name="Rectangle 25"/>
          <p:cNvSpPr>
            <a:spLocks noGrp="1" noChangeArrowheads="1"/>
          </p:cNvSpPr>
          <p:nvPr>
            <p:ph type="ftr" sz="quarter" idx="4"/>
          </p:nvPr>
        </p:nvSpPr>
        <p:spPr>
          <a:noFill/>
        </p:spPr>
        <p:txBody>
          <a:bodyPr/>
          <a:lstStyle/>
          <a:p>
            <a:r>
              <a:rPr lang="en-US" dirty="0" smtClean="0"/>
              <a:t>Microsoft Confidential</a:t>
            </a:r>
          </a:p>
        </p:txBody>
      </p:sp>
      <p:sp>
        <p:nvSpPr>
          <p:cNvPr id="41988" name="Rectangle 26"/>
          <p:cNvSpPr>
            <a:spLocks noGrp="1" noChangeArrowheads="1"/>
          </p:cNvSpPr>
          <p:nvPr>
            <p:ph type="sldNum" sz="quarter" idx="5"/>
          </p:nvPr>
        </p:nvSpPr>
        <p:spPr>
          <a:noFill/>
        </p:spPr>
        <p:txBody>
          <a:bodyPr/>
          <a:lstStyle/>
          <a:p>
            <a:fld id="{B2B44A5F-6CE4-493C-A0D7-6834FF76660C}" type="slidenum">
              <a:rPr lang="en-US" smtClean="0"/>
              <a:pPr/>
              <a:t>30</a:t>
            </a:fld>
            <a:endParaRPr lang="en-US" dirty="0" smtClean="0"/>
          </a:p>
        </p:txBody>
      </p:sp>
      <p:sp>
        <p:nvSpPr>
          <p:cNvPr id="41989" name="Rectangle 2"/>
          <p:cNvSpPr>
            <a:spLocks noGrp="1" noRot="1" noChangeAspect="1" noChangeArrowheads="1" noTextEdit="1"/>
          </p:cNvSpPr>
          <p:nvPr>
            <p:ph type="sldImg"/>
          </p:nvPr>
        </p:nvSpPr>
        <p:spPr>
          <a:xfrm>
            <a:off x="1143000" y="450850"/>
            <a:ext cx="4572000" cy="3429000"/>
          </a:xfrm>
          <a:ln/>
        </p:spPr>
      </p:sp>
      <p:sp>
        <p:nvSpPr>
          <p:cNvPr id="41990" name="Rectangle 3"/>
          <p:cNvSpPr>
            <a:spLocks noGrp="1" noChangeArrowheads="1"/>
          </p:cNvSpPr>
          <p:nvPr>
            <p:ph type="body" idx="1"/>
          </p:nvPr>
        </p:nvSpPr>
        <p:spPr>
          <a:xfrm>
            <a:off x="307492" y="4130104"/>
            <a:ext cx="6261652" cy="4554823"/>
          </a:xfrm>
          <a:noFill/>
          <a:ln/>
        </p:spPr>
        <p:txBody>
          <a:bodyPr/>
          <a:lstStyle/>
          <a:p>
            <a:pPr>
              <a:buFontTx/>
              <a:buNone/>
            </a:pPr>
            <a:endParaRPr lang="en-US" dirty="0" smtClean="0"/>
          </a:p>
        </p:txBody>
      </p:sp>
    </p:spTree>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userDrawn="1">
  <p:cSld name="Title Slide">
    <p:spTree>
      <p:nvGrpSpPr>
        <p:cNvPr id="1" name=""/>
        <p:cNvGrpSpPr/>
        <p:nvPr/>
      </p:nvGrpSpPr>
      <p:grpSpPr>
        <a:xfrm>
          <a:off x="0" y="0"/>
          <a:ext cx="0" cy="0"/>
          <a:chOff x="0" y="0"/>
          <a:chExt cx="0" cy="0"/>
        </a:xfrm>
      </p:grpSpPr>
      <p:pic>
        <p:nvPicPr>
          <p:cNvPr id="6" name="Picture 5"/>
          <p:cNvPicPr>
            <a:picLocks noChangeAspect="1"/>
          </p:cNvPicPr>
          <p:nvPr userDrawn="1"/>
        </p:nvPicPr>
        <p:blipFill rotWithShape="1">
          <a:blip r:embed="rId2" cstate="email">
            <a:extLst>
              <a:ext uri="{28A0092B-C50C-407E-A947-70E740481C1C}">
                <a14:useLocalDpi xmlns:a14="http://schemas.microsoft.com/office/drawing/2010/main"/>
              </a:ext>
            </a:extLst>
          </a:blip>
          <a:srcRect/>
          <a:stretch/>
        </p:blipFill>
        <p:spPr>
          <a:xfrm>
            <a:off x="43543" y="0"/>
            <a:ext cx="9100457" cy="6879771"/>
          </a:xfrm>
          <a:prstGeom prst="rect">
            <a:avLst/>
          </a:prstGeom>
        </p:spPr>
      </p:pic>
      <p:sp>
        <p:nvSpPr>
          <p:cNvPr id="2" name="Title 1"/>
          <p:cNvSpPr>
            <a:spLocks noGrp="1"/>
          </p:cNvSpPr>
          <p:nvPr>
            <p:ph type="ctrTitle" hasCustomPrompt="1"/>
          </p:nvPr>
        </p:nvSpPr>
        <p:spPr>
          <a:xfrm>
            <a:off x="2590800" y="2286000"/>
            <a:ext cx="6180224" cy="1470025"/>
          </a:xfrm>
        </p:spPr>
        <p:txBody>
          <a:bodyPr anchor="t"/>
          <a:lstStyle>
            <a:lvl1pPr algn="r">
              <a:defRPr b="1" cap="small" baseline="0">
                <a:solidFill>
                  <a:srgbClr val="003300"/>
                </a:solidFill>
              </a:defRPr>
            </a:lvl1pPr>
          </a:lstStyle>
          <a:p>
            <a:r>
              <a:rPr lang="en-US" dirty="0" smtClean="0"/>
              <a:t>Click to edit master title style</a:t>
            </a:r>
            <a:endParaRPr lang="en-US" dirty="0"/>
          </a:p>
        </p:txBody>
      </p:sp>
      <p:sp>
        <p:nvSpPr>
          <p:cNvPr id="3" name="Subtitle 2"/>
          <p:cNvSpPr>
            <a:spLocks noGrp="1"/>
          </p:cNvSpPr>
          <p:nvPr>
            <p:ph type="subTitle" idx="1"/>
          </p:nvPr>
        </p:nvSpPr>
        <p:spPr>
          <a:xfrm>
            <a:off x="3962400" y="4038600"/>
            <a:ext cx="4772528" cy="990600"/>
          </a:xfrm>
        </p:spPr>
        <p:txBody>
          <a:bodyPr>
            <a:normAutofit/>
          </a:bodyPr>
          <a:lstStyle>
            <a:lvl1pPr marL="0" indent="0" algn="r">
              <a:buNone/>
              <a:defRPr sz="2000" b="0">
                <a:solidFill>
                  <a:schemeClr val="tx1"/>
                </a:solidFill>
                <a:latin typeface="Georgia" pitchFamily="18" charset="0"/>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dirty="0"/>
          </a:p>
        </p:txBody>
      </p:sp>
      <p:pic>
        <p:nvPicPr>
          <p:cNvPr id="7" name="Picture 6"/>
          <p:cNvPicPr>
            <a:picLocks noChangeAspect="1"/>
          </p:cNvPicPr>
          <p:nvPr userDrawn="1"/>
        </p:nvPicPr>
        <p:blipFill rotWithShape="1">
          <a:blip r:embed="rId3" cstate="email">
            <a:extLst>
              <a:ext uri="{28A0092B-C50C-407E-A947-70E740481C1C}">
                <a14:useLocalDpi xmlns:a14="http://schemas.microsoft.com/office/drawing/2010/main"/>
              </a:ext>
            </a:extLst>
          </a:blip>
          <a:srcRect/>
          <a:stretch/>
        </p:blipFill>
        <p:spPr>
          <a:xfrm>
            <a:off x="0" y="1251"/>
            <a:ext cx="3721618" cy="6858000"/>
          </a:xfrm>
          <a:prstGeom prst="rect">
            <a:avLst/>
          </a:prstGeom>
        </p:spPr>
      </p:pic>
      <p:sp>
        <p:nvSpPr>
          <p:cNvPr id="10" name="Picture Placeholder 9"/>
          <p:cNvSpPr>
            <a:spLocks noGrp="1"/>
          </p:cNvSpPr>
          <p:nvPr>
            <p:ph type="pic" sz="quarter" idx="13" hasCustomPrompt="1"/>
          </p:nvPr>
        </p:nvSpPr>
        <p:spPr>
          <a:xfrm>
            <a:off x="6858000" y="5105400"/>
            <a:ext cx="1828800" cy="990600"/>
          </a:xfrm>
        </p:spPr>
        <p:txBody>
          <a:bodyPr>
            <a:normAutofit/>
          </a:bodyPr>
          <a:lstStyle>
            <a:lvl1pPr marL="0" indent="0" algn="ctr">
              <a:buNone/>
              <a:defRPr sz="2000" baseline="0"/>
            </a:lvl1pPr>
          </a:lstStyle>
          <a:p>
            <a:r>
              <a:rPr lang="en-US" dirty="0" smtClean="0"/>
              <a:t>Company Logo</a:t>
            </a:r>
            <a:endParaRPr lang="en-US" dirty="0"/>
          </a:p>
        </p:txBody>
      </p:sp>
    </p:spTree>
  </p:cSld>
  <p:clrMapOvr>
    <a:masterClrMapping/>
  </p:clrMapOvr>
  <p:transition spd="slow">
    <p:wipe dir="d"/>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4" fill="hold" nodeType="after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wipe(down)">
                                      <p:cBhvr>
                                        <p:cTn id="7" dur="500"/>
                                        <p:tgtEl>
                                          <p:spTgt spid="7"/>
                                        </p:tgtEl>
                                      </p:cBhvr>
                                    </p:animEffect>
                                  </p:childTnLst>
                                </p:cTn>
                              </p:par>
                            </p:childTnLst>
                          </p:cTn>
                        </p:par>
                        <p:par>
                          <p:cTn id="8" fill="hold">
                            <p:stCondLst>
                              <p:cond delay="500"/>
                            </p:stCondLst>
                            <p:childTnLst>
                              <p:par>
                                <p:cTn id="9" presetID="10" presetClass="entr" presetSubtype="0" fill="hold" grpId="0" nodeType="afterEffect">
                                  <p:stCondLst>
                                    <p:cond delay="0"/>
                                  </p:stCondLst>
                                  <p:childTnLst>
                                    <p:set>
                                      <p:cBhvr>
                                        <p:cTn id="10" dur="1" fill="hold">
                                          <p:stCondLst>
                                            <p:cond delay="0"/>
                                          </p:stCondLst>
                                        </p:cTn>
                                        <p:tgtEl>
                                          <p:spTgt spid="10"/>
                                        </p:tgtEl>
                                        <p:attrNameLst>
                                          <p:attrName>style.visibility</p:attrName>
                                        </p:attrNameLst>
                                      </p:cBhvr>
                                      <p:to>
                                        <p:strVal val="visible"/>
                                      </p:to>
                                    </p:set>
                                    <p:animEffect transition="in" filter="fade">
                                      <p:cBhvr>
                                        <p:cTn id="11" dur="5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p:bldLst>
  </p:timing>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preserve="1" userDrawn="1">
  <p:cSld name="Section Header">
    <p:spTree>
      <p:nvGrpSpPr>
        <p:cNvPr id="1" name=""/>
        <p:cNvGrpSpPr/>
        <p:nvPr/>
      </p:nvGrpSpPr>
      <p:grpSpPr>
        <a:xfrm>
          <a:off x="0" y="0"/>
          <a:ext cx="0" cy="0"/>
          <a:chOff x="0" y="0"/>
          <a:chExt cx="0" cy="0"/>
        </a:xfrm>
      </p:grpSpPr>
      <p:pic>
        <p:nvPicPr>
          <p:cNvPr id="7" name="Picture 6"/>
          <p:cNvPicPr>
            <a:picLocks noChangeAspect="1"/>
          </p:cNvPicPr>
          <p:nvPr userDrawn="1"/>
        </p:nvPicPr>
        <p:blipFill rotWithShape="1">
          <a:blip r:embed="rId2" cstate="email">
            <a:extLst>
              <a:ext uri="{28A0092B-C50C-407E-A947-70E740481C1C}">
                <a14:useLocalDpi xmlns:a14="http://schemas.microsoft.com/office/drawing/2010/main"/>
              </a:ext>
            </a:extLst>
          </a:blip>
          <a:srcRect/>
          <a:stretch/>
        </p:blipFill>
        <p:spPr>
          <a:xfrm>
            <a:off x="43543" y="0"/>
            <a:ext cx="9100457" cy="6879771"/>
          </a:xfrm>
          <a:prstGeom prst="rect">
            <a:avLst/>
          </a:prstGeom>
        </p:spPr>
      </p:pic>
      <p:pic>
        <p:nvPicPr>
          <p:cNvPr id="8" name="Picture 7"/>
          <p:cNvPicPr>
            <a:picLocks noChangeAspect="1"/>
          </p:cNvPicPr>
          <p:nvPr userDrawn="1"/>
        </p:nvPicPr>
        <p:blipFill rotWithShape="1">
          <a:blip r:embed="rId3" cstate="email">
            <a:extLst>
              <a:ext uri="{28A0092B-C50C-407E-A947-70E740481C1C}">
                <a14:useLocalDpi xmlns:a14="http://schemas.microsoft.com/office/drawing/2010/main"/>
              </a:ext>
            </a:extLst>
          </a:blip>
          <a:srcRect/>
          <a:stretch/>
        </p:blipFill>
        <p:spPr>
          <a:xfrm rot="5400000">
            <a:off x="3161049" y="-3176815"/>
            <a:ext cx="2819400" cy="9173031"/>
          </a:xfrm>
          <a:prstGeom prst="rect">
            <a:avLst/>
          </a:prstGeom>
        </p:spPr>
      </p:pic>
      <p:sp>
        <p:nvSpPr>
          <p:cNvPr id="2" name="Title 1"/>
          <p:cNvSpPr>
            <a:spLocks noGrp="1"/>
          </p:cNvSpPr>
          <p:nvPr>
            <p:ph type="title" hasCustomPrompt="1"/>
          </p:nvPr>
        </p:nvSpPr>
        <p:spPr>
          <a:xfrm>
            <a:off x="4572000" y="3048000"/>
            <a:ext cx="4343400" cy="1362075"/>
          </a:xfrm>
        </p:spPr>
        <p:txBody>
          <a:bodyPr anchor="b" anchorCtr="0"/>
          <a:lstStyle>
            <a:lvl1pPr algn="l">
              <a:defRPr sz="4000" b="1" cap="small" baseline="0">
                <a:solidFill>
                  <a:srgbClr val="003300"/>
                </a:solidFill>
              </a:defRPr>
            </a:lvl1pPr>
          </a:lstStyle>
          <a:p>
            <a:r>
              <a:rPr lang="en-US" dirty="0" smtClean="0"/>
              <a:t>Click to edit master title style</a:t>
            </a:r>
            <a:endParaRPr lang="en-US" dirty="0"/>
          </a:p>
        </p:txBody>
      </p:sp>
      <p:sp>
        <p:nvSpPr>
          <p:cNvPr id="4" name="Date Placeholder 3"/>
          <p:cNvSpPr>
            <a:spLocks noGrp="1"/>
          </p:cNvSpPr>
          <p:nvPr>
            <p:ph type="dt" sz="half" idx="10"/>
          </p:nvPr>
        </p:nvSpPr>
        <p:spPr/>
        <p:txBody>
          <a:bodyPr/>
          <a:lstStyle/>
          <a:p>
            <a:fld id="{757B281C-5159-4971-8228-52B9A72E9ED2}" type="datetimeFigureOut">
              <a:rPr lang="en-US" smtClean="0"/>
              <a:pPr/>
              <a:t>12/24/2023</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33D6E5A2-EC83-451F-A719-9AC1370DD5CF}" type="slidenum">
              <a:rPr lang="en-US" smtClean="0"/>
              <a:pPr/>
              <a:t>‹#›</a:t>
            </a:fld>
            <a:endParaRPr lang="en-US" dirty="0"/>
          </a:p>
        </p:txBody>
      </p:sp>
      <p:sp>
        <p:nvSpPr>
          <p:cNvPr id="10" name="Picture Placeholder 9"/>
          <p:cNvSpPr>
            <a:spLocks noGrp="1"/>
          </p:cNvSpPr>
          <p:nvPr>
            <p:ph type="pic" sz="quarter" idx="13" hasCustomPrompt="1"/>
          </p:nvPr>
        </p:nvSpPr>
        <p:spPr>
          <a:xfrm>
            <a:off x="6781800" y="5334000"/>
            <a:ext cx="2133600" cy="990600"/>
          </a:xfrm>
        </p:spPr>
        <p:txBody>
          <a:bodyPr>
            <a:normAutofit/>
          </a:bodyPr>
          <a:lstStyle>
            <a:lvl1pPr marL="0" indent="0" algn="ctr">
              <a:buNone/>
              <a:defRPr sz="1800"/>
            </a:lvl1pPr>
          </a:lstStyle>
          <a:p>
            <a:r>
              <a:rPr lang="en-US" dirty="0" smtClean="0"/>
              <a:t>Company Logo</a:t>
            </a:r>
            <a:endParaRPr lang="en-US" dirty="0"/>
          </a:p>
        </p:txBody>
      </p:sp>
    </p:spTree>
  </p:cSld>
  <p:clrMapOvr>
    <a:masterClrMapping/>
  </p:clrMapOvr>
  <p:transition spd="slow">
    <p:wipe dir="d"/>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after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wipe(left)">
                                      <p:cBhvr>
                                        <p:cTn id="7" dur="500"/>
                                        <p:tgtEl>
                                          <p:spTgt spid="8"/>
                                        </p:tgtEl>
                                      </p:cBhvr>
                                    </p:animEffect>
                                  </p:childTnLst>
                                </p:cTn>
                              </p:par>
                            </p:childTnLst>
                          </p:cTn>
                        </p:par>
                        <p:par>
                          <p:cTn id="8" fill="hold">
                            <p:stCondLst>
                              <p:cond delay="500"/>
                            </p:stCondLst>
                            <p:childTnLst>
                              <p:par>
                                <p:cTn id="9" presetID="10" presetClass="entr" presetSubtype="0" fill="hold" grpId="0" nodeType="afterEffect">
                                  <p:stCondLst>
                                    <p:cond delay="0"/>
                                  </p:stCondLst>
                                  <p:childTnLst>
                                    <p:set>
                                      <p:cBhvr>
                                        <p:cTn id="10" dur="1" fill="hold">
                                          <p:stCondLst>
                                            <p:cond delay="0"/>
                                          </p:stCondLst>
                                        </p:cTn>
                                        <p:tgtEl>
                                          <p:spTgt spid="10"/>
                                        </p:tgtEl>
                                        <p:attrNameLst>
                                          <p:attrName>style.visibility</p:attrName>
                                        </p:attrNameLst>
                                      </p:cBhvr>
                                      <p:to>
                                        <p:strVal val="visible"/>
                                      </p:to>
                                    </p:set>
                                    <p:animEffect transition="in" filter="fade">
                                      <p:cBhvr>
                                        <p:cTn id="11" dur="5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p:bldLst>
  </p:timing>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itle and Content">
    <p:bg>
      <p:bgPr>
        <a:blipFill dpi="0" rotWithShape="1">
          <a:blip r:embed="rId2" cstate="email">
            <a:lum/>
            <a:extLst>
              <a:ext uri="{28A0092B-C50C-407E-A947-70E740481C1C}">
                <a14:useLocalDpi xmlns:a14="http://schemas.microsoft.com/office/drawing/2010/main"/>
              </a:ext>
            </a:extLst>
          </a:blip>
          <a:srcRect/>
          <a:stretch>
            <a:fillRect/>
          </a:stretch>
        </a:blipFill>
        <a:effectLst/>
      </p:bgPr>
    </p:bg>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762000" y="269632"/>
            <a:ext cx="8077200" cy="1143000"/>
          </a:xfrm>
        </p:spPr>
        <p:txBody>
          <a:bodyPr anchor="ctr" anchorCtr="0"/>
          <a:lstStyle>
            <a:lvl1pPr algn="l">
              <a:defRPr lang="en-US" dirty="0"/>
            </a:lvl1pPr>
          </a:lstStyle>
          <a:p>
            <a:r>
              <a:rPr lang="en-US" dirty="0" smtClean="0"/>
              <a:t>Click To Edit Master Title Style</a:t>
            </a:r>
            <a:endParaRPr lang="en-US" dirty="0"/>
          </a:p>
        </p:txBody>
      </p:sp>
      <p:sp>
        <p:nvSpPr>
          <p:cNvPr id="3" name="Content Placeholder 2"/>
          <p:cNvSpPr>
            <a:spLocks noGrp="1"/>
          </p:cNvSpPr>
          <p:nvPr>
            <p:ph idx="1"/>
          </p:nvPr>
        </p:nvSpPr>
        <p:spPr>
          <a:xfrm>
            <a:off x="762000" y="1596413"/>
            <a:ext cx="8077200" cy="4297363"/>
          </a:xfrm>
        </p:spPr>
        <p:txBody>
          <a:bodyPr>
            <a:normAutofit/>
          </a:bodyPr>
          <a:lstStyle>
            <a:lvl1pPr>
              <a:defRPr sz="3200">
                <a:latin typeface="+mn-lt"/>
              </a:defRPr>
            </a:lvl1pPr>
            <a:lvl2pPr>
              <a:defRPr sz="2800">
                <a:latin typeface="+mn-lt"/>
              </a:defRPr>
            </a:lvl2pPr>
            <a:lvl3pPr>
              <a:defRPr sz="2400">
                <a:latin typeface="+mn-lt"/>
              </a:defRPr>
            </a:lvl3pPr>
            <a:lvl4pPr>
              <a:defRPr sz="2400">
                <a:latin typeface="+mn-lt"/>
              </a:defRPr>
            </a:lvl4pPr>
            <a:lvl5pPr>
              <a:defRPr sz="2400">
                <a:latin typeface="+mn-lt"/>
              </a:defRPr>
            </a:lvl5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757B281C-5159-4971-8228-52B9A72E9ED2}" type="datetimeFigureOut">
              <a:rPr lang="en-US" smtClean="0"/>
              <a:pPr/>
              <a:t>12/24/2023</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a:xfrm>
            <a:off x="6705600" y="6356350"/>
            <a:ext cx="2133600" cy="365125"/>
          </a:xfrm>
        </p:spPr>
        <p:txBody>
          <a:bodyPr/>
          <a:lstStyle/>
          <a:p>
            <a:fld id="{33D6E5A2-EC83-451F-A719-9AC1370DD5CF}" type="slidenum">
              <a:rPr lang="en-US" smtClean="0"/>
              <a:pPr/>
              <a:t>‹#›</a:t>
            </a:fld>
            <a:endParaRPr lang="en-US" dirty="0"/>
          </a:p>
        </p:txBody>
      </p:sp>
    </p:spTree>
  </p:cSld>
  <p:clrMapOvr>
    <a:masterClrMapping/>
  </p:clrMapOvr>
  <p:transition spd="slow">
    <p:wipe dir="d"/>
  </p:transition>
  <p:timing>
    <p:tnLst>
      <p:par>
        <p:cTn id="1" dur="indefinite" restart="never" nodeType="tmRoot"/>
      </p:par>
    </p:tnLst>
  </p:timing>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6858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8768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757B281C-5159-4971-8228-52B9A72E9ED2}" type="datetimeFigureOut">
              <a:rPr lang="en-US" smtClean="0"/>
              <a:pPr/>
              <a:t>12/24/2023</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33D6E5A2-EC83-451F-A719-9AC1370DD5CF}" type="slidenum">
              <a:rPr lang="en-US" smtClean="0"/>
              <a:pPr/>
              <a:t>‹#›</a:t>
            </a:fld>
            <a:endParaRPr lang="en-US" dirty="0"/>
          </a:p>
        </p:txBody>
      </p:sp>
    </p:spTree>
  </p:cSld>
  <p:clrMapOvr>
    <a:masterClrMapping/>
  </p:clrMapOvr>
  <p:transition spd="slow">
    <p:wipe dir="d"/>
  </p:transition>
  <p:timing>
    <p:tnLst>
      <p:par>
        <p:cTn id="1" dur="indefinite" restart="never" nodeType="tmRoot"/>
      </p:par>
    </p:tnLst>
  </p:timing>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6858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6858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8736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8736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757B281C-5159-4971-8228-52B9A72E9ED2}" type="datetimeFigureOut">
              <a:rPr lang="en-US" smtClean="0"/>
              <a:pPr/>
              <a:t>12/24/2023</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33D6E5A2-EC83-451F-A719-9AC1370DD5CF}" type="slidenum">
              <a:rPr lang="en-US" smtClean="0"/>
              <a:pPr/>
              <a:t>‹#›</a:t>
            </a:fld>
            <a:endParaRPr lang="en-US" dirty="0"/>
          </a:p>
        </p:txBody>
      </p:sp>
    </p:spTree>
  </p:cSld>
  <p:clrMapOvr>
    <a:masterClrMapping/>
  </p:clrMapOvr>
  <p:transition spd="slow">
    <p:wipe dir="d"/>
  </p:transition>
</p:sldLayout>
</file>

<file path=ppt/slideLayouts/slideLayout6.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858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8036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6858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757B281C-5159-4971-8228-52B9A72E9ED2}" type="datetimeFigureOut">
              <a:rPr lang="en-US" smtClean="0"/>
              <a:pPr/>
              <a:t>12/24/2023</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33D6E5A2-EC83-451F-A719-9AC1370DD5CF}" type="slidenum">
              <a:rPr lang="en-US" smtClean="0"/>
              <a:pPr/>
              <a:t>‹#›</a:t>
            </a:fld>
            <a:endParaRPr lang="en-US" dirty="0"/>
          </a:p>
        </p:txBody>
      </p:sp>
    </p:spTree>
  </p:cSld>
  <p:clrMapOvr>
    <a:masterClrMapping/>
  </p:clrMapOvr>
  <p:transition spd="slow">
    <p:wipe dir="d"/>
  </p:transition>
  <p:timing>
    <p:tnLst>
      <p:par>
        <p:cTn id="1" dur="indefinite" restart="never" nodeType="tmRoot"/>
      </p:par>
    </p:tnLst>
  </p:timing>
</p:sldLayout>
</file>

<file path=ppt/slideLayouts/slideLayout7.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smtClean="0"/>
              <a:t>Click icon to add picture</a:t>
            </a:r>
            <a:endParaRPr lang="en-US" dirty="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757B281C-5159-4971-8228-52B9A72E9ED2}" type="datetimeFigureOut">
              <a:rPr lang="en-US" smtClean="0"/>
              <a:pPr/>
              <a:t>12/24/2023</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33D6E5A2-EC83-451F-A719-9AC1370DD5CF}" type="slidenum">
              <a:rPr lang="en-US" smtClean="0"/>
              <a:pPr/>
              <a:t>‹#›</a:t>
            </a:fld>
            <a:endParaRPr lang="en-US" dirty="0"/>
          </a:p>
        </p:txBody>
      </p:sp>
    </p:spTree>
  </p:cSld>
  <p:clrMapOvr>
    <a:masterClrMapping/>
  </p:clrMapOvr>
  <p:transition spd="slow">
    <p:wipe dir="d"/>
  </p:transition>
</p:sldLayout>
</file>

<file path=ppt/slideLayouts/slideLayout8.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757B281C-5159-4971-8228-52B9A72E9ED2}" type="datetimeFigureOut">
              <a:rPr lang="en-US" smtClean="0"/>
              <a:pPr/>
              <a:t>12/24/2023</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33D6E5A2-EC83-451F-A719-9AC1370DD5CF}" type="slidenum">
              <a:rPr lang="en-US" smtClean="0"/>
              <a:pPr/>
              <a:t>‹#›</a:t>
            </a:fld>
            <a:endParaRPr lang="en-US" dirty="0"/>
          </a:p>
        </p:txBody>
      </p:sp>
    </p:spTree>
  </p:cSld>
  <p:clrMapOvr>
    <a:masterClrMapping/>
  </p:clrMapOvr>
  <p:transition spd="slow">
    <p:wipe dir="d"/>
  </p:transition>
</p:sldLayout>
</file>

<file path=ppt/slideLayouts/slideLayout9.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7818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762000" y="274638"/>
            <a:ext cx="58674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757B281C-5159-4971-8228-52B9A72E9ED2}" type="datetimeFigureOut">
              <a:rPr lang="en-US" smtClean="0"/>
              <a:pPr/>
              <a:t>12/24/2023</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33D6E5A2-EC83-451F-A719-9AC1370DD5CF}" type="slidenum">
              <a:rPr lang="en-US" smtClean="0"/>
              <a:pPr/>
              <a:t>‹#›</a:t>
            </a:fld>
            <a:endParaRPr lang="en-US" dirty="0"/>
          </a:p>
        </p:txBody>
      </p:sp>
    </p:spTree>
  </p:cSld>
  <p:clrMapOvr>
    <a:masterClrMapping/>
  </p:clrMapOvr>
  <p:transition spd="slow">
    <p:wipe dir="d"/>
  </p:transition>
</p:sldLayout>
</file>

<file path=ppt/slideLayouts/slideLayout10.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757B281C-5159-4971-8228-52B9A72E9ED2}" type="datetimeFigureOut">
              <a:rPr lang="en-US" smtClean="0"/>
              <a:pPr/>
              <a:t>12/24/2023</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33D6E5A2-EC83-451F-A719-9AC1370DD5CF}" type="slidenum">
              <a:rPr lang="en-US" smtClean="0"/>
              <a:pPr/>
              <a:t>‹#›</a:t>
            </a:fld>
            <a:endParaRPr lang="en-US" dirty="0"/>
          </a:p>
        </p:txBody>
      </p:sp>
    </p:spTree>
  </p:cSld>
  <p:clrMapOvr>
    <a:masterClrMapping/>
  </p:clrMapOvr>
  <p:transition spd="slow">
    <p:wipe dir="d"/>
  </p:transition>
  <p:timing>
    <p:tnLst>
      <p:par>
        <p:cTn id="1" dur="indefinite" restart="never" nodeType="tmRoot"/>
      </p:par>
    </p:tnLst>
  </p:timing>
</p:sldLayout>
</file>

<file path=ppt/slideLayouts/slideLayout11.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757B281C-5159-4971-8228-52B9A72E9ED2}" type="datetimeFigureOut">
              <a:rPr lang="en-US" smtClean="0"/>
              <a:pPr/>
              <a:t>12/24/2023</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33D6E5A2-EC83-451F-A719-9AC1370DD5CF}" type="slidenum">
              <a:rPr lang="en-US" smtClean="0"/>
              <a:pPr/>
              <a:t>‹#›</a:t>
            </a:fld>
            <a:endParaRPr lang="en-US" dirty="0"/>
          </a:p>
        </p:txBody>
      </p:sp>
    </p:spTree>
  </p:cSld>
  <p:clrMapOvr>
    <a:masterClrMapping/>
  </p:clrMapOvr>
  <p:transition spd="slow">
    <p:wipe dir="d"/>
  </p:transition>
  <p:timing>
    <p:tnLst>
      <p:par>
        <p:cTn id="1" dur="indefinite" restart="never" nodeType="tmRoot"/>
      </p:par>
    </p:tnLst>
  </p:timing>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preserve="1" userDrawn="1">
  <p:cSld name="Background Only">
    <p:spTree>
      <p:nvGrpSpPr>
        <p:cNvPr id="1" name=""/>
        <p:cNvGrpSpPr/>
        <p:nvPr/>
      </p:nvGrpSpPr>
      <p:grpSpPr>
        <a:xfrm>
          <a:off x="0" y="0"/>
          <a:ext cx="0" cy="0"/>
          <a:chOff x="0" y="0"/>
          <a:chExt cx="0" cy="0"/>
        </a:xfrm>
      </p:grpSpPr>
      <p:pic>
        <p:nvPicPr>
          <p:cNvPr id="2" name="Picture 1"/>
          <p:cNvPicPr>
            <a:picLocks noChangeAspect="1"/>
          </p:cNvPicPr>
          <p:nvPr userDrawn="1"/>
        </p:nvPicPr>
        <p:blipFill rotWithShape="1">
          <a:blip r:embed="rId2" cstate="email">
            <a:extLst>
              <a:ext uri="{28A0092B-C50C-407E-A947-70E740481C1C}">
                <a14:useLocalDpi xmlns:a14="http://schemas.microsoft.com/office/drawing/2010/main"/>
              </a:ext>
            </a:extLst>
          </a:blip>
          <a:srcRect/>
          <a:stretch/>
        </p:blipFill>
        <p:spPr>
          <a:xfrm>
            <a:off x="43543" y="0"/>
            <a:ext cx="9100457" cy="6879771"/>
          </a:xfrm>
          <a:prstGeom prst="rect">
            <a:avLst/>
          </a:prstGeom>
        </p:spPr>
      </p:pic>
      <p:sp>
        <p:nvSpPr>
          <p:cNvPr id="3" name="Date Placeholder 3"/>
          <p:cNvSpPr>
            <a:spLocks noGrp="1"/>
          </p:cNvSpPr>
          <p:nvPr>
            <p:ph type="dt" sz="half" idx="10"/>
          </p:nvPr>
        </p:nvSpPr>
        <p:spPr>
          <a:xfrm>
            <a:off x="762000" y="6356350"/>
            <a:ext cx="2133600" cy="365125"/>
          </a:xfrm>
        </p:spPr>
        <p:txBody>
          <a:bodyPr/>
          <a:lstStyle/>
          <a:p>
            <a:fld id="{757B281C-5159-4971-8228-52B9A72E9ED2}" type="datetimeFigureOut">
              <a:rPr lang="en-US" smtClean="0"/>
              <a:pPr/>
              <a:t>12/24/2023</a:t>
            </a:fld>
            <a:endParaRPr lang="en-US" dirty="0"/>
          </a:p>
        </p:txBody>
      </p:sp>
      <p:sp>
        <p:nvSpPr>
          <p:cNvPr id="4" name="Footer Placeholder 4"/>
          <p:cNvSpPr>
            <a:spLocks noGrp="1"/>
          </p:cNvSpPr>
          <p:nvPr>
            <p:ph type="ftr" sz="quarter" idx="11"/>
          </p:nvPr>
        </p:nvSpPr>
        <p:spPr>
          <a:xfrm>
            <a:off x="3352800" y="6356350"/>
            <a:ext cx="2895600" cy="365125"/>
          </a:xfrm>
        </p:spPr>
        <p:txBody>
          <a:bodyPr/>
          <a:lstStyle/>
          <a:p>
            <a:endParaRPr lang="en-US" dirty="0"/>
          </a:p>
        </p:txBody>
      </p:sp>
      <p:sp>
        <p:nvSpPr>
          <p:cNvPr id="5" name="Slide Number Placeholder 5"/>
          <p:cNvSpPr>
            <a:spLocks noGrp="1"/>
          </p:cNvSpPr>
          <p:nvPr>
            <p:ph type="sldNum" sz="quarter" idx="12"/>
          </p:nvPr>
        </p:nvSpPr>
        <p:spPr>
          <a:xfrm>
            <a:off x="6705600" y="6356350"/>
            <a:ext cx="2133600" cy="365125"/>
          </a:xfrm>
        </p:spPr>
        <p:txBody>
          <a:bodyPr/>
          <a:lstStyle/>
          <a:p>
            <a:fld id="{33D6E5A2-EC83-451F-A719-9AC1370DD5CF}" type="slidenum">
              <a:rPr lang="en-US" smtClean="0"/>
              <a:pPr/>
              <a:t>‹#›</a:t>
            </a:fld>
            <a:endParaRPr lang="en-US" dirty="0"/>
          </a:p>
        </p:txBody>
      </p:sp>
    </p:spTree>
  </p:cSld>
  <p:clrMapOvr>
    <a:masterClrMapping/>
  </p:clrMapOvr>
  <p:transition spd="slow">
    <p:wipe dir="d"/>
  </p:transition>
  <p:timing>
    <p:tnLst>
      <p:par>
        <p:cTn id="1" dur="indefinite" restart="never" nodeType="tmRoot"/>
      </p:par>
    </p:tnLst>
  </p:timing>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image" Target="../media/image2.png"/><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1.jpe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pic>
        <p:nvPicPr>
          <p:cNvPr id="7" name="Picture 6"/>
          <p:cNvPicPr>
            <a:picLocks noChangeAspect="1"/>
          </p:cNvPicPr>
          <p:nvPr/>
        </p:nvPicPr>
        <p:blipFill rotWithShape="1">
          <a:blip r:embed="rId14" cstate="email">
            <a:extLst>
              <a:ext uri="{28A0092B-C50C-407E-A947-70E740481C1C}">
                <a14:useLocalDpi xmlns:a14="http://schemas.microsoft.com/office/drawing/2010/main"/>
              </a:ext>
            </a:extLst>
          </a:blip>
          <a:srcRect/>
          <a:stretch/>
        </p:blipFill>
        <p:spPr>
          <a:xfrm>
            <a:off x="43543" y="0"/>
            <a:ext cx="9100457" cy="6879771"/>
          </a:xfrm>
          <a:prstGeom prst="rect">
            <a:avLst/>
          </a:prstGeom>
        </p:spPr>
      </p:pic>
      <p:sp>
        <p:nvSpPr>
          <p:cNvPr id="2" name="Title Placeholder 1"/>
          <p:cNvSpPr>
            <a:spLocks noGrp="1"/>
          </p:cNvSpPr>
          <p:nvPr>
            <p:ph type="title"/>
          </p:nvPr>
        </p:nvSpPr>
        <p:spPr>
          <a:xfrm>
            <a:off x="762000" y="274638"/>
            <a:ext cx="8077200" cy="1143000"/>
          </a:xfrm>
          <a:prstGeom prst="rect">
            <a:avLst/>
          </a:prstGeom>
        </p:spPr>
        <p:txBody>
          <a:bodyPr vert="horz" lIns="91440" tIns="45720" rIns="91440" bIns="45720" rtlCol="0" anchor="ctr">
            <a:normAutofit/>
          </a:bodyPr>
          <a:lstStyle/>
          <a:p>
            <a:r>
              <a:rPr lang="en-US" smtClean="0"/>
              <a:t>Click to edit Master title style</a:t>
            </a:r>
            <a:endParaRPr lang="en-US" dirty="0"/>
          </a:p>
        </p:txBody>
      </p:sp>
      <p:sp>
        <p:nvSpPr>
          <p:cNvPr id="3" name="Text Placeholder 2"/>
          <p:cNvSpPr>
            <a:spLocks noGrp="1"/>
          </p:cNvSpPr>
          <p:nvPr>
            <p:ph type="body" idx="1"/>
          </p:nvPr>
        </p:nvSpPr>
        <p:spPr>
          <a:xfrm>
            <a:off x="762000" y="1600200"/>
            <a:ext cx="80772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2"/>
          </p:nvPr>
        </p:nvSpPr>
        <p:spPr>
          <a:xfrm>
            <a:off x="7620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757B281C-5159-4971-8228-52B9A72E9ED2}" type="datetimeFigureOut">
              <a:rPr lang="en-US" smtClean="0"/>
              <a:pPr/>
              <a:t>12/24/2023</a:t>
            </a:fld>
            <a:endParaRPr lang="en-US" dirty="0"/>
          </a:p>
        </p:txBody>
      </p:sp>
      <p:sp>
        <p:nvSpPr>
          <p:cNvPr id="5" name="Footer Placeholder 4"/>
          <p:cNvSpPr>
            <a:spLocks noGrp="1"/>
          </p:cNvSpPr>
          <p:nvPr>
            <p:ph type="ftr" sz="quarter" idx="3"/>
          </p:nvPr>
        </p:nvSpPr>
        <p:spPr>
          <a:xfrm>
            <a:off x="33528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dirty="0"/>
          </a:p>
        </p:txBody>
      </p:sp>
      <p:sp>
        <p:nvSpPr>
          <p:cNvPr id="6" name="Slide Number Placeholder 5"/>
          <p:cNvSpPr>
            <a:spLocks noGrp="1"/>
          </p:cNvSpPr>
          <p:nvPr>
            <p:ph type="sldNum" sz="quarter" idx="4"/>
          </p:nvPr>
        </p:nvSpPr>
        <p:spPr>
          <a:xfrm>
            <a:off x="67056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33D6E5A2-EC83-451F-A719-9AC1370DD5CF}" type="slidenum">
              <a:rPr lang="en-US" smtClean="0"/>
              <a:pPr/>
              <a:t>‹#›</a:t>
            </a:fld>
            <a:endParaRPr lang="en-US" dirty="0"/>
          </a:p>
        </p:txBody>
      </p:sp>
      <p:pic>
        <p:nvPicPr>
          <p:cNvPr id="8" name="Picture 7"/>
          <p:cNvPicPr>
            <a:picLocks noChangeAspect="1"/>
          </p:cNvPicPr>
          <p:nvPr/>
        </p:nvPicPr>
        <p:blipFill rotWithShape="1">
          <a:blip r:embed="rId15" cstate="email">
            <a:extLst>
              <a:ext uri="{28A0092B-C50C-407E-A947-70E740481C1C}">
                <a14:useLocalDpi xmlns:a14="http://schemas.microsoft.com/office/drawing/2010/main"/>
              </a:ext>
            </a:extLst>
          </a:blip>
          <a:srcRect/>
          <a:stretch/>
        </p:blipFill>
        <p:spPr>
          <a:xfrm>
            <a:off x="-152400" y="-109183"/>
            <a:ext cx="818707" cy="7083189"/>
          </a:xfrm>
          <a:prstGeom prst="rect">
            <a:avLst/>
          </a:prstGeom>
        </p:spPr>
      </p:pic>
    </p:spTree>
  </p:cSld>
  <p:clrMap bg1="lt1" tx1="dk1" bg2="lt2" tx2="dk2" accent1="accent1" accent2="accent2" accent3="accent3" accent4="accent4" accent5="accent5" accent6="accent6" hlink="hlink" folHlink="folHlink"/>
  <p:sldLayoutIdLst>
    <p:sldLayoutId id="2147483649" r:id="rId1"/>
    <p:sldLayoutId id="2147483651" r:id="rId2"/>
    <p:sldLayoutId id="2147483650" r:id="rId3"/>
    <p:sldLayoutId id="2147483652" r:id="rId4"/>
    <p:sldLayoutId id="2147483653" r:id="rId5"/>
    <p:sldLayoutId id="2147483656" r:id="rId6"/>
    <p:sldLayoutId id="2147483657" r:id="rId7"/>
    <p:sldLayoutId id="2147483658" r:id="rId8"/>
    <p:sldLayoutId id="2147483659" r:id="rId9"/>
    <p:sldLayoutId id="2147483654" r:id="rId10"/>
    <p:sldLayoutId id="2147483655" r:id="rId11"/>
    <p:sldLayoutId id="2147483663" r:id="rId12"/>
  </p:sldLayoutIdLst>
  <p:transition spd="slow">
    <p:wipe dir="d"/>
  </p:transition>
  <p:timing>
    <p:tnLst>
      <p:par>
        <p:cTn id="1" dur="indefinite" restart="never" nodeType="tmRoot"/>
      </p:par>
    </p:tnLst>
  </p:timing>
  <p:txStyles>
    <p:titleStyle>
      <a:lvl1pPr algn="l" defTabSz="914400" rtl="0" eaLnBrk="1" latinLnBrk="0" hangingPunct="1">
        <a:spcBef>
          <a:spcPct val="0"/>
        </a:spcBef>
        <a:buNone/>
        <a:defRPr lang="en-US" sz="4400" kern="1200" dirty="0" smtClean="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18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18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tags" Target="../tags/tag3.xml"/><Relationship Id="rId7" Type="http://schemas.openxmlformats.org/officeDocument/2006/relationships/image" Target="../media/image7.jpeg"/><Relationship Id="rId2" Type="http://schemas.openxmlformats.org/officeDocument/2006/relationships/tags" Target="../tags/tag2.xml"/><Relationship Id="rId1" Type="http://schemas.openxmlformats.org/officeDocument/2006/relationships/tags" Target="../tags/tag1.xml"/><Relationship Id="rId6" Type="http://schemas.openxmlformats.org/officeDocument/2006/relationships/image" Target="../media/image6.jpeg"/><Relationship Id="rId5" Type="http://schemas.openxmlformats.org/officeDocument/2006/relationships/notesSlide" Target="../notesSlides/notesSlide1.xml"/><Relationship Id="rId4"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notesSlide" Target="../notesSlides/notesSlide2.xml"/><Relationship Id="rId1" Type="http://schemas.openxmlformats.org/officeDocument/2006/relationships/slideLayout" Target="../slideLayouts/slideLayout10.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3.xml"/><Relationship Id="rId1" Type="http://schemas.openxmlformats.org/officeDocument/2006/relationships/slideLayout" Target="../slideLayouts/slideLayout12.xml"/><Relationship Id="rId4" Type="http://schemas.openxmlformats.org/officeDocument/2006/relationships/image" Target="../media/image9.png"/></Relationships>
</file>

<file path=ppt/slides/_rels/slide4.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4.xml"/><Relationship Id="rId1" Type="http://schemas.openxmlformats.org/officeDocument/2006/relationships/slideLayout" Target="../slideLayouts/slideLayout12.xml"/></Relationships>
</file>

<file path=ppt/slides/_rels/slide5.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5.xml"/><Relationship Id="rId1" Type="http://schemas.openxmlformats.org/officeDocument/2006/relationships/slideLayout" Target="../slideLayouts/slideLayout12.xml"/><Relationship Id="rId4" Type="http://schemas.openxmlformats.org/officeDocument/2006/relationships/image" Target="../media/image9.png"/></Relationships>
</file>

<file path=ppt/slides/_rels/slide6.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6.xml"/><Relationship Id="rId1" Type="http://schemas.openxmlformats.org/officeDocument/2006/relationships/slideLayout" Target="../slideLayouts/slideLayout12.xml"/></Relationships>
</file>

<file path=ppt/slides/_rels/slide7.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7.xml"/><Relationship Id="rId1" Type="http://schemas.openxmlformats.org/officeDocument/2006/relationships/slideLayout" Target="../slideLayouts/slideLayout12.xml"/><Relationship Id="rId4" Type="http://schemas.openxmlformats.org/officeDocument/2006/relationships/image" Target="../media/image9.png"/></Relationships>
</file>

<file path=ppt/slides/_rels/slide8.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8.xml"/><Relationship Id="rId1" Type="http://schemas.openxmlformats.org/officeDocument/2006/relationships/slideLayout" Target="../slideLayouts/slideLayout1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0.xml"/><Relationship Id="rId1" Type="http://schemas.openxmlformats.org/officeDocument/2006/relationships/slideLayout" Target="../slideLayouts/slideLayout12.xml"/></Relationships>
</file>

<file path=ppt/slides/_rels/slide11.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1.xml"/><Relationship Id="rId1" Type="http://schemas.openxmlformats.org/officeDocument/2006/relationships/slideLayout" Target="../slideLayouts/slideLayout12.xml"/><Relationship Id="rId5" Type="http://schemas.openxmlformats.org/officeDocument/2006/relationships/image" Target="../media/image12.PNG"/><Relationship Id="rId4" Type="http://schemas.openxmlformats.org/officeDocument/2006/relationships/image" Target="../media/image11.PNG"/></Relationships>
</file>

<file path=ppt/slides/_rels/slide12.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2.xml"/><Relationship Id="rId1" Type="http://schemas.openxmlformats.org/officeDocument/2006/relationships/slideLayout" Target="../slideLayouts/slideLayout12.xml"/><Relationship Id="rId4" Type="http://schemas.openxmlformats.org/officeDocument/2006/relationships/image" Target="../media/image9.png"/></Relationships>
</file>

<file path=ppt/slides/_rels/slide13.xml.rels><?xml version="1.0" encoding="UTF-8" standalone="yes"?>
<Relationships xmlns="http://schemas.openxmlformats.org/package/2006/relationships"><Relationship Id="rId3" Type="http://schemas.openxmlformats.org/officeDocument/2006/relationships/slideLayout" Target="../slideLayouts/slideLayout4.xml"/><Relationship Id="rId2" Type="http://schemas.openxmlformats.org/officeDocument/2006/relationships/tags" Target="../tags/tag5.xml"/><Relationship Id="rId1" Type="http://schemas.openxmlformats.org/officeDocument/2006/relationships/tags" Target="../tags/tag4.xml"/><Relationship Id="rId6" Type="http://schemas.openxmlformats.org/officeDocument/2006/relationships/image" Target="../media/image14.PNG"/><Relationship Id="rId5" Type="http://schemas.openxmlformats.org/officeDocument/2006/relationships/image" Target="../media/image13.PNG"/><Relationship Id="rId4"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4.xml"/><Relationship Id="rId1" Type="http://schemas.openxmlformats.org/officeDocument/2006/relationships/slideLayout" Target="../slideLayouts/slideLayout12.xml"/><Relationship Id="rId4" Type="http://schemas.openxmlformats.org/officeDocument/2006/relationships/image" Target="../media/image9.png"/></Relationships>
</file>

<file path=ppt/slides/_rels/slide15.xml.rels><?xml version="1.0" encoding="UTF-8" standalone="yes"?>
<Relationships xmlns="http://schemas.openxmlformats.org/package/2006/relationships"><Relationship Id="rId3" Type="http://schemas.openxmlformats.org/officeDocument/2006/relationships/notesSlide" Target="../notesSlides/notesSlide15.xml"/><Relationship Id="rId2" Type="http://schemas.openxmlformats.org/officeDocument/2006/relationships/slideLayout" Target="../slideLayouts/slideLayout3.xml"/><Relationship Id="rId1" Type="http://schemas.openxmlformats.org/officeDocument/2006/relationships/tags" Target="../tags/tag6.xml"/><Relationship Id="rId6" Type="http://schemas.openxmlformats.org/officeDocument/2006/relationships/image" Target="../media/image17.PNG"/><Relationship Id="rId5" Type="http://schemas.openxmlformats.org/officeDocument/2006/relationships/image" Target="../media/image16.PNG"/><Relationship Id="rId4" Type="http://schemas.openxmlformats.org/officeDocument/2006/relationships/image" Target="../media/image15.PNG"/></Relationships>
</file>

<file path=ppt/slides/_rels/slide16.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6.xml"/><Relationship Id="rId1" Type="http://schemas.openxmlformats.org/officeDocument/2006/relationships/slideLayout" Target="../slideLayouts/slideLayout12.xml"/><Relationship Id="rId4" Type="http://schemas.openxmlformats.org/officeDocument/2006/relationships/image" Target="../media/image9.png"/></Relationships>
</file>

<file path=ppt/slides/_rels/slide17.xml.rels><?xml version="1.0" encoding="UTF-8" standalone="yes"?>
<Relationships xmlns="http://schemas.openxmlformats.org/package/2006/relationships"><Relationship Id="rId3" Type="http://schemas.openxmlformats.org/officeDocument/2006/relationships/slideLayout" Target="../slideLayouts/slideLayout10.xml"/><Relationship Id="rId7" Type="http://schemas.openxmlformats.org/officeDocument/2006/relationships/image" Target="../media/image20.PNG"/><Relationship Id="rId2" Type="http://schemas.openxmlformats.org/officeDocument/2006/relationships/tags" Target="../tags/tag8.xml"/><Relationship Id="rId1" Type="http://schemas.openxmlformats.org/officeDocument/2006/relationships/tags" Target="../tags/tag7.xml"/><Relationship Id="rId6" Type="http://schemas.openxmlformats.org/officeDocument/2006/relationships/image" Target="../media/image19.PNG"/><Relationship Id="rId5" Type="http://schemas.openxmlformats.org/officeDocument/2006/relationships/image" Target="../media/image18.PNG"/><Relationship Id="rId4"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8" Type="http://schemas.openxmlformats.org/officeDocument/2006/relationships/image" Target="../media/image24.PNG"/><Relationship Id="rId3" Type="http://schemas.openxmlformats.org/officeDocument/2006/relationships/slideLayout" Target="../slideLayouts/slideLayout10.xml"/><Relationship Id="rId7" Type="http://schemas.openxmlformats.org/officeDocument/2006/relationships/image" Target="../media/image23.PNG"/><Relationship Id="rId2" Type="http://schemas.openxmlformats.org/officeDocument/2006/relationships/tags" Target="../tags/tag10.xml"/><Relationship Id="rId1" Type="http://schemas.openxmlformats.org/officeDocument/2006/relationships/tags" Target="../tags/tag9.xml"/><Relationship Id="rId6" Type="http://schemas.openxmlformats.org/officeDocument/2006/relationships/image" Target="../media/image22.PNG"/><Relationship Id="rId5" Type="http://schemas.openxmlformats.org/officeDocument/2006/relationships/image" Target="../media/image21.PNG"/><Relationship Id="rId4"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3" Type="http://schemas.openxmlformats.org/officeDocument/2006/relationships/slideLayout" Target="../slideLayouts/slideLayout10.xml"/><Relationship Id="rId2" Type="http://schemas.openxmlformats.org/officeDocument/2006/relationships/tags" Target="../tags/tag12.xml"/><Relationship Id="rId1" Type="http://schemas.openxmlformats.org/officeDocument/2006/relationships/tags" Target="../tags/tag11.xml"/><Relationship Id="rId6" Type="http://schemas.openxmlformats.org/officeDocument/2006/relationships/image" Target="../media/image26.PNG"/><Relationship Id="rId5" Type="http://schemas.openxmlformats.org/officeDocument/2006/relationships/image" Target="../media/image25.PNG"/><Relationship Id="rId4"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3" Type="http://schemas.openxmlformats.org/officeDocument/2006/relationships/slideLayout" Target="../slideLayouts/slideLayout10.xml"/><Relationship Id="rId2" Type="http://schemas.openxmlformats.org/officeDocument/2006/relationships/tags" Target="../tags/tag14.xml"/><Relationship Id="rId1" Type="http://schemas.openxmlformats.org/officeDocument/2006/relationships/tags" Target="../tags/tag13.xml"/><Relationship Id="rId5" Type="http://schemas.openxmlformats.org/officeDocument/2006/relationships/image" Target="../media/image27.PNG"/><Relationship Id="rId4"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21.xml"/><Relationship Id="rId1" Type="http://schemas.openxmlformats.org/officeDocument/2006/relationships/slideLayout" Target="../slideLayouts/slideLayout12.xml"/><Relationship Id="rId4" Type="http://schemas.openxmlformats.org/officeDocument/2006/relationships/image" Target="../media/image9.png"/></Relationships>
</file>

<file path=ppt/slides/_rels/slide22.xml.rels><?xml version="1.0" encoding="UTF-8" standalone="yes"?>
<Relationships xmlns="http://schemas.openxmlformats.org/package/2006/relationships"><Relationship Id="rId3" Type="http://schemas.openxmlformats.org/officeDocument/2006/relationships/slideLayout" Target="../slideLayouts/slideLayout10.xml"/><Relationship Id="rId2" Type="http://schemas.openxmlformats.org/officeDocument/2006/relationships/tags" Target="../tags/tag16.xml"/><Relationship Id="rId1" Type="http://schemas.openxmlformats.org/officeDocument/2006/relationships/tags" Target="../tags/tag15.xml"/><Relationship Id="rId6" Type="http://schemas.openxmlformats.org/officeDocument/2006/relationships/image" Target="../media/image29.PNG"/><Relationship Id="rId5" Type="http://schemas.openxmlformats.org/officeDocument/2006/relationships/image" Target="../media/image28.PNG"/><Relationship Id="rId4"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23.xml"/><Relationship Id="rId1" Type="http://schemas.openxmlformats.org/officeDocument/2006/relationships/slideLayout" Target="../slideLayouts/slideLayout12.xml"/><Relationship Id="rId4" Type="http://schemas.openxmlformats.org/officeDocument/2006/relationships/image" Target="../media/image9.png"/></Relationships>
</file>

<file path=ppt/slides/_rels/slide24.xml.rels><?xml version="1.0" encoding="UTF-8" standalone="yes"?>
<Relationships xmlns="http://schemas.openxmlformats.org/package/2006/relationships"><Relationship Id="rId3" Type="http://schemas.openxmlformats.org/officeDocument/2006/relationships/slideLayout" Target="../slideLayouts/slideLayout10.xml"/><Relationship Id="rId2" Type="http://schemas.openxmlformats.org/officeDocument/2006/relationships/tags" Target="../tags/tag18.xml"/><Relationship Id="rId1" Type="http://schemas.openxmlformats.org/officeDocument/2006/relationships/tags" Target="../tags/tag17.xml"/><Relationship Id="rId6" Type="http://schemas.openxmlformats.org/officeDocument/2006/relationships/image" Target="../media/image31.PNG"/><Relationship Id="rId5" Type="http://schemas.openxmlformats.org/officeDocument/2006/relationships/image" Target="../media/image30.PNG"/><Relationship Id="rId4"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25.xml"/><Relationship Id="rId1" Type="http://schemas.openxmlformats.org/officeDocument/2006/relationships/slideLayout" Target="../slideLayouts/slideLayout12.xml"/><Relationship Id="rId4" Type="http://schemas.openxmlformats.org/officeDocument/2006/relationships/image" Target="../media/image9.png"/></Relationships>
</file>

<file path=ppt/slides/_rels/slide26.xml.rels><?xml version="1.0" encoding="UTF-8" standalone="yes"?>
<Relationships xmlns="http://schemas.openxmlformats.org/package/2006/relationships"><Relationship Id="rId3" Type="http://schemas.openxmlformats.org/officeDocument/2006/relationships/slideLayout" Target="../slideLayouts/slideLayout10.xml"/><Relationship Id="rId2" Type="http://schemas.openxmlformats.org/officeDocument/2006/relationships/tags" Target="../tags/tag20.xml"/><Relationship Id="rId1" Type="http://schemas.openxmlformats.org/officeDocument/2006/relationships/tags" Target="../tags/tag19.xml"/><Relationship Id="rId6" Type="http://schemas.openxmlformats.org/officeDocument/2006/relationships/image" Target="../media/image33.PNG"/><Relationship Id="rId5" Type="http://schemas.openxmlformats.org/officeDocument/2006/relationships/image" Target="../media/image32.PNG"/><Relationship Id="rId4"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3" Type="http://schemas.openxmlformats.org/officeDocument/2006/relationships/tags" Target="../tags/tag23.xml"/><Relationship Id="rId2" Type="http://schemas.openxmlformats.org/officeDocument/2006/relationships/tags" Target="../tags/tag22.xml"/><Relationship Id="rId1" Type="http://schemas.openxmlformats.org/officeDocument/2006/relationships/tags" Target="../tags/tag21.xml"/><Relationship Id="rId6" Type="http://schemas.openxmlformats.org/officeDocument/2006/relationships/image" Target="../media/image34.PNG"/><Relationship Id="rId5" Type="http://schemas.openxmlformats.org/officeDocument/2006/relationships/notesSlide" Target="../notesSlides/notesSlide27.xml"/><Relationship Id="rId4" Type="http://schemas.openxmlformats.org/officeDocument/2006/relationships/slideLayout" Target="../slideLayouts/slideLayout3.xml"/></Relationships>
</file>

<file path=ppt/slides/_rels/slide28.xml.rels><?xml version="1.0" encoding="UTF-8" standalone="yes"?>
<Relationships xmlns="http://schemas.openxmlformats.org/package/2006/relationships"><Relationship Id="rId3" Type="http://schemas.openxmlformats.org/officeDocument/2006/relationships/tags" Target="../tags/tag26.xml"/><Relationship Id="rId2" Type="http://schemas.openxmlformats.org/officeDocument/2006/relationships/tags" Target="../tags/tag25.xml"/><Relationship Id="rId1" Type="http://schemas.openxmlformats.org/officeDocument/2006/relationships/tags" Target="../tags/tag24.xml"/><Relationship Id="rId5" Type="http://schemas.openxmlformats.org/officeDocument/2006/relationships/notesSlide" Target="../notesSlides/notesSlide28.xml"/><Relationship Id="rId4" Type="http://schemas.openxmlformats.org/officeDocument/2006/relationships/slideLayout" Target="../slideLayouts/slideLayout3.xml"/></Relationships>
</file>

<file path=ppt/slides/_rels/slide29.xml.rels><?xml version="1.0" encoding="UTF-8" standalone="yes"?>
<Relationships xmlns="http://schemas.openxmlformats.org/package/2006/relationships"><Relationship Id="rId3" Type="http://schemas.openxmlformats.org/officeDocument/2006/relationships/tags" Target="../tags/tag29.xml"/><Relationship Id="rId2" Type="http://schemas.openxmlformats.org/officeDocument/2006/relationships/tags" Target="../tags/tag28.xml"/><Relationship Id="rId1" Type="http://schemas.openxmlformats.org/officeDocument/2006/relationships/tags" Target="../tags/tag27.xml"/><Relationship Id="rId6" Type="http://schemas.openxmlformats.org/officeDocument/2006/relationships/hyperlink" Target="https://www.sciencedirect.com/topics/computer-science/betweenness-centrality" TargetMode="External"/><Relationship Id="rId5" Type="http://schemas.openxmlformats.org/officeDocument/2006/relationships/notesSlide" Target="../notesSlides/notesSlide29.xml"/><Relationship Id="rId4" Type="http://schemas.openxmlformats.org/officeDocument/2006/relationships/slideLayout" Target="../slideLayouts/slideLayout3.xml"/></Relationships>
</file>

<file path=ppt/slides/_rels/slide30.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31.xml"/><Relationship Id="rId1" Type="http://schemas.openxmlformats.org/officeDocument/2006/relationships/tags" Target="../tags/tag30.xml"/><Relationship Id="rId4" Type="http://schemas.openxmlformats.org/officeDocument/2006/relationships/notesSlide" Target="../notesSlides/notesSlide30.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custDataLst>
              <p:tags r:id="rId2"/>
            </p:custDataLst>
          </p:nvPr>
        </p:nvSpPr>
        <p:spPr>
          <a:xfrm>
            <a:off x="1447800" y="-125413"/>
            <a:ext cx="6180224" cy="1470025"/>
          </a:xfrm>
        </p:spPr>
        <p:txBody>
          <a:bodyPr/>
          <a:lstStyle/>
          <a:p>
            <a:r>
              <a:rPr lang="en-US" dirty="0" smtClean="0">
                <a:solidFill>
                  <a:srgbClr val="00B0F0"/>
                </a:solidFill>
              </a:rPr>
              <a:t>Social Network Project</a:t>
            </a:r>
            <a:endParaRPr lang="en-US" dirty="0">
              <a:solidFill>
                <a:srgbClr val="00B0F0"/>
              </a:solidFill>
            </a:endParaRPr>
          </a:p>
        </p:txBody>
      </p:sp>
      <p:sp>
        <p:nvSpPr>
          <p:cNvPr id="3" name="Subtitle 2"/>
          <p:cNvSpPr>
            <a:spLocks noGrp="1"/>
          </p:cNvSpPr>
          <p:nvPr>
            <p:ph type="subTitle" idx="1"/>
            <p:custDataLst>
              <p:tags r:id="rId3"/>
            </p:custDataLst>
          </p:nvPr>
        </p:nvSpPr>
        <p:spPr>
          <a:xfrm>
            <a:off x="6164580" y="3718560"/>
            <a:ext cx="2971800" cy="1537990"/>
          </a:xfrm>
        </p:spPr>
        <p:txBody>
          <a:bodyPr>
            <a:noAutofit/>
          </a:bodyPr>
          <a:lstStyle/>
          <a:p>
            <a:pPr algn="l"/>
            <a:r>
              <a:rPr lang="en-US" sz="2200" b="1" i="1" dirty="0" smtClean="0">
                <a:latin typeface="AA-GALAXY-Bold" pitchFamily="2" charset="0"/>
                <a:cs typeface="AA-GALAXY-Bold" pitchFamily="2" charset="0"/>
              </a:rPr>
              <a:t>Name: Mohamed </a:t>
            </a:r>
          </a:p>
          <a:p>
            <a:pPr algn="l"/>
            <a:r>
              <a:rPr lang="en-US" sz="2200" b="1" i="1" dirty="0" err="1" smtClean="0">
                <a:latin typeface="AA-GALAXY-Bold" pitchFamily="2" charset="0"/>
                <a:cs typeface="AA-GALAXY-Bold" pitchFamily="2" charset="0"/>
              </a:rPr>
              <a:t>Zoher</a:t>
            </a:r>
            <a:r>
              <a:rPr lang="en-US" sz="2200" b="1" i="1" dirty="0" smtClean="0">
                <a:latin typeface="AA-GALAXY-Bold" pitchFamily="2" charset="0"/>
                <a:cs typeface="AA-GALAXY-Bold" pitchFamily="2" charset="0"/>
              </a:rPr>
              <a:t>   </a:t>
            </a:r>
          </a:p>
          <a:p>
            <a:pPr algn="l"/>
            <a:r>
              <a:rPr lang="en-US" sz="2200" b="1" i="1" dirty="0" smtClean="0">
                <a:latin typeface="AA-GALAXY-Bold" pitchFamily="2" charset="0"/>
                <a:cs typeface="AA-GALAXY-Bold" pitchFamily="2" charset="0"/>
              </a:rPr>
              <a:t>Mohamed</a:t>
            </a:r>
          </a:p>
          <a:p>
            <a:pPr algn="l"/>
            <a:r>
              <a:rPr lang="en-US" sz="2200" b="1" i="1" dirty="0" smtClean="0">
                <a:latin typeface="AA-GALAXY-Bold" pitchFamily="2" charset="0"/>
                <a:cs typeface="AA-GALAXY-Bold" pitchFamily="2" charset="0"/>
              </a:rPr>
              <a:t>ID: </a:t>
            </a:r>
            <a:endParaRPr lang="en-US" sz="2200" b="1" i="1" dirty="0">
              <a:latin typeface="AA-GALAXY-Bold" pitchFamily="2" charset="0"/>
              <a:cs typeface="AA-GALAXY-Bold" pitchFamily="2" charset="0"/>
            </a:endParaRPr>
          </a:p>
        </p:txBody>
      </p:sp>
      <p:pic>
        <p:nvPicPr>
          <p:cNvPr id="4" name="Picture 3"/>
          <p:cNvPicPr>
            <a:picLocks noChangeAspect="1"/>
          </p:cNvPicPr>
          <p:nvPr/>
        </p:nvPicPr>
        <p:blipFill>
          <a:blip r:embed="rId6" cstate="email">
            <a:extLst>
              <a:ext uri="{28A0092B-C50C-407E-A947-70E740481C1C}">
                <a14:useLocalDpi xmlns:a14="http://schemas.microsoft.com/office/drawing/2010/main" val="0"/>
              </a:ext>
            </a:extLst>
          </a:blip>
          <a:stretch>
            <a:fillRect/>
          </a:stretch>
        </p:blipFill>
        <p:spPr>
          <a:xfrm>
            <a:off x="1836420" y="533400"/>
            <a:ext cx="2400300" cy="3200400"/>
          </a:xfrm>
          <a:prstGeom prst="ellipse">
            <a:avLst/>
          </a:prstGeom>
          <a:ln w="63500" cap="rnd">
            <a:solidFill>
              <a:srgbClr val="333333"/>
            </a:solidFill>
          </a:ln>
          <a:effectLst>
            <a:outerShdw blurRad="381000" dist="292100" dir="5400000" sx="-80000" sy="-18000" rotWithShape="0">
              <a:srgbClr val="000000">
                <a:alpha val="22000"/>
              </a:srgbClr>
            </a:outerShdw>
          </a:effectLst>
          <a:scene3d>
            <a:camera prst="orthographicFront"/>
            <a:lightRig rig="contrasting" dir="t">
              <a:rot lat="0" lon="0" rev="3000000"/>
            </a:lightRig>
          </a:scene3d>
          <a:sp3d contourW="7620">
            <a:bevelT w="95250" h="31750"/>
            <a:contourClr>
              <a:srgbClr val="333333"/>
            </a:contourClr>
          </a:sp3d>
        </p:spPr>
      </p:pic>
      <p:pic>
        <p:nvPicPr>
          <p:cNvPr id="5" name="Picture 4"/>
          <p:cNvPicPr>
            <a:picLocks noChangeAspect="1"/>
          </p:cNvPicPr>
          <p:nvPr/>
        </p:nvPicPr>
        <p:blipFill>
          <a:blip r:embed="rId7" cstate="email">
            <a:extLst>
              <a:ext uri="{28A0092B-C50C-407E-A947-70E740481C1C}">
                <a14:useLocalDpi xmlns:a14="http://schemas.microsoft.com/office/drawing/2010/main" val="0"/>
              </a:ext>
            </a:extLst>
          </a:blip>
          <a:stretch>
            <a:fillRect/>
          </a:stretch>
        </p:blipFill>
        <p:spPr>
          <a:xfrm>
            <a:off x="6019800" y="609601"/>
            <a:ext cx="2979205" cy="3055620"/>
          </a:xfrm>
          <a:prstGeom prst="ellipse">
            <a:avLst/>
          </a:prstGeom>
          <a:ln w="63500" cap="rnd">
            <a:solidFill>
              <a:srgbClr val="333333"/>
            </a:solidFill>
          </a:ln>
          <a:effectLst>
            <a:outerShdw blurRad="381000" dist="292100" dir="5400000" sx="-80000" sy="-18000" rotWithShape="0">
              <a:srgbClr val="000000">
                <a:alpha val="22000"/>
              </a:srgbClr>
            </a:outerShdw>
          </a:effectLst>
          <a:scene3d>
            <a:camera prst="orthographicFront"/>
            <a:lightRig rig="contrasting" dir="t">
              <a:rot lat="0" lon="0" rev="3000000"/>
            </a:lightRig>
          </a:scene3d>
          <a:sp3d contourW="7620">
            <a:bevelT w="95250" h="31750"/>
            <a:contourClr>
              <a:srgbClr val="333333"/>
            </a:contourClr>
          </a:sp3d>
        </p:spPr>
      </p:pic>
      <p:sp>
        <p:nvSpPr>
          <p:cNvPr id="6" name="TextBox 5"/>
          <p:cNvSpPr txBox="1"/>
          <p:nvPr/>
        </p:nvSpPr>
        <p:spPr>
          <a:xfrm>
            <a:off x="1478280" y="3810000"/>
            <a:ext cx="3017520" cy="1446550"/>
          </a:xfrm>
          <a:prstGeom prst="rect">
            <a:avLst/>
          </a:prstGeom>
          <a:noFill/>
        </p:spPr>
        <p:txBody>
          <a:bodyPr wrap="square" rtlCol="0">
            <a:spAutoFit/>
          </a:bodyPr>
          <a:lstStyle/>
          <a:p>
            <a:r>
              <a:rPr lang="en-US" sz="2200" b="1" i="1" dirty="0" smtClean="0">
                <a:latin typeface="AA-GALAXY-Bold" pitchFamily="2" charset="0"/>
                <a:cs typeface="AA-GALAXY-Bold" pitchFamily="2" charset="0"/>
              </a:rPr>
              <a:t>Name: </a:t>
            </a:r>
            <a:r>
              <a:rPr lang="en-US" sz="2200" b="1" i="1" dirty="0" err="1" smtClean="0">
                <a:latin typeface="AA-GALAXY-Bold" pitchFamily="2" charset="0"/>
                <a:cs typeface="AA-GALAXY-Bold" pitchFamily="2" charset="0"/>
              </a:rPr>
              <a:t>Abdelrahman</a:t>
            </a:r>
            <a:r>
              <a:rPr lang="en-US" sz="2200" b="1" i="1" dirty="0" smtClean="0">
                <a:latin typeface="AA-GALAXY-Bold" pitchFamily="2" charset="0"/>
                <a:cs typeface="AA-GALAXY-Bold" pitchFamily="2" charset="0"/>
              </a:rPr>
              <a:t> Mohamed  </a:t>
            </a:r>
            <a:r>
              <a:rPr lang="en-US" sz="2200" b="1" i="1" dirty="0" err="1" smtClean="0">
                <a:latin typeface="AA-GALAXY-Bold" pitchFamily="2" charset="0"/>
                <a:cs typeface="AA-GALAXY-Bold" pitchFamily="2" charset="0"/>
              </a:rPr>
              <a:t>Abdelfattah</a:t>
            </a:r>
            <a:endParaRPr lang="en-US" sz="2200" b="1" i="1" dirty="0" smtClean="0">
              <a:latin typeface="AA-GALAXY-Bold" pitchFamily="2" charset="0"/>
              <a:cs typeface="AA-GALAXY-Bold" pitchFamily="2" charset="0"/>
            </a:endParaRPr>
          </a:p>
          <a:p>
            <a:r>
              <a:rPr lang="en-US" sz="2200" b="1" i="1" dirty="0">
                <a:latin typeface="AA-GALAXY-Bold" pitchFamily="2" charset="0"/>
                <a:cs typeface="AA-GALAXY-Bold" pitchFamily="2" charset="0"/>
              </a:rPr>
              <a:t>I</a:t>
            </a:r>
            <a:r>
              <a:rPr lang="en-US" sz="2200" b="1" i="1" dirty="0" smtClean="0">
                <a:latin typeface="AA-GALAXY-Bold" pitchFamily="2" charset="0"/>
                <a:cs typeface="AA-GALAXY-Bold" pitchFamily="2" charset="0"/>
              </a:rPr>
              <a:t>D: </a:t>
            </a:r>
            <a:endParaRPr lang="en-US" sz="2200" b="1" i="1" dirty="0">
              <a:latin typeface="AA-GALAXY-Bold" pitchFamily="2" charset="0"/>
              <a:cs typeface="AA-GALAXY-Bold" pitchFamily="2" charset="0"/>
            </a:endParaRPr>
          </a:p>
        </p:txBody>
      </p:sp>
    </p:spTree>
    <p:custDataLst>
      <p:tags r:id="rId1"/>
    </p:custDataLst>
  </p:cSld>
  <p:clrMapOvr>
    <a:masterClrMapping/>
  </p:clrMapOvr>
  <p:transition spd="slow">
    <p:fade/>
  </p:transition>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 name="Diagram 2"/>
          <p:cNvGraphicFramePr/>
          <p:nvPr>
            <p:extLst>
              <p:ext uri="{D42A27DB-BD31-4B8C-83A1-F6EECF244321}">
                <p14:modId xmlns:p14="http://schemas.microsoft.com/office/powerpoint/2010/main" val="2361035348"/>
              </p:ext>
            </p:extLst>
          </p:nvPr>
        </p:nvGraphicFramePr>
        <p:xfrm>
          <a:off x="1828800" y="1752600"/>
          <a:ext cx="6096000" cy="4064000"/>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2" name="Title 1"/>
          <p:cNvSpPr>
            <a:spLocks noGrp="1"/>
          </p:cNvSpPr>
          <p:nvPr>
            <p:ph type="title"/>
          </p:nvPr>
        </p:nvSpPr>
        <p:spPr>
          <a:xfrm>
            <a:off x="841248" y="301752"/>
            <a:ext cx="8077200" cy="1143000"/>
          </a:xfrm>
        </p:spPr>
        <p:txBody>
          <a:bodyPr/>
          <a:lstStyle/>
          <a:p>
            <a:r>
              <a:rPr lang="en-US" dirty="0">
                <a:solidFill>
                  <a:srgbClr val="0070C0"/>
                </a:solidFill>
              </a:rPr>
              <a:t>The main goals of this project</a:t>
            </a:r>
            <a:endParaRPr lang="en-US" dirty="0"/>
          </a:p>
        </p:txBody>
      </p:sp>
    </p:spTree>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afterEffect">
                                  <p:stCondLst>
                                    <p:cond delay="0"/>
                                  </p:stCondLst>
                                  <p:childTnLst>
                                    <p:set>
                                      <p:cBhvr>
                                        <p:cTn id="6" dur="1" fill="hold">
                                          <p:stCondLst>
                                            <p:cond delay="0"/>
                                          </p:stCondLst>
                                        </p:cTn>
                                        <p:tgtEl>
                                          <p:spTgt spid="3">
                                            <p:graphicEl>
                                              <a:dgm id="{7E429971-BC57-430F-BB25-C0574E5E39E3}"/>
                                            </p:graphicEl>
                                          </p:spTgt>
                                        </p:tgtEl>
                                        <p:attrNameLst>
                                          <p:attrName>style.visibility</p:attrName>
                                        </p:attrNameLst>
                                      </p:cBhvr>
                                      <p:to>
                                        <p:strVal val="visible"/>
                                      </p:to>
                                    </p:set>
                                    <p:animEffect transition="in" filter="wipe(left)">
                                      <p:cBhvr>
                                        <p:cTn id="7" dur="500"/>
                                        <p:tgtEl>
                                          <p:spTgt spid="3">
                                            <p:graphicEl>
                                              <a:dgm id="{7E429971-BC57-430F-BB25-C0574E5E39E3}"/>
                                            </p:graphicEl>
                                          </p:spTgt>
                                        </p:tgtEl>
                                      </p:cBhvr>
                                    </p:animEffect>
                                  </p:childTnLst>
                                </p:cTn>
                              </p:par>
                            </p:childTnLst>
                          </p:cTn>
                        </p:par>
                        <p:par>
                          <p:cTn id="8" fill="hold">
                            <p:stCondLst>
                              <p:cond delay="500"/>
                            </p:stCondLst>
                            <p:childTnLst>
                              <p:par>
                                <p:cTn id="9" presetID="22" presetClass="entr" presetSubtype="8" fill="hold" grpId="0" nodeType="afterEffect">
                                  <p:stCondLst>
                                    <p:cond delay="0"/>
                                  </p:stCondLst>
                                  <p:childTnLst>
                                    <p:set>
                                      <p:cBhvr>
                                        <p:cTn id="10" dur="1" fill="hold">
                                          <p:stCondLst>
                                            <p:cond delay="0"/>
                                          </p:stCondLst>
                                        </p:cTn>
                                        <p:tgtEl>
                                          <p:spTgt spid="3">
                                            <p:graphicEl>
                                              <a:dgm id="{D54B1729-BC98-42C1-9C6C-D65DCBA4358F}"/>
                                            </p:graphicEl>
                                          </p:spTgt>
                                        </p:tgtEl>
                                        <p:attrNameLst>
                                          <p:attrName>style.visibility</p:attrName>
                                        </p:attrNameLst>
                                      </p:cBhvr>
                                      <p:to>
                                        <p:strVal val="visible"/>
                                      </p:to>
                                    </p:set>
                                    <p:animEffect transition="in" filter="wipe(left)">
                                      <p:cBhvr>
                                        <p:cTn id="11" dur="500"/>
                                        <p:tgtEl>
                                          <p:spTgt spid="3">
                                            <p:graphicEl>
                                              <a:dgm id="{D54B1729-BC98-42C1-9C6C-D65DCBA4358F}"/>
                                            </p:graphicEl>
                                          </p:spTgt>
                                        </p:tgtEl>
                                      </p:cBhvr>
                                    </p:animEffect>
                                  </p:childTnLst>
                                </p:cTn>
                              </p:par>
                            </p:childTnLst>
                          </p:cTn>
                        </p:par>
                        <p:par>
                          <p:cTn id="12" fill="hold">
                            <p:stCondLst>
                              <p:cond delay="1000"/>
                            </p:stCondLst>
                            <p:childTnLst>
                              <p:par>
                                <p:cTn id="13" presetID="22" presetClass="entr" presetSubtype="8" fill="hold" grpId="0" nodeType="afterEffect">
                                  <p:stCondLst>
                                    <p:cond delay="0"/>
                                  </p:stCondLst>
                                  <p:childTnLst>
                                    <p:set>
                                      <p:cBhvr>
                                        <p:cTn id="14" dur="1" fill="hold">
                                          <p:stCondLst>
                                            <p:cond delay="0"/>
                                          </p:stCondLst>
                                        </p:cTn>
                                        <p:tgtEl>
                                          <p:spTgt spid="3">
                                            <p:graphicEl>
                                              <a:dgm id="{C04276DC-EE64-470A-B8BC-09067B8045FA}"/>
                                            </p:graphicEl>
                                          </p:spTgt>
                                        </p:tgtEl>
                                        <p:attrNameLst>
                                          <p:attrName>style.visibility</p:attrName>
                                        </p:attrNameLst>
                                      </p:cBhvr>
                                      <p:to>
                                        <p:strVal val="visible"/>
                                      </p:to>
                                    </p:set>
                                    <p:animEffect transition="in" filter="wipe(left)">
                                      <p:cBhvr>
                                        <p:cTn id="15" dur="500"/>
                                        <p:tgtEl>
                                          <p:spTgt spid="3">
                                            <p:graphicEl>
                                              <a:dgm id="{C04276DC-EE64-470A-B8BC-09067B8045FA}"/>
                                            </p:graphicEl>
                                          </p:spTgt>
                                        </p:tgtEl>
                                      </p:cBhvr>
                                    </p:animEffect>
                                  </p:childTnLst>
                                </p:cTn>
                              </p:par>
                            </p:childTnLst>
                          </p:cTn>
                        </p:par>
                        <p:par>
                          <p:cTn id="16" fill="hold">
                            <p:stCondLst>
                              <p:cond delay="1500"/>
                            </p:stCondLst>
                            <p:childTnLst>
                              <p:par>
                                <p:cTn id="17" presetID="22" presetClass="entr" presetSubtype="8" fill="hold" grpId="0" nodeType="afterEffect">
                                  <p:stCondLst>
                                    <p:cond delay="0"/>
                                  </p:stCondLst>
                                  <p:childTnLst>
                                    <p:set>
                                      <p:cBhvr>
                                        <p:cTn id="18" dur="1" fill="hold">
                                          <p:stCondLst>
                                            <p:cond delay="0"/>
                                          </p:stCondLst>
                                        </p:cTn>
                                        <p:tgtEl>
                                          <p:spTgt spid="3">
                                            <p:graphicEl>
                                              <a:dgm id="{B37A5355-225B-4C6F-AED7-6C620F99EECC}"/>
                                            </p:graphicEl>
                                          </p:spTgt>
                                        </p:tgtEl>
                                        <p:attrNameLst>
                                          <p:attrName>style.visibility</p:attrName>
                                        </p:attrNameLst>
                                      </p:cBhvr>
                                      <p:to>
                                        <p:strVal val="visible"/>
                                      </p:to>
                                    </p:set>
                                    <p:animEffect transition="in" filter="wipe(left)">
                                      <p:cBhvr>
                                        <p:cTn id="19" dur="500"/>
                                        <p:tgtEl>
                                          <p:spTgt spid="3">
                                            <p:graphicEl>
                                              <a:dgm id="{B37A5355-225B-4C6F-AED7-6C620F99EECC}"/>
                                            </p:graphicEl>
                                          </p:spTgt>
                                        </p:tgtEl>
                                      </p:cBhvr>
                                    </p:animEffect>
                                  </p:childTnLst>
                                </p:cTn>
                              </p:par>
                            </p:childTnLst>
                          </p:cTn>
                        </p:par>
                        <p:par>
                          <p:cTn id="20" fill="hold">
                            <p:stCondLst>
                              <p:cond delay="2000"/>
                            </p:stCondLst>
                            <p:childTnLst>
                              <p:par>
                                <p:cTn id="21" presetID="22" presetClass="entr" presetSubtype="8" fill="hold" grpId="0" nodeType="afterEffect">
                                  <p:stCondLst>
                                    <p:cond delay="0"/>
                                  </p:stCondLst>
                                  <p:childTnLst>
                                    <p:set>
                                      <p:cBhvr>
                                        <p:cTn id="22" dur="1" fill="hold">
                                          <p:stCondLst>
                                            <p:cond delay="0"/>
                                          </p:stCondLst>
                                        </p:cTn>
                                        <p:tgtEl>
                                          <p:spTgt spid="3">
                                            <p:graphicEl>
                                              <a:dgm id="{F5034101-5B7D-4FE7-B47A-5A48CF39606B}"/>
                                            </p:graphicEl>
                                          </p:spTgt>
                                        </p:tgtEl>
                                        <p:attrNameLst>
                                          <p:attrName>style.visibility</p:attrName>
                                        </p:attrNameLst>
                                      </p:cBhvr>
                                      <p:to>
                                        <p:strVal val="visible"/>
                                      </p:to>
                                    </p:set>
                                    <p:animEffect transition="in" filter="wipe(left)">
                                      <p:cBhvr>
                                        <p:cTn id="23" dur="500"/>
                                        <p:tgtEl>
                                          <p:spTgt spid="3">
                                            <p:graphicEl>
                                              <a:dgm id="{F5034101-5B7D-4FE7-B47A-5A48CF39606B}"/>
                                            </p:graphicEl>
                                          </p:spTgt>
                                        </p:tgtEl>
                                      </p:cBhvr>
                                    </p:animEffect>
                                  </p:childTnLst>
                                </p:cTn>
                              </p:par>
                            </p:childTnLst>
                          </p:cTn>
                        </p:par>
                        <p:par>
                          <p:cTn id="24" fill="hold">
                            <p:stCondLst>
                              <p:cond delay="2500"/>
                            </p:stCondLst>
                            <p:childTnLst>
                              <p:par>
                                <p:cTn id="25" presetID="22" presetClass="entr" presetSubtype="8" fill="hold" grpId="0" nodeType="afterEffect">
                                  <p:stCondLst>
                                    <p:cond delay="0"/>
                                  </p:stCondLst>
                                  <p:childTnLst>
                                    <p:set>
                                      <p:cBhvr>
                                        <p:cTn id="26" dur="1" fill="hold">
                                          <p:stCondLst>
                                            <p:cond delay="0"/>
                                          </p:stCondLst>
                                        </p:cTn>
                                        <p:tgtEl>
                                          <p:spTgt spid="3">
                                            <p:graphicEl>
                                              <a:dgm id="{C7C3E6FD-D83F-4BDA-907E-B5EE041DA931}"/>
                                            </p:graphicEl>
                                          </p:spTgt>
                                        </p:tgtEl>
                                        <p:attrNameLst>
                                          <p:attrName>style.visibility</p:attrName>
                                        </p:attrNameLst>
                                      </p:cBhvr>
                                      <p:to>
                                        <p:strVal val="visible"/>
                                      </p:to>
                                    </p:set>
                                    <p:animEffect transition="in" filter="wipe(left)">
                                      <p:cBhvr>
                                        <p:cTn id="27" dur="500"/>
                                        <p:tgtEl>
                                          <p:spTgt spid="3">
                                            <p:graphicEl>
                                              <a:dgm id="{C7C3E6FD-D83F-4BDA-907E-B5EE041DA931}"/>
                                            </p:graphic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Graphic spid="3" grpId="0" uiExpand="1">
        <p:bldSub>
          <a:bldDgm bld="one"/>
        </p:bldSub>
      </p:bldGraphic>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Box 6"/>
          <p:cNvSpPr txBox="1"/>
          <p:nvPr/>
        </p:nvSpPr>
        <p:spPr>
          <a:xfrm>
            <a:off x="3276600" y="2087940"/>
            <a:ext cx="5257800" cy="4084260"/>
          </a:xfrm>
          <a:prstGeom prst="rect">
            <a:avLst/>
          </a:prstGeom>
          <a:noFill/>
        </p:spPr>
        <p:txBody>
          <a:bodyPr wrap="square" rtlCol="0">
            <a:normAutofit/>
          </a:bodyPr>
          <a:lstStyle/>
          <a:p>
            <a:r>
              <a:rPr lang="en-US" sz="7200" b="1" dirty="0">
                <a:solidFill>
                  <a:srgbClr val="0070C0"/>
                </a:solidFill>
              </a:rPr>
              <a:t>What the </a:t>
            </a:r>
            <a:r>
              <a:rPr lang="en-US" sz="7200" b="1" dirty="0" smtClean="0">
                <a:solidFill>
                  <a:srgbClr val="0070C0"/>
                </a:solidFill>
              </a:rPr>
              <a:t>program </a:t>
            </a:r>
            <a:r>
              <a:rPr lang="en-US" sz="7200" b="1" dirty="0">
                <a:solidFill>
                  <a:srgbClr val="0070C0"/>
                </a:solidFill>
              </a:rPr>
              <a:t>will be?</a:t>
            </a:r>
          </a:p>
        </p:txBody>
      </p:sp>
      <p:pic>
        <p:nvPicPr>
          <p:cNvPr id="6" name="Picture 5"/>
          <p:cNvPicPr>
            <a:picLocks noChangeAspect="1"/>
          </p:cNvPicPr>
          <p:nvPr/>
        </p:nvPicPr>
        <p:blipFill>
          <a:blip r:embed="rId3" cstate="email">
            <a:extLst>
              <a:ext uri="{28A0092B-C50C-407E-A947-70E740481C1C}">
                <a14:useLocalDpi xmlns:a14="http://schemas.microsoft.com/office/drawing/2010/main"/>
              </a:ext>
            </a:extLst>
          </a:blip>
          <a:stretch>
            <a:fillRect/>
          </a:stretch>
        </p:blipFill>
        <p:spPr>
          <a:xfrm>
            <a:off x="-4963332" y="-6858000"/>
            <a:ext cx="7765662" cy="16476125"/>
          </a:xfrm>
          <a:prstGeom prst="rect">
            <a:avLst/>
          </a:prstGeom>
        </p:spPr>
      </p:pic>
      <p:pic>
        <p:nvPicPr>
          <p:cNvPr id="13" name="Picture 12"/>
          <p:cNvPicPr>
            <a:picLocks noChangeAspect="1"/>
          </p:cNvPicPr>
          <p:nvPr/>
        </p:nvPicPr>
        <p:blipFill rotWithShape="1">
          <a:blip r:embed="rId4" cstate="email">
            <a:extLst>
              <a:ext uri="{28A0092B-C50C-407E-A947-70E740481C1C}">
                <a14:useLocalDpi xmlns:a14="http://schemas.microsoft.com/office/drawing/2010/main"/>
              </a:ext>
            </a:extLst>
          </a:blip>
          <a:srcRect/>
          <a:stretch/>
        </p:blipFill>
        <p:spPr>
          <a:xfrm rot="20753331" flipH="1">
            <a:off x="-316180" y="3775286"/>
            <a:ext cx="2895600" cy="3390489"/>
          </a:xfrm>
          <a:prstGeom prst="rect">
            <a:avLst/>
          </a:prstGeom>
        </p:spPr>
      </p:pic>
    </p:spTree>
    <p:extLst>
      <p:ext uri="{BB962C8B-B14F-4D97-AF65-F5344CB8AC3E}">
        <p14:creationId xmlns:p14="http://schemas.microsoft.com/office/powerpoint/2010/main" val="4278406872"/>
      </p:ext>
    </p:extLst>
  </p:cSld>
  <p:clrMapOvr>
    <a:masterClrMapping/>
  </p:clrMapOvr>
  <p:transition spd="slow">
    <p:push dir="u"/>
  </p:transition>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Box 6"/>
          <p:cNvSpPr txBox="1"/>
          <p:nvPr/>
        </p:nvSpPr>
        <p:spPr>
          <a:xfrm>
            <a:off x="4822935" y="2381379"/>
            <a:ext cx="3711465" cy="2800221"/>
          </a:xfrm>
          <a:prstGeom prst="rect">
            <a:avLst/>
          </a:prstGeom>
          <a:noFill/>
        </p:spPr>
        <p:txBody>
          <a:bodyPr wrap="square" rtlCol="0">
            <a:normAutofit/>
          </a:bodyPr>
          <a:lstStyle/>
          <a:p>
            <a:endParaRPr lang="en-US" sz="7200" dirty="0"/>
          </a:p>
        </p:txBody>
      </p:sp>
      <p:pic>
        <p:nvPicPr>
          <p:cNvPr id="8" name="Picture 7"/>
          <p:cNvPicPr>
            <a:picLocks noChangeAspect="1"/>
          </p:cNvPicPr>
          <p:nvPr/>
        </p:nvPicPr>
        <p:blipFill rotWithShape="1">
          <a:blip r:embed="rId3" cstate="email">
            <a:extLst>
              <a:ext uri="{28A0092B-C50C-407E-A947-70E740481C1C}">
                <a14:useLocalDpi xmlns:a14="http://schemas.microsoft.com/office/drawing/2010/main"/>
              </a:ext>
            </a:extLst>
          </a:blip>
          <a:srcRect/>
          <a:stretch/>
        </p:blipFill>
        <p:spPr>
          <a:xfrm rot="20753331" flipH="1">
            <a:off x="108261" y="-3142205"/>
            <a:ext cx="2895600" cy="6861081"/>
          </a:xfrm>
          <a:prstGeom prst="rect">
            <a:avLst/>
          </a:prstGeom>
        </p:spPr>
      </p:pic>
      <p:sp>
        <p:nvSpPr>
          <p:cNvPr id="2" name="TextBox 1"/>
          <p:cNvSpPr txBox="1"/>
          <p:nvPr/>
        </p:nvSpPr>
        <p:spPr>
          <a:xfrm>
            <a:off x="1295400" y="1676400"/>
            <a:ext cx="7696200" cy="3046988"/>
          </a:xfrm>
          <a:prstGeom prst="rect">
            <a:avLst/>
          </a:prstGeom>
          <a:noFill/>
        </p:spPr>
        <p:txBody>
          <a:bodyPr wrap="square" rtlCol="0">
            <a:spAutoFit/>
          </a:bodyPr>
          <a:lstStyle/>
          <a:p>
            <a:r>
              <a:rPr lang="en-US" sz="3200" b="1" dirty="0"/>
              <a:t>The program will perform analysis and visualization of the </a:t>
            </a:r>
            <a:r>
              <a:rPr lang="en-US" sz="3200" b="1" dirty="0" err="1"/>
              <a:t>Ethereum</a:t>
            </a:r>
            <a:r>
              <a:rPr lang="en-US" sz="3200" b="1" dirty="0"/>
              <a:t> exchange data to gain insights into the </a:t>
            </a:r>
            <a:r>
              <a:rPr lang="en-US" sz="3200" b="1" dirty="0" err="1"/>
              <a:t>stablecoin</a:t>
            </a:r>
            <a:r>
              <a:rPr lang="en-US" sz="3200" b="1" dirty="0"/>
              <a:t> network, including transaction patterns, relationships between addresses, and other relevant metrics.</a:t>
            </a:r>
          </a:p>
        </p:txBody>
      </p:sp>
    </p:spTree>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nodePh="1">
                                  <p:stCondLst>
                                    <p:cond delay="0"/>
                                  </p:stCondLst>
                                  <p:endCondLst>
                                    <p:cond evt="begin" delay="0">
                                      <p:tn val="5"/>
                                    </p:cond>
                                  </p:endCondLst>
                                  <p:childTnLst>
                                    <p:set>
                                      <p:cBhvr>
                                        <p:cTn id="6" dur="1" fill="hold">
                                          <p:stCondLst>
                                            <p:cond delay="0"/>
                                          </p:stCondLst>
                                        </p:cTn>
                                        <p:tgtEl>
                                          <p:spTgt spid="7"/>
                                        </p:tgtEl>
                                        <p:attrNameLst>
                                          <p:attrName>style.visibility</p:attrName>
                                        </p:attrNameLst>
                                      </p:cBhvr>
                                      <p:to>
                                        <p:strVal val="visible"/>
                                      </p:to>
                                    </p:set>
                                    <p:animEffect transition="in" filter="fade">
                                      <p:cBhvr>
                                        <p:cTn id="7" dur="20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Box 6"/>
          <p:cNvSpPr txBox="1"/>
          <p:nvPr/>
        </p:nvSpPr>
        <p:spPr>
          <a:xfrm>
            <a:off x="3276600" y="2087940"/>
            <a:ext cx="5257800" cy="4084260"/>
          </a:xfrm>
          <a:prstGeom prst="rect">
            <a:avLst/>
          </a:prstGeom>
          <a:noFill/>
        </p:spPr>
        <p:txBody>
          <a:bodyPr wrap="square" rtlCol="0">
            <a:normAutofit lnSpcReduction="10000"/>
          </a:bodyPr>
          <a:lstStyle/>
          <a:p>
            <a:r>
              <a:rPr lang="en-US" sz="7200" b="1" dirty="0">
                <a:solidFill>
                  <a:srgbClr val="0070C0"/>
                </a:solidFill>
              </a:rPr>
              <a:t>What the </a:t>
            </a:r>
            <a:r>
              <a:rPr lang="en-US" sz="7200" b="1" dirty="0" smtClean="0">
                <a:solidFill>
                  <a:srgbClr val="0070C0"/>
                </a:solidFill>
              </a:rPr>
              <a:t>input </a:t>
            </a:r>
            <a:r>
              <a:rPr lang="en-US" sz="7200" b="1" dirty="0">
                <a:solidFill>
                  <a:srgbClr val="0070C0"/>
                </a:solidFill>
              </a:rPr>
              <a:t>from the program will be?</a:t>
            </a:r>
          </a:p>
        </p:txBody>
      </p:sp>
      <p:pic>
        <p:nvPicPr>
          <p:cNvPr id="6" name="Picture 5"/>
          <p:cNvPicPr>
            <a:picLocks noChangeAspect="1"/>
          </p:cNvPicPr>
          <p:nvPr/>
        </p:nvPicPr>
        <p:blipFill>
          <a:blip r:embed="rId3" cstate="email">
            <a:extLst>
              <a:ext uri="{28A0092B-C50C-407E-A947-70E740481C1C}">
                <a14:useLocalDpi xmlns:a14="http://schemas.microsoft.com/office/drawing/2010/main"/>
              </a:ext>
            </a:extLst>
          </a:blip>
          <a:stretch>
            <a:fillRect/>
          </a:stretch>
        </p:blipFill>
        <p:spPr>
          <a:xfrm>
            <a:off x="-4963332" y="-6858000"/>
            <a:ext cx="7765662" cy="16476125"/>
          </a:xfrm>
          <a:prstGeom prst="rect">
            <a:avLst/>
          </a:prstGeom>
        </p:spPr>
      </p:pic>
      <p:pic>
        <p:nvPicPr>
          <p:cNvPr id="13" name="Picture 12"/>
          <p:cNvPicPr>
            <a:picLocks noChangeAspect="1"/>
          </p:cNvPicPr>
          <p:nvPr/>
        </p:nvPicPr>
        <p:blipFill rotWithShape="1">
          <a:blip r:embed="rId4" cstate="email">
            <a:extLst>
              <a:ext uri="{28A0092B-C50C-407E-A947-70E740481C1C}">
                <a14:useLocalDpi xmlns:a14="http://schemas.microsoft.com/office/drawing/2010/main"/>
              </a:ext>
            </a:extLst>
          </a:blip>
          <a:srcRect/>
          <a:stretch/>
        </p:blipFill>
        <p:spPr>
          <a:xfrm rot="20753331" flipH="1">
            <a:off x="-316180" y="3775286"/>
            <a:ext cx="2895600" cy="3390489"/>
          </a:xfrm>
          <a:prstGeom prst="rect">
            <a:avLst/>
          </a:prstGeom>
        </p:spPr>
      </p:pic>
    </p:spTree>
    <p:extLst>
      <p:ext uri="{BB962C8B-B14F-4D97-AF65-F5344CB8AC3E}">
        <p14:creationId xmlns:p14="http://schemas.microsoft.com/office/powerpoint/2010/main" val="3136121859"/>
      </p:ext>
    </p:extLst>
  </p:cSld>
  <p:clrMapOvr>
    <a:masterClrMapping/>
  </p:clrMapOvr>
  <p:transition spd="slow">
    <p:push dir="u"/>
  </p:transition>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Box 6"/>
          <p:cNvSpPr txBox="1"/>
          <p:nvPr/>
        </p:nvSpPr>
        <p:spPr>
          <a:xfrm>
            <a:off x="4822935" y="2381379"/>
            <a:ext cx="3711465" cy="2800221"/>
          </a:xfrm>
          <a:prstGeom prst="rect">
            <a:avLst/>
          </a:prstGeom>
          <a:noFill/>
        </p:spPr>
        <p:txBody>
          <a:bodyPr wrap="square" rtlCol="0">
            <a:normAutofit/>
          </a:bodyPr>
          <a:lstStyle/>
          <a:p>
            <a:endParaRPr lang="en-US" sz="7200" dirty="0"/>
          </a:p>
        </p:txBody>
      </p:sp>
      <p:pic>
        <p:nvPicPr>
          <p:cNvPr id="8" name="Picture 7"/>
          <p:cNvPicPr>
            <a:picLocks noChangeAspect="1"/>
          </p:cNvPicPr>
          <p:nvPr/>
        </p:nvPicPr>
        <p:blipFill rotWithShape="1">
          <a:blip r:embed="rId3" cstate="email">
            <a:extLst>
              <a:ext uri="{28A0092B-C50C-407E-A947-70E740481C1C}">
                <a14:useLocalDpi xmlns:a14="http://schemas.microsoft.com/office/drawing/2010/main"/>
              </a:ext>
            </a:extLst>
          </a:blip>
          <a:srcRect/>
          <a:stretch/>
        </p:blipFill>
        <p:spPr>
          <a:xfrm rot="20753331" flipH="1">
            <a:off x="108261" y="-3142205"/>
            <a:ext cx="2895600" cy="6861081"/>
          </a:xfrm>
          <a:prstGeom prst="rect">
            <a:avLst/>
          </a:prstGeom>
        </p:spPr>
      </p:pic>
      <p:sp>
        <p:nvSpPr>
          <p:cNvPr id="2" name="TextBox 1"/>
          <p:cNvSpPr txBox="1"/>
          <p:nvPr/>
        </p:nvSpPr>
        <p:spPr>
          <a:xfrm>
            <a:off x="1295400" y="1676400"/>
            <a:ext cx="7696200" cy="3046988"/>
          </a:xfrm>
          <a:prstGeom prst="rect">
            <a:avLst/>
          </a:prstGeom>
          <a:noFill/>
        </p:spPr>
        <p:txBody>
          <a:bodyPr wrap="square" rtlCol="0">
            <a:spAutoFit/>
          </a:bodyPr>
          <a:lstStyle/>
          <a:p>
            <a:r>
              <a:rPr lang="en-US" sz="3200" b="1" dirty="0"/>
              <a:t>The input to the program will be the "alphacore_labels_stablecoin.csv" dataset, which contains information about labels, addresses, names, and assets related to </a:t>
            </a:r>
            <a:r>
              <a:rPr lang="en-US" sz="3200" b="1" dirty="0" err="1"/>
              <a:t>stablecoin</a:t>
            </a:r>
            <a:r>
              <a:rPr lang="en-US" sz="3200" b="1" dirty="0"/>
              <a:t> transactions on the </a:t>
            </a:r>
            <a:r>
              <a:rPr lang="en-US" sz="3200" b="1" dirty="0" err="1"/>
              <a:t>Ethereum</a:t>
            </a:r>
            <a:r>
              <a:rPr lang="en-US" sz="3200" b="1" dirty="0"/>
              <a:t> </a:t>
            </a:r>
            <a:r>
              <a:rPr lang="en-US" sz="3200" b="1" dirty="0" err="1"/>
              <a:t>blockchain</a:t>
            </a:r>
            <a:r>
              <a:rPr lang="en-US" sz="3200" b="1" dirty="0"/>
              <a:t>.</a:t>
            </a:r>
          </a:p>
        </p:txBody>
      </p:sp>
    </p:spTree>
    <p:extLst>
      <p:ext uri="{BB962C8B-B14F-4D97-AF65-F5344CB8AC3E}">
        <p14:creationId xmlns:p14="http://schemas.microsoft.com/office/powerpoint/2010/main" val="530382888"/>
      </p:ext>
    </p:extLst>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nodePh="1">
                                  <p:stCondLst>
                                    <p:cond delay="0"/>
                                  </p:stCondLst>
                                  <p:endCondLst>
                                    <p:cond evt="begin" delay="0">
                                      <p:tn val="5"/>
                                    </p:cond>
                                  </p:endCondLst>
                                  <p:childTnLst>
                                    <p:set>
                                      <p:cBhvr>
                                        <p:cTn id="6" dur="1" fill="hold">
                                          <p:stCondLst>
                                            <p:cond delay="0"/>
                                          </p:stCondLst>
                                        </p:cTn>
                                        <p:tgtEl>
                                          <p:spTgt spid="7"/>
                                        </p:tgtEl>
                                        <p:attrNameLst>
                                          <p:attrName>style.visibility</p:attrName>
                                        </p:attrNameLst>
                                      </p:cBhvr>
                                      <p:to>
                                        <p:strVal val="visible"/>
                                      </p:to>
                                    </p:set>
                                    <p:animEffect transition="in" filter="fade">
                                      <p:cBhvr>
                                        <p:cTn id="7" dur="20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Box 6"/>
          <p:cNvSpPr txBox="1"/>
          <p:nvPr/>
        </p:nvSpPr>
        <p:spPr>
          <a:xfrm>
            <a:off x="3276600" y="2087940"/>
            <a:ext cx="5257800" cy="4084260"/>
          </a:xfrm>
          <a:prstGeom prst="rect">
            <a:avLst/>
          </a:prstGeom>
          <a:noFill/>
        </p:spPr>
        <p:txBody>
          <a:bodyPr wrap="square" rtlCol="0">
            <a:normAutofit lnSpcReduction="10000"/>
          </a:bodyPr>
          <a:lstStyle/>
          <a:p>
            <a:r>
              <a:rPr lang="en-US" sz="7200" b="1" dirty="0">
                <a:solidFill>
                  <a:srgbClr val="0070C0"/>
                </a:solidFill>
              </a:rPr>
              <a:t>What the output from the program will be?</a:t>
            </a:r>
          </a:p>
        </p:txBody>
      </p:sp>
      <p:pic>
        <p:nvPicPr>
          <p:cNvPr id="6" name="Picture 5"/>
          <p:cNvPicPr>
            <a:picLocks noChangeAspect="1"/>
          </p:cNvPicPr>
          <p:nvPr/>
        </p:nvPicPr>
        <p:blipFill>
          <a:blip r:embed="rId3" cstate="email">
            <a:extLst>
              <a:ext uri="{28A0092B-C50C-407E-A947-70E740481C1C}">
                <a14:useLocalDpi xmlns:a14="http://schemas.microsoft.com/office/drawing/2010/main"/>
              </a:ext>
            </a:extLst>
          </a:blip>
          <a:stretch>
            <a:fillRect/>
          </a:stretch>
        </p:blipFill>
        <p:spPr>
          <a:xfrm>
            <a:off x="-4963332" y="-6858000"/>
            <a:ext cx="7765662" cy="16476125"/>
          </a:xfrm>
          <a:prstGeom prst="rect">
            <a:avLst/>
          </a:prstGeom>
        </p:spPr>
      </p:pic>
      <p:pic>
        <p:nvPicPr>
          <p:cNvPr id="13" name="Picture 12"/>
          <p:cNvPicPr>
            <a:picLocks noChangeAspect="1"/>
          </p:cNvPicPr>
          <p:nvPr/>
        </p:nvPicPr>
        <p:blipFill rotWithShape="1">
          <a:blip r:embed="rId4" cstate="email">
            <a:extLst>
              <a:ext uri="{28A0092B-C50C-407E-A947-70E740481C1C}">
                <a14:useLocalDpi xmlns:a14="http://schemas.microsoft.com/office/drawing/2010/main"/>
              </a:ext>
            </a:extLst>
          </a:blip>
          <a:srcRect/>
          <a:stretch/>
        </p:blipFill>
        <p:spPr>
          <a:xfrm rot="20753331" flipH="1">
            <a:off x="-316180" y="3775286"/>
            <a:ext cx="2895600" cy="3390489"/>
          </a:xfrm>
          <a:prstGeom prst="rect">
            <a:avLst/>
          </a:prstGeom>
        </p:spPr>
      </p:pic>
    </p:spTree>
    <p:extLst>
      <p:ext uri="{BB962C8B-B14F-4D97-AF65-F5344CB8AC3E}">
        <p14:creationId xmlns:p14="http://schemas.microsoft.com/office/powerpoint/2010/main" val="280240909"/>
      </p:ext>
    </p:extLst>
  </p:cSld>
  <p:clrMapOvr>
    <a:masterClrMapping/>
  </p:clrMapOvr>
  <p:transition spd="slow">
    <p:push dir="u"/>
  </p:transition>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Box 6"/>
          <p:cNvSpPr txBox="1"/>
          <p:nvPr/>
        </p:nvSpPr>
        <p:spPr>
          <a:xfrm>
            <a:off x="4822935" y="2381379"/>
            <a:ext cx="3711465" cy="2800221"/>
          </a:xfrm>
          <a:prstGeom prst="rect">
            <a:avLst/>
          </a:prstGeom>
          <a:noFill/>
        </p:spPr>
        <p:txBody>
          <a:bodyPr wrap="square" rtlCol="0">
            <a:normAutofit/>
          </a:bodyPr>
          <a:lstStyle/>
          <a:p>
            <a:endParaRPr lang="en-US" sz="7200" dirty="0"/>
          </a:p>
        </p:txBody>
      </p:sp>
      <p:pic>
        <p:nvPicPr>
          <p:cNvPr id="8" name="Picture 7"/>
          <p:cNvPicPr>
            <a:picLocks noChangeAspect="1"/>
          </p:cNvPicPr>
          <p:nvPr/>
        </p:nvPicPr>
        <p:blipFill rotWithShape="1">
          <a:blip r:embed="rId3" cstate="email">
            <a:extLst>
              <a:ext uri="{28A0092B-C50C-407E-A947-70E740481C1C}">
                <a14:useLocalDpi xmlns:a14="http://schemas.microsoft.com/office/drawing/2010/main"/>
              </a:ext>
            </a:extLst>
          </a:blip>
          <a:srcRect/>
          <a:stretch/>
        </p:blipFill>
        <p:spPr>
          <a:xfrm rot="20753331" flipH="1">
            <a:off x="108261" y="-3142205"/>
            <a:ext cx="2895600" cy="6861081"/>
          </a:xfrm>
          <a:prstGeom prst="rect">
            <a:avLst/>
          </a:prstGeom>
        </p:spPr>
      </p:pic>
      <p:sp>
        <p:nvSpPr>
          <p:cNvPr id="2" name="TextBox 1"/>
          <p:cNvSpPr txBox="1"/>
          <p:nvPr/>
        </p:nvSpPr>
        <p:spPr>
          <a:xfrm>
            <a:off x="1295400" y="1676400"/>
            <a:ext cx="7696200" cy="3539430"/>
          </a:xfrm>
          <a:prstGeom prst="rect">
            <a:avLst/>
          </a:prstGeom>
          <a:noFill/>
        </p:spPr>
        <p:txBody>
          <a:bodyPr wrap="square" rtlCol="0">
            <a:spAutoFit/>
          </a:bodyPr>
          <a:lstStyle/>
          <a:p>
            <a:r>
              <a:rPr lang="en-US" sz="3200" b="1" dirty="0"/>
              <a:t>The output from the program will include visualizations of the </a:t>
            </a:r>
            <a:r>
              <a:rPr lang="en-US" sz="3200" b="1" dirty="0" err="1"/>
              <a:t>stablecoin</a:t>
            </a:r>
            <a:r>
              <a:rPr lang="en-US" sz="3200" b="1" dirty="0"/>
              <a:t> network, analysis of transaction patterns based on labels and assets, identification of important nodes or addresses within the network, and any other insights derived from the data analysis.</a:t>
            </a:r>
          </a:p>
        </p:txBody>
      </p:sp>
    </p:spTree>
    <p:extLst>
      <p:ext uri="{BB962C8B-B14F-4D97-AF65-F5344CB8AC3E}">
        <p14:creationId xmlns:p14="http://schemas.microsoft.com/office/powerpoint/2010/main" val="93648390"/>
      </p:ext>
    </p:extLst>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nodePh="1">
                                  <p:stCondLst>
                                    <p:cond delay="0"/>
                                  </p:stCondLst>
                                  <p:endCondLst>
                                    <p:cond evt="begin" delay="0">
                                      <p:tn val="5"/>
                                    </p:cond>
                                  </p:endCondLst>
                                  <p:childTnLst>
                                    <p:set>
                                      <p:cBhvr>
                                        <p:cTn id="6" dur="1" fill="hold">
                                          <p:stCondLst>
                                            <p:cond delay="0"/>
                                          </p:stCondLst>
                                        </p:cTn>
                                        <p:tgtEl>
                                          <p:spTgt spid="7"/>
                                        </p:tgtEl>
                                        <p:attrNameLst>
                                          <p:attrName>style.visibility</p:attrName>
                                        </p:attrNameLst>
                                      </p:cBhvr>
                                      <p:to>
                                        <p:strVal val="visible"/>
                                      </p:to>
                                    </p:set>
                                    <p:animEffect transition="in" filter="fade">
                                      <p:cBhvr>
                                        <p:cTn id="7" dur="20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5400" dirty="0" smtClean="0"/>
              <a:t>Let’s Start!</a:t>
            </a:r>
            <a:endParaRPr lang="en-US" sz="5400" dirty="0"/>
          </a:p>
        </p:txBody>
      </p:sp>
    </p:spTree>
  </p:cSld>
  <p:clrMapOvr>
    <a:masterClrMapping/>
  </p:clrMapOvr>
  <mc:AlternateContent xmlns:mc="http://schemas.openxmlformats.org/markup-compatibility/2006" xmlns:p14="http://schemas.microsoft.com/office/powerpoint/2010/main">
    <mc:Choice Requires="p14">
      <p:transition spd="slow" p14:dur="1600">
        <p14:gallery dir="l"/>
      </p:transition>
    </mc:Choice>
    <mc:Fallback xmlns="">
      <p:transition spd="slow">
        <p:fade/>
      </p:transition>
    </mc:Fallback>
  </mc:AlternateContent>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Box 6"/>
          <p:cNvSpPr txBox="1"/>
          <p:nvPr/>
        </p:nvSpPr>
        <p:spPr>
          <a:xfrm>
            <a:off x="-5024" y="817685"/>
            <a:ext cx="6781800" cy="1600200"/>
          </a:xfrm>
          <a:prstGeom prst="rect">
            <a:avLst/>
          </a:prstGeom>
          <a:noFill/>
        </p:spPr>
        <p:txBody>
          <a:bodyPr wrap="square" rtlCol="0">
            <a:normAutofit/>
          </a:bodyPr>
          <a:lstStyle/>
          <a:p>
            <a:r>
              <a:rPr lang="en-US" sz="2800" b="1" dirty="0">
                <a:solidFill>
                  <a:srgbClr val="0070C0"/>
                </a:solidFill>
              </a:rPr>
              <a:t>to familiarize </a:t>
            </a:r>
            <a:r>
              <a:rPr lang="en-US" sz="2800" b="1" dirty="0" smtClean="0">
                <a:solidFill>
                  <a:srgbClr val="0070C0"/>
                </a:solidFill>
              </a:rPr>
              <a:t>you with </a:t>
            </a:r>
            <a:r>
              <a:rPr lang="en-US" sz="2800" b="1" dirty="0">
                <a:solidFill>
                  <a:srgbClr val="0070C0"/>
                </a:solidFill>
              </a:rPr>
              <a:t>the concept of social networks in a practical sense by working on a real data set</a:t>
            </a:r>
          </a:p>
        </p:txBody>
      </p:sp>
      <p:pic>
        <p:nvPicPr>
          <p:cNvPr id="12" name="Picture 11"/>
          <p:cNvPicPr>
            <a:picLocks noChangeAspect="1"/>
          </p:cNvPicPr>
          <p:nvPr/>
        </p:nvPicPr>
        <p:blipFill>
          <a:blip r:embed="rId3" cstate="email">
            <a:extLst>
              <a:ext uri="{28A0092B-C50C-407E-A947-70E740481C1C}">
                <a14:useLocalDpi xmlns:a14="http://schemas.microsoft.com/office/drawing/2010/main"/>
              </a:ext>
            </a:extLst>
          </a:blip>
          <a:stretch>
            <a:fillRect/>
          </a:stretch>
        </p:blipFill>
        <p:spPr>
          <a:xfrm>
            <a:off x="4800600" y="-1600200"/>
            <a:ext cx="7765662" cy="16476125"/>
          </a:xfrm>
          <a:prstGeom prst="rect">
            <a:avLst/>
          </a:prstGeom>
        </p:spPr>
      </p:pic>
      <p:sp>
        <p:nvSpPr>
          <p:cNvPr id="2" name="TextBox 1"/>
          <p:cNvSpPr txBox="1"/>
          <p:nvPr/>
        </p:nvSpPr>
        <p:spPr>
          <a:xfrm>
            <a:off x="18422" y="2209800"/>
            <a:ext cx="7010400" cy="4247317"/>
          </a:xfrm>
          <a:prstGeom prst="rect">
            <a:avLst/>
          </a:prstGeom>
          <a:noFill/>
        </p:spPr>
        <p:txBody>
          <a:bodyPr wrap="square" rtlCol="0">
            <a:spAutoFit/>
          </a:bodyPr>
          <a:lstStyle/>
          <a:p>
            <a:r>
              <a:rPr lang="en-US" dirty="0">
                <a:latin typeface="Arial Rounded MT Bold" pitchFamily="34" charset="0"/>
              </a:rPr>
              <a:t>the dataset contains weighted, directed graphs with partially available node labels. It consists of token (asset) networks extracted from the </a:t>
            </a:r>
            <a:r>
              <a:rPr lang="en-US" dirty="0" err="1">
                <a:latin typeface="Arial Rounded MT Bold" pitchFamily="34" charset="0"/>
              </a:rPr>
              <a:t>Ethereum</a:t>
            </a:r>
            <a:r>
              <a:rPr lang="en-US" dirty="0">
                <a:latin typeface="Arial Rounded MT Bold" pitchFamily="34" charset="0"/>
              </a:rPr>
              <a:t> </a:t>
            </a:r>
            <a:r>
              <a:rPr lang="en-US" dirty="0" err="1">
                <a:latin typeface="Arial Rounded MT Bold" pitchFamily="34" charset="0"/>
              </a:rPr>
              <a:t>blockchain</a:t>
            </a:r>
            <a:r>
              <a:rPr lang="en-US" dirty="0">
                <a:latin typeface="Arial Rounded MT Bold" pitchFamily="34" charset="0"/>
              </a:rPr>
              <a:t> between Oct-16-2018 and May-04-2020. The dataset also provides address labels (</a:t>
            </a:r>
            <a:r>
              <a:rPr lang="en-US" dirty="0">
                <a:solidFill>
                  <a:srgbClr val="FF0000"/>
                </a:solidFill>
                <a:latin typeface="Arial Rounded MT Bold" pitchFamily="34" charset="0"/>
              </a:rPr>
              <a:t>label, address, name, asset</a:t>
            </a:r>
            <a:r>
              <a:rPr lang="en-US" dirty="0" smtClean="0">
                <a:latin typeface="Arial Rounded MT Bold" pitchFamily="34" charset="0"/>
              </a:rPr>
              <a:t>)</a:t>
            </a:r>
          </a:p>
          <a:p>
            <a:r>
              <a:rPr lang="en-US" dirty="0">
                <a:latin typeface="Arial Rounded MT Bold" pitchFamily="34" charset="0"/>
              </a:rPr>
              <a:t>Which is in the </a:t>
            </a:r>
            <a:r>
              <a:rPr lang="en-US" dirty="0" smtClean="0">
                <a:latin typeface="Arial Rounded MT Bold" pitchFamily="34" charset="0"/>
              </a:rPr>
              <a:t>(</a:t>
            </a:r>
            <a:r>
              <a:rPr lang="en-US" dirty="0" smtClean="0">
                <a:solidFill>
                  <a:srgbClr val="FF0000"/>
                </a:solidFill>
                <a:latin typeface="Arial Rounded MT Bold" pitchFamily="34" charset="0"/>
              </a:rPr>
              <a:t>alphacore_labels_stablecoin.csv</a:t>
            </a:r>
            <a:r>
              <a:rPr lang="en-US" dirty="0" smtClean="0">
                <a:latin typeface="Arial Rounded MT Bold" pitchFamily="34" charset="0"/>
              </a:rPr>
              <a:t>) </a:t>
            </a:r>
            <a:r>
              <a:rPr lang="en-US" dirty="0">
                <a:latin typeface="Arial Rounded MT Bold" pitchFamily="34" charset="0"/>
              </a:rPr>
              <a:t>for addresses in the 0.1 depth </a:t>
            </a:r>
            <a:r>
              <a:rPr lang="en-US" dirty="0" err="1">
                <a:latin typeface="Arial Rounded MT Bold" pitchFamily="34" charset="0"/>
              </a:rPr>
              <a:t>Alphacore</a:t>
            </a:r>
            <a:r>
              <a:rPr lang="en-US" dirty="0">
                <a:latin typeface="Arial Rounded MT Bold" pitchFamily="34" charset="0"/>
              </a:rPr>
              <a:t> of the </a:t>
            </a:r>
            <a:r>
              <a:rPr lang="en-US" dirty="0" err="1">
                <a:latin typeface="Arial Rounded MT Bold" pitchFamily="34" charset="0"/>
              </a:rPr>
              <a:t>stablecoin</a:t>
            </a:r>
            <a:r>
              <a:rPr lang="en-US" dirty="0">
                <a:latin typeface="Arial Rounded MT Bold" pitchFamily="34" charset="0"/>
              </a:rPr>
              <a:t> network.</a:t>
            </a:r>
          </a:p>
          <a:p>
            <a:r>
              <a:rPr lang="en-US" dirty="0">
                <a:latin typeface="Arial Rounded MT Bold" pitchFamily="34" charset="0"/>
              </a:rPr>
              <a:t>The dataset seems to focus on the interactions and transactions between different addresses on the </a:t>
            </a:r>
            <a:r>
              <a:rPr lang="en-US" dirty="0" err="1">
                <a:latin typeface="Arial Rounded MT Bold" pitchFamily="34" charset="0"/>
              </a:rPr>
              <a:t>Ethereum</a:t>
            </a:r>
            <a:r>
              <a:rPr lang="en-US" dirty="0">
                <a:latin typeface="Arial Rounded MT Bold" pitchFamily="34" charset="0"/>
              </a:rPr>
              <a:t> </a:t>
            </a:r>
            <a:r>
              <a:rPr lang="en-US" dirty="0" err="1">
                <a:latin typeface="Arial Rounded MT Bold" pitchFamily="34" charset="0"/>
              </a:rPr>
              <a:t>blockchain</a:t>
            </a:r>
            <a:r>
              <a:rPr lang="en-US" dirty="0">
                <a:latin typeface="Arial Rounded MT Bold" pitchFamily="34" charset="0"/>
              </a:rPr>
              <a:t>, particularly related to token networks and </a:t>
            </a:r>
            <a:r>
              <a:rPr lang="en-US" dirty="0" err="1">
                <a:latin typeface="Arial Rounded MT Bold" pitchFamily="34" charset="0"/>
              </a:rPr>
              <a:t>stablecoin</a:t>
            </a:r>
            <a:r>
              <a:rPr lang="en-US" dirty="0">
                <a:latin typeface="Arial Rounded MT Bold" pitchFamily="34" charset="0"/>
              </a:rPr>
              <a:t> networks. It likely includes information about the flow of assets, the relationships between different addresses, and possibly other attributes related to these transactions.</a:t>
            </a:r>
          </a:p>
          <a:p>
            <a:endParaRPr lang="en-US" dirty="0"/>
          </a:p>
        </p:txBody>
      </p:sp>
    </p:spTree>
  </p:cSld>
  <p:clrMapOvr>
    <a:masterClrMapping/>
  </p:clrMapOvr>
  <p:transition spd="slow">
    <p:fade/>
  </p:transition>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Box 6"/>
          <p:cNvSpPr txBox="1"/>
          <p:nvPr/>
        </p:nvSpPr>
        <p:spPr>
          <a:xfrm>
            <a:off x="990600" y="226088"/>
            <a:ext cx="4038600" cy="1069312"/>
          </a:xfrm>
          <a:prstGeom prst="rect">
            <a:avLst/>
          </a:prstGeom>
          <a:noFill/>
        </p:spPr>
        <p:txBody>
          <a:bodyPr wrap="square" rtlCol="0">
            <a:normAutofit fontScale="85000" lnSpcReduction="20000"/>
          </a:bodyPr>
          <a:lstStyle/>
          <a:p>
            <a:r>
              <a:rPr lang="en-US" sz="2400" b="1" dirty="0">
                <a:solidFill>
                  <a:srgbClr val="0070C0"/>
                </a:solidFill>
              </a:rPr>
              <a:t>to walk you through all steps necessary to create a network, as well as simple network visualizations;</a:t>
            </a:r>
          </a:p>
          <a:p>
            <a:endParaRPr lang="en-US" sz="2400" dirty="0">
              <a:solidFill>
                <a:srgbClr val="0070C0"/>
              </a:solidFill>
            </a:endParaRPr>
          </a:p>
        </p:txBody>
      </p:sp>
      <p:pic>
        <p:nvPicPr>
          <p:cNvPr id="9" name="Picture 8"/>
          <p:cNvPicPr>
            <a:picLocks noChangeAspect="1"/>
          </p:cNvPicPr>
          <p:nvPr/>
        </p:nvPicPr>
        <p:blipFill>
          <a:blip r:embed="rId3" cstate="email">
            <a:extLst>
              <a:ext uri="{28A0092B-C50C-407E-A947-70E740481C1C}">
                <a14:useLocalDpi xmlns:a14="http://schemas.microsoft.com/office/drawing/2010/main"/>
              </a:ext>
            </a:extLst>
          </a:blip>
          <a:stretch>
            <a:fillRect/>
          </a:stretch>
        </p:blipFill>
        <p:spPr>
          <a:xfrm>
            <a:off x="-6400800" y="-1380063"/>
            <a:ext cx="7765662" cy="16476125"/>
          </a:xfrm>
          <a:prstGeom prst="rect">
            <a:avLst/>
          </a:prstGeom>
        </p:spPr>
      </p:pic>
      <p:sp>
        <p:nvSpPr>
          <p:cNvPr id="3" name="TextBox 2"/>
          <p:cNvSpPr txBox="1"/>
          <p:nvPr/>
        </p:nvSpPr>
        <p:spPr>
          <a:xfrm>
            <a:off x="1097782" y="1698274"/>
            <a:ext cx="5029200" cy="923330"/>
          </a:xfrm>
          <a:prstGeom prst="rect">
            <a:avLst/>
          </a:prstGeom>
          <a:noFill/>
        </p:spPr>
        <p:txBody>
          <a:bodyPr wrap="square" rtlCol="0">
            <a:spAutoFit/>
          </a:bodyPr>
          <a:lstStyle/>
          <a:p>
            <a:pPr marL="342900" indent="-342900">
              <a:buFont typeface="+mj-lt"/>
              <a:buAutoNum type="arabicPeriod"/>
            </a:pPr>
            <a:r>
              <a:rPr lang="en-US" b="1" dirty="0" smtClean="0">
                <a:solidFill>
                  <a:srgbClr val="C00000"/>
                </a:solidFill>
              </a:rPr>
              <a:t>Define the dataset</a:t>
            </a:r>
          </a:p>
          <a:p>
            <a:pPr marL="342900" indent="-342900">
              <a:buFont typeface="+mj-lt"/>
              <a:buAutoNum type="arabicPeriod"/>
            </a:pPr>
            <a:r>
              <a:rPr lang="en-US" b="1" dirty="0" smtClean="0">
                <a:solidFill>
                  <a:srgbClr val="C00000"/>
                </a:solidFill>
              </a:rPr>
              <a:t>Show the structure</a:t>
            </a:r>
          </a:p>
          <a:p>
            <a:pPr marL="342900" indent="-342900">
              <a:buFont typeface="+mj-lt"/>
              <a:buAutoNum type="arabicPeriod"/>
            </a:pPr>
            <a:r>
              <a:rPr lang="en-US" b="1" dirty="0" smtClean="0">
                <a:solidFill>
                  <a:srgbClr val="C00000"/>
                </a:solidFill>
              </a:rPr>
              <a:t>Summary of dataset</a:t>
            </a:r>
            <a:endParaRPr lang="en-US" b="1" dirty="0">
              <a:solidFill>
                <a:srgbClr val="C00000"/>
              </a:solidFill>
            </a:endParaRPr>
          </a:p>
        </p:txBody>
      </p:sp>
      <p:sp>
        <p:nvSpPr>
          <p:cNvPr id="4" name="TextBox 3"/>
          <p:cNvSpPr txBox="1"/>
          <p:nvPr/>
        </p:nvSpPr>
        <p:spPr>
          <a:xfrm>
            <a:off x="1097782" y="1319680"/>
            <a:ext cx="3124200" cy="369332"/>
          </a:xfrm>
          <a:prstGeom prst="rect">
            <a:avLst/>
          </a:prstGeom>
          <a:noFill/>
        </p:spPr>
        <p:txBody>
          <a:bodyPr wrap="square" rtlCol="0">
            <a:spAutoFit/>
          </a:bodyPr>
          <a:lstStyle/>
          <a:p>
            <a:r>
              <a:rPr lang="en-US" b="1" dirty="0" smtClean="0"/>
              <a:t>We have 3 important points</a:t>
            </a:r>
            <a:endParaRPr lang="en-US" b="1" dirty="0"/>
          </a:p>
        </p:txBody>
      </p:sp>
      <p:pic>
        <p:nvPicPr>
          <p:cNvPr id="8" name="Picture 7"/>
          <p:cNvPicPr>
            <a:picLocks noChangeAspect="1"/>
          </p:cNvPicPr>
          <p:nvPr/>
        </p:nvPicPr>
        <p:blipFill>
          <a:blip r:embed="rId4" cstate="email">
            <a:extLst>
              <a:ext uri="{28A0092B-C50C-407E-A947-70E740481C1C}">
                <a14:useLocalDpi xmlns:a14="http://schemas.microsoft.com/office/drawing/2010/main" val="0"/>
              </a:ext>
            </a:extLst>
          </a:blip>
          <a:stretch>
            <a:fillRect/>
          </a:stretch>
        </p:blipFill>
        <p:spPr>
          <a:xfrm>
            <a:off x="3975798" y="760744"/>
            <a:ext cx="5029200" cy="2343477"/>
          </a:xfrm>
          <a:prstGeom prst="rect">
            <a:avLst/>
          </a:prstGeom>
        </p:spPr>
      </p:pic>
      <p:pic>
        <p:nvPicPr>
          <p:cNvPr id="10" name="Picture 9"/>
          <p:cNvPicPr>
            <a:picLocks noChangeAspect="1"/>
          </p:cNvPicPr>
          <p:nvPr/>
        </p:nvPicPr>
        <p:blipFill>
          <a:blip r:embed="rId5" cstate="email">
            <a:extLst>
              <a:ext uri="{28A0092B-C50C-407E-A947-70E740481C1C}">
                <a14:useLocalDpi xmlns:a14="http://schemas.microsoft.com/office/drawing/2010/main" val="0"/>
              </a:ext>
            </a:extLst>
          </a:blip>
          <a:stretch>
            <a:fillRect/>
          </a:stretch>
        </p:blipFill>
        <p:spPr>
          <a:xfrm>
            <a:off x="2176350" y="3163556"/>
            <a:ext cx="6970735" cy="3319756"/>
          </a:xfrm>
          <a:prstGeom prst="rect">
            <a:avLst/>
          </a:prstGeom>
        </p:spPr>
      </p:pic>
    </p:spTree>
  </p:cSld>
  <p:clrMapOvr>
    <a:masterClrMapping/>
  </p:clrMapOvr>
  <p:transition spd="slow">
    <p:push/>
  </p:transition>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Box 6"/>
          <p:cNvSpPr txBox="1"/>
          <p:nvPr/>
        </p:nvSpPr>
        <p:spPr>
          <a:xfrm>
            <a:off x="2802330" y="2087940"/>
            <a:ext cx="5732070" cy="4084260"/>
          </a:xfrm>
          <a:prstGeom prst="rect">
            <a:avLst/>
          </a:prstGeom>
          <a:noFill/>
        </p:spPr>
        <p:txBody>
          <a:bodyPr wrap="square" rtlCol="0">
            <a:normAutofit/>
          </a:bodyPr>
          <a:lstStyle/>
          <a:p>
            <a:r>
              <a:rPr lang="en-US" sz="7200" b="1" dirty="0">
                <a:solidFill>
                  <a:srgbClr val="0070C0"/>
                </a:solidFill>
              </a:rPr>
              <a:t>Data Preprocessing</a:t>
            </a:r>
          </a:p>
        </p:txBody>
      </p:sp>
      <p:pic>
        <p:nvPicPr>
          <p:cNvPr id="6" name="Picture 5"/>
          <p:cNvPicPr>
            <a:picLocks noChangeAspect="1"/>
          </p:cNvPicPr>
          <p:nvPr/>
        </p:nvPicPr>
        <p:blipFill>
          <a:blip r:embed="rId3" cstate="email">
            <a:extLst>
              <a:ext uri="{28A0092B-C50C-407E-A947-70E740481C1C}">
                <a14:useLocalDpi xmlns:a14="http://schemas.microsoft.com/office/drawing/2010/main"/>
              </a:ext>
            </a:extLst>
          </a:blip>
          <a:stretch>
            <a:fillRect/>
          </a:stretch>
        </p:blipFill>
        <p:spPr>
          <a:xfrm>
            <a:off x="-4963332" y="-6858000"/>
            <a:ext cx="7765662" cy="16476125"/>
          </a:xfrm>
          <a:prstGeom prst="rect">
            <a:avLst/>
          </a:prstGeom>
        </p:spPr>
      </p:pic>
      <p:pic>
        <p:nvPicPr>
          <p:cNvPr id="13" name="Picture 12"/>
          <p:cNvPicPr>
            <a:picLocks noChangeAspect="1"/>
          </p:cNvPicPr>
          <p:nvPr/>
        </p:nvPicPr>
        <p:blipFill rotWithShape="1">
          <a:blip r:embed="rId4" cstate="email">
            <a:extLst>
              <a:ext uri="{28A0092B-C50C-407E-A947-70E740481C1C}">
                <a14:useLocalDpi xmlns:a14="http://schemas.microsoft.com/office/drawing/2010/main"/>
              </a:ext>
            </a:extLst>
          </a:blip>
          <a:srcRect/>
          <a:stretch/>
        </p:blipFill>
        <p:spPr>
          <a:xfrm rot="20753331" flipH="1">
            <a:off x="-316180" y="3775286"/>
            <a:ext cx="2895600" cy="3390489"/>
          </a:xfrm>
          <a:prstGeom prst="rect">
            <a:avLst/>
          </a:prstGeom>
        </p:spPr>
      </p:pic>
    </p:spTree>
    <p:extLst>
      <p:ext uri="{BB962C8B-B14F-4D97-AF65-F5344CB8AC3E}">
        <p14:creationId xmlns:p14="http://schemas.microsoft.com/office/powerpoint/2010/main" val="555124850"/>
      </p:ext>
    </p:extLst>
  </p:cSld>
  <p:clrMapOvr>
    <a:masterClrMapping/>
  </p:clrMapOvr>
  <p:transition spd="slow">
    <p:push dir="u"/>
  </p:transition>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sz="half" idx="1"/>
            <p:custDataLst>
              <p:tags r:id="rId2"/>
            </p:custDataLst>
          </p:nvPr>
        </p:nvSpPr>
        <p:spPr>
          <a:xfrm>
            <a:off x="859052" y="2305207"/>
            <a:ext cx="3733800" cy="1447800"/>
          </a:xfrm>
        </p:spPr>
        <p:txBody>
          <a:bodyPr>
            <a:normAutofit/>
          </a:bodyPr>
          <a:lstStyle/>
          <a:p>
            <a:r>
              <a:rPr lang="en-US" sz="3200" b="1" dirty="0" smtClean="0">
                <a:solidFill>
                  <a:schemeClr val="accent2"/>
                </a:solidFill>
              </a:rPr>
              <a:t>Missing value </a:t>
            </a:r>
          </a:p>
          <a:p>
            <a:r>
              <a:rPr lang="en-US" sz="3200" b="1" dirty="0">
                <a:solidFill>
                  <a:schemeClr val="accent2"/>
                </a:solidFill>
              </a:rPr>
              <a:t>duplicated</a:t>
            </a:r>
          </a:p>
        </p:txBody>
      </p:sp>
      <p:pic>
        <p:nvPicPr>
          <p:cNvPr id="5" name="Picture 4"/>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4605822" y="1905000"/>
            <a:ext cx="4077269" cy="1124107"/>
          </a:xfrm>
          <a:prstGeom prst="rect">
            <a:avLst/>
          </a:prstGeom>
        </p:spPr>
      </p:pic>
      <p:pic>
        <p:nvPicPr>
          <p:cNvPr id="6" name="Picture 5"/>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4386716" y="3124200"/>
            <a:ext cx="4515480" cy="866896"/>
          </a:xfrm>
          <a:prstGeom prst="rect">
            <a:avLst/>
          </a:prstGeom>
        </p:spPr>
      </p:pic>
    </p:spTree>
    <p:custDataLst>
      <p:tags r:id="rId1"/>
    </p:custDataLst>
  </p:cSld>
  <p:clrMapOvr>
    <a:masterClrMapping/>
  </p:clrMapOvr>
  <p:transition spd="slow">
    <p:wipe dir="d"/>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with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1000"/>
                                        <p:tgtEl>
                                          <p:spTgt spid="3">
                                            <p:txEl>
                                              <p:pRg st="0" end="0"/>
                                            </p:txEl>
                                          </p:spTgt>
                                        </p:tgtEl>
                                      </p:cBhvr>
                                    </p:animEffect>
                                    <p:anim calcmode="lin" valueType="num">
                                      <p:cBhvr>
                                        <p:cTn id="8" dur="1000" fill="hold"/>
                                        <p:tgtEl>
                                          <p:spTgt spid="3">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3">
                                            <p:txEl>
                                              <p:pRg st="0" end="0"/>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Box 6"/>
          <p:cNvSpPr txBox="1"/>
          <p:nvPr/>
        </p:nvSpPr>
        <p:spPr>
          <a:xfrm>
            <a:off x="3276600" y="2087940"/>
            <a:ext cx="5257800" cy="4084260"/>
          </a:xfrm>
          <a:prstGeom prst="rect">
            <a:avLst/>
          </a:prstGeom>
          <a:noFill/>
        </p:spPr>
        <p:txBody>
          <a:bodyPr wrap="square" rtlCol="0">
            <a:normAutofit/>
          </a:bodyPr>
          <a:lstStyle/>
          <a:p>
            <a:r>
              <a:rPr lang="en-US" sz="7200" b="1" dirty="0">
                <a:solidFill>
                  <a:srgbClr val="0070C0"/>
                </a:solidFill>
              </a:rPr>
              <a:t>Network Analysis</a:t>
            </a:r>
          </a:p>
        </p:txBody>
      </p:sp>
      <p:pic>
        <p:nvPicPr>
          <p:cNvPr id="6" name="Picture 5"/>
          <p:cNvPicPr>
            <a:picLocks noChangeAspect="1"/>
          </p:cNvPicPr>
          <p:nvPr/>
        </p:nvPicPr>
        <p:blipFill>
          <a:blip r:embed="rId3" cstate="email">
            <a:extLst>
              <a:ext uri="{28A0092B-C50C-407E-A947-70E740481C1C}">
                <a14:useLocalDpi xmlns:a14="http://schemas.microsoft.com/office/drawing/2010/main"/>
              </a:ext>
            </a:extLst>
          </a:blip>
          <a:stretch>
            <a:fillRect/>
          </a:stretch>
        </p:blipFill>
        <p:spPr>
          <a:xfrm>
            <a:off x="-4963332" y="-6858000"/>
            <a:ext cx="7765662" cy="16476125"/>
          </a:xfrm>
          <a:prstGeom prst="rect">
            <a:avLst/>
          </a:prstGeom>
        </p:spPr>
      </p:pic>
      <p:pic>
        <p:nvPicPr>
          <p:cNvPr id="13" name="Picture 12"/>
          <p:cNvPicPr>
            <a:picLocks noChangeAspect="1"/>
          </p:cNvPicPr>
          <p:nvPr/>
        </p:nvPicPr>
        <p:blipFill rotWithShape="1">
          <a:blip r:embed="rId4" cstate="email">
            <a:extLst>
              <a:ext uri="{28A0092B-C50C-407E-A947-70E740481C1C}">
                <a14:useLocalDpi xmlns:a14="http://schemas.microsoft.com/office/drawing/2010/main"/>
              </a:ext>
            </a:extLst>
          </a:blip>
          <a:srcRect/>
          <a:stretch/>
        </p:blipFill>
        <p:spPr>
          <a:xfrm rot="20753331" flipH="1">
            <a:off x="-316180" y="3775286"/>
            <a:ext cx="2895600" cy="3390489"/>
          </a:xfrm>
          <a:prstGeom prst="rect">
            <a:avLst/>
          </a:prstGeom>
        </p:spPr>
      </p:pic>
    </p:spTree>
  </p:cSld>
  <p:clrMapOvr>
    <a:masterClrMapping/>
  </p:clrMapOvr>
  <p:transition spd="slow">
    <p:push dir="u"/>
  </p:transition>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extBox 7"/>
          <p:cNvSpPr txBox="1"/>
          <p:nvPr/>
        </p:nvSpPr>
        <p:spPr>
          <a:xfrm>
            <a:off x="632298" y="2149072"/>
            <a:ext cx="3657600" cy="646331"/>
          </a:xfrm>
          <a:prstGeom prst="rect">
            <a:avLst/>
          </a:prstGeom>
          <a:noFill/>
        </p:spPr>
        <p:txBody>
          <a:bodyPr wrap="square" rtlCol="0">
            <a:spAutoFit/>
          </a:bodyPr>
          <a:lstStyle/>
          <a:p>
            <a:pPr marL="285750" indent="-285750">
              <a:buFont typeface="Arial" pitchFamily="34" charset="0"/>
              <a:buChar char="•"/>
            </a:pPr>
            <a:r>
              <a:rPr lang="en-US" dirty="0" smtClean="0">
                <a:solidFill>
                  <a:schemeClr val="accent2"/>
                </a:solidFill>
              </a:rPr>
              <a:t>Create the Network</a:t>
            </a:r>
          </a:p>
          <a:p>
            <a:pPr marL="285750" indent="-285750">
              <a:buFont typeface="Arial" pitchFamily="34" charset="0"/>
              <a:buChar char="•"/>
            </a:pPr>
            <a:r>
              <a:rPr lang="en-US" dirty="0" smtClean="0">
                <a:solidFill>
                  <a:schemeClr val="accent2"/>
                </a:solidFill>
              </a:rPr>
              <a:t>Visualize the directed Graph</a:t>
            </a:r>
            <a:endParaRPr lang="en-US" dirty="0">
              <a:solidFill>
                <a:schemeClr val="accent2"/>
              </a:solidFill>
            </a:endParaRPr>
          </a:p>
        </p:txBody>
      </p:sp>
      <p:pic>
        <p:nvPicPr>
          <p:cNvPr id="9" name="Picture 8"/>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3641840" y="304800"/>
            <a:ext cx="5468113" cy="933580"/>
          </a:xfrm>
          <a:prstGeom prst="rect">
            <a:avLst/>
          </a:prstGeom>
        </p:spPr>
      </p:pic>
      <p:pic>
        <p:nvPicPr>
          <p:cNvPr id="10" name="Picture 9"/>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4309353" y="1238380"/>
            <a:ext cx="3629532" cy="1381318"/>
          </a:xfrm>
          <a:prstGeom prst="rect">
            <a:avLst/>
          </a:prstGeom>
        </p:spPr>
      </p:pic>
      <p:pic>
        <p:nvPicPr>
          <p:cNvPr id="11" name="Picture 10"/>
          <p:cNvPicPr>
            <a:picLocks noChangeAspect="1"/>
          </p:cNvPicPr>
          <p:nvPr/>
        </p:nvPicPr>
        <p:blipFill>
          <a:blip r:embed="rId6" cstate="email">
            <a:extLst>
              <a:ext uri="{28A0092B-C50C-407E-A947-70E740481C1C}">
                <a14:useLocalDpi xmlns:a14="http://schemas.microsoft.com/office/drawing/2010/main" val="0"/>
              </a:ext>
            </a:extLst>
          </a:blip>
          <a:stretch>
            <a:fillRect/>
          </a:stretch>
        </p:blipFill>
        <p:spPr>
          <a:xfrm>
            <a:off x="4289898" y="2609970"/>
            <a:ext cx="3712724" cy="3524944"/>
          </a:xfrm>
          <a:prstGeom prst="rect">
            <a:avLst/>
          </a:prstGeom>
        </p:spPr>
      </p:pic>
    </p:spTree>
    <p:custDataLst>
      <p:tags r:id="rId1"/>
    </p:custDataLst>
  </p:cSld>
  <p:clrMapOvr>
    <a:masterClrMapping/>
  </p:clrMapOvr>
  <p:transition spd="slow">
    <p:wipe dir="d"/>
  </p:transition>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Box 6"/>
          <p:cNvSpPr txBox="1"/>
          <p:nvPr/>
        </p:nvSpPr>
        <p:spPr>
          <a:xfrm>
            <a:off x="3276600" y="2087940"/>
            <a:ext cx="5257800" cy="4084260"/>
          </a:xfrm>
          <a:prstGeom prst="rect">
            <a:avLst/>
          </a:prstGeom>
          <a:noFill/>
        </p:spPr>
        <p:txBody>
          <a:bodyPr wrap="square" rtlCol="0">
            <a:normAutofit/>
          </a:bodyPr>
          <a:lstStyle/>
          <a:p>
            <a:r>
              <a:rPr lang="en-US" sz="7200" b="1" dirty="0">
                <a:solidFill>
                  <a:srgbClr val="0070C0"/>
                </a:solidFill>
              </a:rPr>
              <a:t>Centrality Measures</a:t>
            </a:r>
          </a:p>
        </p:txBody>
      </p:sp>
      <p:pic>
        <p:nvPicPr>
          <p:cNvPr id="6" name="Picture 5"/>
          <p:cNvPicPr>
            <a:picLocks noChangeAspect="1"/>
          </p:cNvPicPr>
          <p:nvPr/>
        </p:nvPicPr>
        <p:blipFill>
          <a:blip r:embed="rId3" cstate="email">
            <a:extLst>
              <a:ext uri="{28A0092B-C50C-407E-A947-70E740481C1C}">
                <a14:useLocalDpi xmlns:a14="http://schemas.microsoft.com/office/drawing/2010/main"/>
              </a:ext>
            </a:extLst>
          </a:blip>
          <a:stretch>
            <a:fillRect/>
          </a:stretch>
        </p:blipFill>
        <p:spPr>
          <a:xfrm>
            <a:off x="-4963332" y="-6858000"/>
            <a:ext cx="7765662" cy="16476125"/>
          </a:xfrm>
          <a:prstGeom prst="rect">
            <a:avLst/>
          </a:prstGeom>
        </p:spPr>
      </p:pic>
      <p:pic>
        <p:nvPicPr>
          <p:cNvPr id="13" name="Picture 12"/>
          <p:cNvPicPr>
            <a:picLocks noChangeAspect="1"/>
          </p:cNvPicPr>
          <p:nvPr/>
        </p:nvPicPr>
        <p:blipFill rotWithShape="1">
          <a:blip r:embed="rId4" cstate="email">
            <a:extLst>
              <a:ext uri="{28A0092B-C50C-407E-A947-70E740481C1C}">
                <a14:useLocalDpi xmlns:a14="http://schemas.microsoft.com/office/drawing/2010/main"/>
              </a:ext>
            </a:extLst>
          </a:blip>
          <a:srcRect/>
          <a:stretch/>
        </p:blipFill>
        <p:spPr>
          <a:xfrm rot="20753331" flipH="1">
            <a:off x="-316180" y="3775286"/>
            <a:ext cx="2895600" cy="3390489"/>
          </a:xfrm>
          <a:prstGeom prst="rect">
            <a:avLst/>
          </a:prstGeom>
        </p:spPr>
      </p:pic>
    </p:spTree>
    <p:extLst>
      <p:ext uri="{BB962C8B-B14F-4D97-AF65-F5344CB8AC3E}">
        <p14:creationId xmlns:p14="http://schemas.microsoft.com/office/powerpoint/2010/main" val="555124850"/>
      </p:ext>
    </p:extLst>
  </p:cSld>
  <p:clrMapOvr>
    <a:masterClrMapping/>
  </p:clrMapOvr>
  <p:transition spd="slow">
    <p:push dir="u"/>
  </p:transition>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7728" name="Rectangle 16"/>
          <p:cNvSpPr>
            <a:spLocks noGrp="1" noChangeArrowheads="1"/>
          </p:cNvSpPr>
          <p:nvPr>
            <p:ph type="title"/>
            <p:custDataLst>
              <p:tags r:id="rId2"/>
            </p:custDataLst>
          </p:nvPr>
        </p:nvSpPr>
        <p:spPr>
          <a:xfrm>
            <a:off x="838200" y="2743200"/>
            <a:ext cx="4114800" cy="533400"/>
          </a:xfrm>
        </p:spPr>
        <p:txBody>
          <a:bodyPr>
            <a:normAutofit fontScale="90000"/>
          </a:bodyPr>
          <a:lstStyle/>
          <a:p>
            <a:pPr marL="457200" indent="-457200">
              <a:buFont typeface="Arial" pitchFamily="34" charset="0"/>
              <a:buChar char="•"/>
              <a:defRPr/>
            </a:pPr>
            <a:r>
              <a:rPr lang="en-US" sz="2800" dirty="0" smtClean="0">
                <a:solidFill>
                  <a:schemeClr val="accent2"/>
                </a:solidFill>
              </a:rPr>
              <a:t>In degree centrality</a:t>
            </a:r>
            <a:r>
              <a:rPr lang="en-US" sz="2800" dirty="0" smtClean="0"/>
              <a:t/>
            </a:r>
            <a:br>
              <a:rPr lang="en-US" sz="2800" dirty="0" smtClean="0"/>
            </a:br>
            <a:endParaRPr lang="en-US" sz="2800" dirty="0" smtClean="0"/>
          </a:p>
        </p:txBody>
      </p:sp>
      <p:pic>
        <p:nvPicPr>
          <p:cNvPr id="2" name="Picture 1"/>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4724400" y="152400"/>
            <a:ext cx="3934374" cy="933580"/>
          </a:xfrm>
          <a:prstGeom prst="rect">
            <a:avLst/>
          </a:prstGeom>
        </p:spPr>
      </p:pic>
      <p:pic>
        <p:nvPicPr>
          <p:cNvPr id="3" name="Picture 2"/>
          <p:cNvPicPr>
            <a:picLocks noChangeAspect="1"/>
          </p:cNvPicPr>
          <p:nvPr/>
        </p:nvPicPr>
        <p:blipFill>
          <a:blip r:embed="rId6" cstate="email">
            <a:extLst>
              <a:ext uri="{28A0092B-C50C-407E-A947-70E740481C1C}">
                <a14:useLocalDpi xmlns:a14="http://schemas.microsoft.com/office/drawing/2010/main" val="0"/>
              </a:ext>
            </a:extLst>
          </a:blip>
          <a:stretch>
            <a:fillRect/>
          </a:stretch>
        </p:blipFill>
        <p:spPr>
          <a:xfrm>
            <a:off x="4071026" y="1048691"/>
            <a:ext cx="5072974" cy="2610214"/>
          </a:xfrm>
          <a:prstGeom prst="rect">
            <a:avLst/>
          </a:prstGeom>
        </p:spPr>
      </p:pic>
      <p:pic>
        <p:nvPicPr>
          <p:cNvPr id="4" name="Picture 3"/>
          <p:cNvPicPr>
            <a:picLocks noChangeAspect="1"/>
          </p:cNvPicPr>
          <p:nvPr/>
        </p:nvPicPr>
        <p:blipFill>
          <a:blip r:embed="rId7" cstate="email">
            <a:extLst>
              <a:ext uri="{28A0092B-C50C-407E-A947-70E740481C1C}">
                <a14:useLocalDpi xmlns:a14="http://schemas.microsoft.com/office/drawing/2010/main" val="0"/>
              </a:ext>
            </a:extLst>
          </a:blip>
          <a:stretch>
            <a:fillRect/>
          </a:stretch>
        </p:blipFill>
        <p:spPr>
          <a:xfrm>
            <a:off x="4071026" y="3658904"/>
            <a:ext cx="5103778" cy="2867425"/>
          </a:xfrm>
          <a:prstGeom prst="rect">
            <a:avLst/>
          </a:prstGeom>
        </p:spPr>
      </p:pic>
      <p:sp>
        <p:nvSpPr>
          <p:cNvPr id="5" name="TextBox 4"/>
          <p:cNvSpPr txBox="1"/>
          <p:nvPr/>
        </p:nvSpPr>
        <p:spPr>
          <a:xfrm>
            <a:off x="830094" y="3129702"/>
            <a:ext cx="3886200" cy="477054"/>
          </a:xfrm>
          <a:prstGeom prst="rect">
            <a:avLst/>
          </a:prstGeom>
          <a:noFill/>
        </p:spPr>
        <p:txBody>
          <a:bodyPr wrap="square" rtlCol="0">
            <a:spAutoFit/>
          </a:bodyPr>
          <a:lstStyle/>
          <a:p>
            <a:pPr marL="342900" indent="-342900">
              <a:buFont typeface="Arial" pitchFamily="34" charset="0"/>
              <a:buChar char="•"/>
            </a:pPr>
            <a:r>
              <a:rPr lang="en-US" sz="2500" dirty="0" smtClean="0">
                <a:solidFill>
                  <a:schemeClr val="accent2"/>
                </a:solidFill>
              </a:rPr>
              <a:t>Out degree </a:t>
            </a:r>
            <a:r>
              <a:rPr lang="en-US" sz="2500" dirty="0">
                <a:solidFill>
                  <a:schemeClr val="accent2"/>
                </a:solidFill>
              </a:rPr>
              <a:t>centrality</a:t>
            </a:r>
          </a:p>
        </p:txBody>
      </p:sp>
    </p:spTree>
    <p:custDataLst>
      <p:tags r:id="rId1"/>
    </p:custDataLst>
  </p:cSld>
  <p:clrMapOvr>
    <a:masterClrMapping/>
  </p:clrMapOvr>
  <p:transition>
    <p:fade/>
  </p:transition>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7728" name="Rectangle 16"/>
          <p:cNvSpPr>
            <a:spLocks noGrp="1" noChangeArrowheads="1"/>
          </p:cNvSpPr>
          <p:nvPr>
            <p:ph type="title"/>
            <p:custDataLst>
              <p:tags r:id="rId2"/>
            </p:custDataLst>
          </p:nvPr>
        </p:nvSpPr>
        <p:spPr>
          <a:xfrm>
            <a:off x="838200" y="2743200"/>
            <a:ext cx="4114800" cy="533400"/>
          </a:xfrm>
        </p:spPr>
        <p:txBody>
          <a:bodyPr>
            <a:normAutofit fontScale="90000"/>
          </a:bodyPr>
          <a:lstStyle/>
          <a:p>
            <a:pPr marL="457200" indent="-457200">
              <a:buFont typeface="Arial" pitchFamily="34" charset="0"/>
              <a:buChar char="•"/>
              <a:defRPr/>
            </a:pPr>
            <a:r>
              <a:rPr lang="en-US" sz="2800" dirty="0" err="1" smtClean="0">
                <a:solidFill>
                  <a:schemeClr val="accent2"/>
                </a:solidFill>
              </a:rPr>
              <a:t>Betweenness</a:t>
            </a:r>
            <a:r>
              <a:rPr lang="en-US" sz="2800" dirty="0" smtClean="0">
                <a:solidFill>
                  <a:schemeClr val="accent2"/>
                </a:solidFill>
              </a:rPr>
              <a:t> centrality</a:t>
            </a:r>
            <a:r>
              <a:rPr lang="en-US" sz="2800" dirty="0" smtClean="0"/>
              <a:t/>
            </a:r>
            <a:br>
              <a:rPr lang="en-US" sz="2800" dirty="0" smtClean="0"/>
            </a:br>
            <a:endParaRPr lang="en-US" sz="2800" dirty="0" smtClean="0"/>
          </a:p>
        </p:txBody>
      </p:sp>
      <p:sp>
        <p:nvSpPr>
          <p:cNvPr id="5" name="TextBox 4"/>
          <p:cNvSpPr txBox="1"/>
          <p:nvPr/>
        </p:nvSpPr>
        <p:spPr>
          <a:xfrm>
            <a:off x="830094" y="3129702"/>
            <a:ext cx="3886200" cy="477054"/>
          </a:xfrm>
          <a:prstGeom prst="rect">
            <a:avLst/>
          </a:prstGeom>
          <a:noFill/>
        </p:spPr>
        <p:txBody>
          <a:bodyPr wrap="square" rtlCol="0">
            <a:spAutoFit/>
          </a:bodyPr>
          <a:lstStyle/>
          <a:p>
            <a:pPr marL="342900" indent="-342900">
              <a:buFont typeface="Arial" pitchFamily="34" charset="0"/>
              <a:buChar char="•"/>
            </a:pPr>
            <a:r>
              <a:rPr lang="en-US" sz="2500" dirty="0" smtClean="0">
                <a:solidFill>
                  <a:schemeClr val="accent2"/>
                </a:solidFill>
              </a:rPr>
              <a:t>  Closeness centrality</a:t>
            </a:r>
            <a:endParaRPr lang="en-US" sz="2500" dirty="0">
              <a:solidFill>
                <a:schemeClr val="accent2"/>
              </a:solidFill>
            </a:endParaRPr>
          </a:p>
        </p:txBody>
      </p:sp>
      <p:pic>
        <p:nvPicPr>
          <p:cNvPr id="10" name="Picture 9"/>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3104307" y="306621"/>
            <a:ext cx="6039693" cy="600159"/>
          </a:xfrm>
          <a:prstGeom prst="rect">
            <a:avLst/>
          </a:prstGeom>
        </p:spPr>
      </p:pic>
      <p:pic>
        <p:nvPicPr>
          <p:cNvPr id="11" name="Picture 10"/>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2456517" y="906780"/>
            <a:ext cx="6687483" cy="1162212"/>
          </a:xfrm>
          <a:prstGeom prst="rect">
            <a:avLst/>
          </a:prstGeom>
        </p:spPr>
      </p:pic>
      <p:pic>
        <p:nvPicPr>
          <p:cNvPr id="12" name="Picture 11"/>
          <p:cNvPicPr>
            <a:picLocks noChangeAspect="1"/>
          </p:cNvPicPr>
          <p:nvPr/>
        </p:nvPicPr>
        <p:blipFill>
          <a:blip r:embed="rId7" cstate="email">
            <a:extLst>
              <a:ext uri="{28A0092B-C50C-407E-A947-70E740481C1C}">
                <a14:useLocalDpi xmlns:a14="http://schemas.microsoft.com/office/drawing/2010/main" val="0"/>
              </a:ext>
            </a:extLst>
          </a:blip>
          <a:stretch>
            <a:fillRect/>
          </a:stretch>
        </p:blipFill>
        <p:spPr>
          <a:xfrm>
            <a:off x="4419600" y="2046132"/>
            <a:ext cx="4724400" cy="2042903"/>
          </a:xfrm>
          <a:prstGeom prst="rect">
            <a:avLst/>
          </a:prstGeom>
        </p:spPr>
      </p:pic>
      <p:pic>
        <p:nvPicPr>
          <p:cNvPr id="13" name="Picture 12"/>
          <p:cNvPicPr>
            <a:picLocks noChangeAspect="1"/>
          </p:cNvPicPr>
          <p:nvPr/>
        </p:nvPicPr>
        <p:blipFill>
          <a:blip r:embed="rId8" cstate="email">
            <a:extLst>
              <a:ext uri="{28A0092B-C50C-407E-A947-70E740481C1C}">
                <a14:useLocalDpi xmlns:a14="http://schemas.microsoft.com/office/drawing/2010/main" val="0"/>
              </a:ext>
            </a:extLst>
          </a:blip>
          <a:stretch>
            <a:fillRect/>
          </a:stretch>
        </p:blipFill>
        <p:spPr>
          <a:xfrm>
            <a:off x="4419600" y="4089035"/>
            <a:ext cx="4724400" cy="1930765"/>
          </a:xfrm>
          <a:prstGeom prst="rect">
            <a:avLst/>
          </a:prstGeom>
        </p:spPr>
      </p:pic>
    </p:spTree>
    <p:custDataLst>
      <p:tags r:id="rId1"/>
    </p:custDataLst>
    <p:extLst>
      <p:ext uri="{BB962C8B-B14F-4D97-AF65-F5344CB8AC3E}">
        <p14:creationId xmlns:p14="http://schemas.microsoft.com/office/powerpoint/2010/main" val="2288794136"/>
      </p:ext>
    </p:extLst>
  </p:cSld>
  <p:clrMapOvr>
    <a:masterClrMapping/>
  </p:clrMapOvr>
  <p:transition>
    <p:fade/>
  </p:transition>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7728" name="Rectangle 16"/>
          <p:cNvSpPr>
            <a:spLocks noGrp="1" noChangeArrowheads="1"/>
          </p:cNvSpPr>
          <p:nvPr>
            <p:ph type="title"/>
            <p:custDataLst>
              <p:tags r:id="rId2"/>
            </p:custDataLst>
          </p:nvPr>
        </p:nvSpPr>
        <p:spPr>
          <a:xfrm>
            <a:off x="2438400" y="381000"/>
            <a:ext cx="4114800" cy="533400"/>
          </a:xfrm>
        </p:spPr>
        <p:txBody>
          <a:bodyPr>
            <a:normAutofit fontScale="90000"/>
          </a:bodyPr>
          <a:lstStyle/>
          <a:p>
            <a:pPr algn="ctr">
              <a:defRPr/>
            </a:pPr>
            <a:r>
              <a:rPr lang="en-US" sz="2800" dirty="0" smtClean="0">
                <a:solidFill>
                  <a:srgbClr val="00B0F0"/>
                </a:solidFill>
              </a:rPr>
              <a:t>View Of centrality</a:t>
            </a:r>
            <a:r>
              <a:rPr lang="en-US" sz="2800" dirty="0" smtClean="0">
                <a:solidFill>
                  <a:srgbClr val="00B0F0"/>
                </a:solidFill>
              </a:rPr>
              <a:t/>
            </a:r>
            <a:br>
              <a:rPr lang="en-US" sz="2800" dirty="0" smtClean="0">
                <a:solidFill>
                  <a:srgbClr val="00B0F0"/>
                </a:solidFill>
              </a:rPr>
            </a:br>
            <a:endParaRPr lang="en-US" sz="2800" dirty="0" smtClean="0">
              <a:solidFill>
                <a:srgbClr val="00B0F0"/>
              </a:solidFill>
            </a:endParaRPr>
          </a:p>
        </p:txBody>
      </p:sp>
      <p:pic>
        <p:nvPicPr>
          <p:cNvPr id="2" name="Picture 1"/>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2438400" y="762000"/>
            <a:ext cx="3724795" cy="1505160"/>
          </a:xfrm>
          <a:prstGeom prst="rect">
            <a:avLst/>
          </a:prstGeom>
        </p:spPr>
      </p:pic>
      <p:pic>
        <p:nvPicPr>
          <p:cNvPr id="3" name="Picture 2"/>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1066800" y="2320500"/>
            <a:ext cx="6858957" cy="2476846"/>
          </a:xfrm>
          <a:prstGeom prst="rect">
            <a:avLst/>
          </a:prstGeom>
        </p:spPr>
      </p:pic>
    </p:spTree>
    <p:custDataLst>
      <p:tags r:id="rId1"/>
    </p:custDataLst>
    <p:extLst>
      <p:ext uri="{BB962C8B-B14F-4D97-AF65-F5344CB8AC3E}">
        <p14:creationId xmlns:p14="http://schemas.microsoft.com/office/powerpoint/2010/main" val="3825934978"/>
      </p:ext>
    </p:extLst>
  </p:cSld>
  <p:clrMapOvr>
    <a:masterClrMapping/>
  </p:clrMapOvr>
  <p:transition>
    <p:fade/>
  </p:transition>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7728" name="Rectangle 16"/>
          <p:cNvSpPr>
            <a:spLocks noGrp="1" noChangeArrowheads="1"/>
          </p:cNvSpPr>
          <p:nvPr>
            <p:ph type="title"/>
            <p:custDataLst>
              <p:tags r:id="rId2"/>
            </p:custDataLst>
          </p:nvPr>
        </p:nvSpPr>
        <p:spPr>
          <a:xfrm>
            <a:off x="2438400" y="381000"/>
            <a:ext cx="4114800" cy="533400"/>
          </a:xfrm>
        </p:spPr>
        <p:txBody>
          <a:bodyPr>
            <a:normAutofit fontScale="90000"/>
          </a:bodyPr>
          <a:lstStyle/>
          <a:p>
            <a:pPr algn="ctr">
              <a:defRPr/>
            </a:pPr>
            <a:r>
              <a:rPr lang="en-US" sz="2800" dirty="0" smtClean="0">
                <a:solidFill>
                  <a:srgbClr val="00B0F0"/>
                </a:solidFill>
              </a:rPr>
              <a:t>visualization Of centrality</a:t>
            </a:r>
            <a:r>
              <a:rPr lang="en-US" sz="2800" dirty="0" smtClean="0">
                <a:solidFill>
                  <a:srgbClr val="00B0F0"/>
                </a:solidFill>
              </a:rPr>
              <a:t/>
            </a:r>
            <a:br>
              <a:rPr lang="en-US" sz="2800" dirty="0" smtClean="0">
                <a:solidFill>
                  <a:srgbClr val="00B0F0"/>
                </a:solidFill>
              </a:rPr>
            </a:br>
            <a:endParaRPr lang="en-US" sz="2800" dirty="0" smtClean="0">
              <a:solidFill>
                <a:srgbClr val="00B0F0"/>
              </a:solidFill>
            </a:endParaRPr>
          </a:p>
        </p:txBody>
      </p:sp>
      <p:pic>
        <p:nvPicPr>
          <p:cNvPr id="4" name="Picture 3"/>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685800" y="1066800"/>
            <a:ext cx="8373644" cy="4972744"/>
          </a:xfrm>
          <a:prstGeom prst="rect">
            <a:avLst/>
          </a:prstGeom>
        </p:spPr>
      </p:pic>
    </p:spTree>
    <p:custDataLst>
      <p:tags r:id="rId1"/>
    </p:custDataLst>
    <p:extLst>
      <p:ext uri="{BB962C8B-B14F-4D97-AF65-F5344CB8AC3E}">
        <p14:creationId xmlns:p14="http://schemas.microsoft.com/office/powerpoint/2010/main" val="2600704311"/>
      </p:ext>
    </p:extLst>
  </p:cSld>
  <p:clrMapOvr>
    <a:masterClrMapping/>
  </p:clrMapOvr>
  <p:transition>
    <p:fade/>
  </p:transition>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Box 6"/>
          <p:cNvSpPr txBox="1"/>
          <p:nvPr/>
        </p:nvSpPr>
        <p:spPr>
          <a:xfrm>
            <a:off x="3276600" y="2087940"/>
            <a:ext cx="5257800" cy="4084260"/>
          </a:xfrm>
          <a:prstGeom prst="rect">
            <a:avLst/>
          </a:prstGeom>
          <a:noFill/>
        </p:spPr>
        <p:txBody>
          <a:bodyPr wrap="square" rtlCol="0">
            <a:normAutofit/>
          </a:bodyPr>
          <a:lstStyle/>
          <a:p>
            <a:r>
              <a:rPr lang="en-US" sz="7200" b="1" dirty="0" smtClean="0">
                <a:solidFill>
                  <a:srgbClr val="0070C0"/>
                </a:solidFill>
              </a:rPr>
              <a:t>Community Detection</a:t>
            </a:r>
            <a:endParaRPr lang="en-US" sz="7200" b="1" dirty="0">
              <a:solidFill>
                <a:srgbClr val="0070C0"/>
              </a:solidFill>
            </a:endParaRPr>
          </a:p>
        </p:txBody>
      </p:sp>
      <p:pic>
        <p:nvPicPr>
          <p:cNvPr id="6" name="Picture 5"/>
          <p:cNvPicPr>
            <a:picLocks noChangeAspect="1"/>
          </p:cNvPicPr>
          <p:nvPr/>
        </p:nvPicPr>
        <p:blipFill>
          <a:blip r:embed="rId3" cstate="email">
            <a:extLst>
              <a:ext uri="{28A0092B-C50C-407E-A947-70E740481C1C}">
                <a14:useLocalDpi xmlns:a14="http://schemas.microsoft.com/office/drawing/2010/main"/>
              </a:ext>
            </a:extLst>
          </a:blip>
          <a:stretch>
            <a:fillRect/>
          </a:stretch>
        </p:blipFill>
        <p:spPr>
          <a:xfrm>
            <a:off x="-4963332" y="-6858000"/>
            <a:ext cx="7765662" cy="16476125"/>
          </a:xfrm>
          <a:prstGeom prst="rect">
            <a:avLst/>
          </a:prstGeom>
        </p:spPr>
      </p:pic>
      <p:pic>
        <p:nvPicPr>
          <p:cNvPr id="13" name="Picture 12"/>
          <p:cNvPicPr>
            <a:picLocks noChangeAspect="1"/>
          </p:cNvPicPr>
          <p:nvPr/>
        </p:nvPicPr>
        <p:blipFill rotWithShape="1">
          <a:blip r:embed="rId4" cstate="email">
            <a:extLst>
              <a:ext uri="{28A0092B-C50C-407E-A947-70E740481C1C}">
                <a14:useLocalDpi xmlns:a14="http://schemas.microsoft.com/office/drawing/2010/main"/>
              </a:ext>
            </a:extLst>
          </a:blip>
          <a:srcRect/>
          <a:stretch/>
        </p:blipFill>
        <p:spPr>
          <a:xfrm rot="20753331" flipH="1">
            <a:off x="-316180" y="3775286"/>
            <a:ext cx="2895600" cy="3390489"/>
          </a:xfrm>
          <a:prstGeom prst="rect">
            <a:avLst/>
          </a:prstGeom>
        </p:spPr>
      </p:pic>
    </p:spTree>
    <p:extLst>
      <p:ext uri="{BB962C8B-B14F-4D97-AF65-F5344CB8AC3E}">
        <p14:creationId xmlns:p14="http://schemas.microsoft.com/office/powerpoint/2010/main" val="3988846437"/>
      </p:ext>
    </p:extLst>
  </p:cSld>
  <p:clrMapOvr>
    <a:masterClrMapping/>
  </p:clrMapOvr>
  <p:transition spd="slow">
    <p:push dir="u"/>
  </p:transition>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7728" name="Rectangle 16"/>
          <p:cNvSpPr>
            <a:spLocks noGrp="1" noChangeArrowheads="1"/>
          </p:cNvSpPr>
          <p:nvPr>
            <p:ph type="title"/>
            <p:custDataLst>
              <p:tags r:id="rId2"/>
            </p:custDataLst>
          </p:nvPr>
        </p:nvSpPr>
        <p:spPr>
          <a:xfrm>
            <a:off x="457200" y="2765579"/>
            <a:ext cx="5486400" cy="533400"/>
          </a:xfrm>
        </p:spPr>
        <p:txBody>
          <a:bodyPr>
            <a:noAutofit/>
          </a:bodyPr>
          <a:lstStyle/>
          <a:p>
            <a:pPr marL="457200" indent="-457200">
              <a:buFont typeface="Arial" pitchFamily="34" charset="0"/>
              <a:buChar char="•"/>
              <a:defRPr/>
            </a:pPr>
            <a:r>
              <a:rPr lang="en-US" sz="1600" dirty="0">
                <a:solidFill>
                  <a:schemeClr val="accent2"/>
                </a:solidFill>
              </a:rPr>
              <a:t>Community detection using the </a:t>
            </a:r>
            <a:r>
              <a:rPr lang="en-US" sz="1600" dirty="0" err="1">
                <a:solidFill>
                  <a:schemeClr val="accent2"/>
                </a:solidFill>
              </a:rPr>
              <a:t>walktrap</a:t>
            </a:r>
            <a:r>
              <a:rPr lang="en-US" sz="1600" dirty="0">
                <a:solidFill>
                  <a:schemeClr val="accent2"/>
                </a:solidFill>
              </a:rPr>
              <a:t> </a:t>
            </a:r>
            <a:r>
              <a:rPr lang="en-US" sz="1600" dirty="0" smtClean="0">
                <a:solidFill>
                  <a:schemeClr val="accent2"/>
                </a:solidFill>
              </a:rPr>
              <a:t>algorithm</a:t>
            </a:r>
            <a:endParaRPr lang="en-US" sz="1600" dirty="0" smtClean="0"/>
          </a:p>
        </p:txBody>
      </p:sp>
      <p:sp>
        <p:nvSpPr>
          <p:cNvPr id="5" name="TextBox 4"/>
          <p:cNvSpPr txBox="1"/>
          <p:nvPr/>
        </p:nvSpPr>
        <p:spPr>
          <a:xfrm>
            <a:off x="457200" y="3129702"/>
            <a:ext cx="3886200" cy="338554"/>
          </a:xfrm>
          <a:prstGeom prst="rect">
            <a:avLst/>
          </a:prstGeom>
          <a:noFill/>
        </p:spPr>
        <p:txBody>
          <a:bodyPr wrap="square" rtlCol="0">
            <a:spAutoFit/>
          </a:bodyPr>
          <a:lstStyle/>
          <a:p>
            <a:pPr marL="342900" indent="-342900">
              <a:buFont typeface="Arial" pitchFamily="34" charset="0"/>
              <a:buChar char="•"/>
            </a:pPr>
            <a:r>
              <a:rPr lang="en-US" sz="1600" dirty="0">
                <a:solidFill>
                  <a:schemeClr val="accent2"/>
                </a:solidFill>
              </a:rPr>
              <a:t>  Visualize the community structure</a:t>
            </a:r>
            <a:endParaRPr lang="en-US" sz="1600" dirty="0">
              <a:solidFill>
                <a:schemeClr val="accent2"/>
              </a:solidFill>
            </a:endParaRPr>
          </a:p>
        </p:txBody>
      </p:sp>
      <p:pic>
        <p:nvPicPr>
          <p:cNvPr id="2" name="Picture 1"/>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304800" y="3619500"/>
            <a:ext cx="5058481" cy="2457793"/>
          </a:xfrm>
          <a:prstGeom prst="rect">
            <a:avLst/>
          </a:prstGeom>
        </p:spPr>
      </p:pic>
      <p:pic>
        <p:nvPicPr>
          <p:cNvPr id="3" name="Picture 2"/>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5363281" y="2438399"/>
            <a:ext cx="3905795" cy="4077269"/>
          </a:xfrm>
          <a:prstGeom prst="rect">
            <a:avLst/>
          </a:prstGeom>
        </p:spPr>
      </p:pic>
    </p:spTree>
    <p:custDataLst>
      <p:tags r:id="rId1"/>
    </p:custDataLst>
    <p:extLst>
      <p:ext uri="{BB962C8B-B14F-4D97-AF65-F5344CB8AC3E}">
        <p14:creationId xmlns:p14="http://schemas.microsoft.com/office/powerpoint/2010/main" val="3633325555"/>
      </p:ext>
    </p:extLst>
  </p:cSld>
  <p:clrMapOvr>
    <a:masterClrMapping/>
  </p:clrMapOvr>
  <p:transition>
    <p:fade/>
  </p:transition>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Box 6"/>
          <p:cNvSpPr txBox="1"/>
          <p:nvPr/>
        </p:nvSpPr>
        <p:spPr>
          <a:xfrm>
            <a:off x="3657600" y="2438400"/>
            <a:ext cx="5257800" cy="4084260"/>
          </a:xfrm>
          <a:prstGeom prst="rect">
            <a:avLst/>
          </a:prstGeom>
          <a:noFill/>
        </p:spPr>
        <p:txBody>
          <a:bodyPr wrap="square" rtlCol="0">
            <a:normAutofit/>
          </a:bodyPr>
          <a:lstStyle/>
          <a:p>
            <a:r>
              <a:rPr lang="en-US" sz="7200" b="1" dirty="0" smtClean="0">
                <a:solidFill>
                  <a:srgbClr val="0070C0"/>
                </a:solidFill>
              </a:rPr>
              <a:t>Clustering</a:t>
            </a:r>
            <a:endParaRPr lang="en-US" sz="7200" b="1" dirty="0">
              <a:solidFill>
                <a:srgbClr val="0070C0"/>
              </a:solidFill>
            </a:endParaRPr>
          </a:p>
        </p:txBody>
      </p:sp>
      <p:pic>
        <p:nvPicPr>
          <p:cNvPr id="6" name="Picture 5"/>
          <p:cNvPicPr>
            <a:picLocks noChangeAspect="1"/>
          </p:cNvPicPr>
          <p:nvPr/>
        </p:nvPicPr>
        <p:blipFill>
          <a:blip r:embed="rId3" cstate="email">
            <a:extLst>
              <a:ext uri="{28A0092B-C50C-407E-A947-70E740481C1C}">
                <a14:useLocalDpi xmlns:a14="http://schemas.microsoft.com/office/drawing/2010/main"/>
              </a:ext>
            </a:extLst>
          </a:blip>
          <a:stretch>
            <a:fillRect/>
          </a:stretch>
        </p:blipFill>
        <p:spPr>
          <a:xfrm>
            <a:off x="-4963332" y="-6858000"/>
            <a:ext cx="7765662" cy="16476125"/>
          </a:xfrm>
          <a:prstGeom prst="rect">
            <a:avLst/>
          </a:prstGeom>
        </p:spPr>
      </p:pic>
      <p:pic>
        <p:nvPicPr>
          <p:cNvPr id="13" name="Picture 12"/>
          <p:cNvPicPr>
            <a:picLocks noChangeAspect="1"/>
          </p:cNvPicPr>
          <p:nvPr/>
        </p:nvPicPr>
        <p:blipFill rotWithShape="1">
          <a:blip r:embed="rId4" cstate="email">
            <a:extLst>
              <a:ext uri="{28A0092B-C50C-407E-A947-70E740481C1C}">
                <a14:useLocalDpi xmlns:a14="http://schemas.microsoft.com/office/drawing/2010/main"/>
              </a:ext>
            </a:extLst>
          </a:blip>
          <a:srcRect/>
          <a:stretch/>
        </p:blipFill>
        <p:spPr>
          <a:xfrm rot="20753331" flipH="1">
            <a:off x="-316180" y="3775286"/>
            <a:ext cx="2895600" cy="3390489"/>
          </a:xfrm>
          <a:prstGeom prst="rect">
            <a:avLst/>
          </a:prstGeom>
        </p:spPr>
      </p:pic>
    </p:spTree>
    <p:extLst>
      <p:ext uri="{BB962C8B-B14F-4D97-AF65-F5344CB8AC3E}">
        <p14:creationId xmlns:p14="http://schemas.microsoft.com/office/powerpoint/2010/main" val="2979881228"/>
      </p:ext>
    </p:extLst>
  </p:cSld>
  <p:clrMapOvr>
    <a:masterClrMapping/>
  </p:clrMapOvr>
  <p:transition spd="slow">
    <p:push dir="u"/>
  </p:transition>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7728" name="Rectangle 16"/>
          <p:cNvSpPr>
            <a:spLocks noGrp="1" noChangeArrowheads="1"/>
          </p:cNvSpPr>
          <p:nvPr>
            <p:ph type="title"/>
            <p:custDataLst>
              <p:tags r:id="rId2"/>
            </p:custDataLst>
          </p:nvPr>
        </p:nvSpPr>
        <p:spPr>
          <a:xfrm>
            <a:off x="487680" y="2057400"/>
            <a:ext cx="5486400" cy="533400"/>
          </a:xfrm>
        </p:spPr>
        <p:txBody>
          <a:bodyPr>
            <a:noAutofit/>
          </a:bodyPr>
          <a:lstStyle/>
          <a:p>
            <a:pPr marL="457200" indent="-457200">
              <a:buFont typeface="Arial" pitchFamily="34" charset="0"/>
              <a:buChar char="•"/>
              <a:defRPr/>
            </a:pPr>
            <a:r>
              <a:rPr lang="en-US" sz="1600" dirty="0">
                <a:solidFill>
                  <a:schemeClr val="accent2"/>
                </a:solidFill>
              </a:rPr>
              <a:t> Clustering using the edge </a:t>
            </a:r>
            <a:r>
              <a:rPr lang="en-US" sz="1600" dirty="0" err="1" smtClean="0">
                <a:solidFill>
                  <a:schemeClr val="accent2"/>
                </a:solidFill>
              </a:rPr>
              <a:t>Betweenness</a:t>
            </a:r>
            <a:r>
              <a:rPr lang="en-US" sz="1600" dirty="0" smtClean="0">
                <a:solidFill>
                  <a:schemeClr val="accent2"/>
                </a:solidFill>
              </a:rPr>
              <a:t> </a:t>
            </a:r>
            <a:r>
              <a:rPr lang="en-US" sz="1600" dirty="0">
                <a:solidFill>
                  <a:schemeClr val="accent2"/>
                </a:solidFill>
              </a:rPr>
              <a:t>algorithm</a:t>
            </a:r>
            <a:endParaRPr lang="en-US" sz="1600" dirty="0" smtClean="0"/>
          </a:p>
        </p:txBody>
      </p:sp>
      <p:sp>
        <p:nvSpPr>
          <p:cNvPr id="5" name="TextBox 4"/>
          <p:cNvSpPr txBox="1"/>
          <p:nvPr/>
        </p:nvSpPr>
        <p:spPr>
          <a:xfrm>
            <a:off x="457200" y="2491740"/>
            <a:ext cx="3886200" cy="338554"/>
          </a:xfrm>
          <a:prstGeom prst="rect">
            <a:avLst/>
          </a:prstGeom>
          <a:noFill/>
        </p:spPr>
        <p:txBody>
          <a:bodyPr wrap="square" rtlCol="0">
            <a:spAutoFit/>
          </a:bodyPr>
          <a:lstStyle/>
          <a:p>
            <a:pPr marL="342900" indent="-342900">
              <a:buFont typeface="Arial" pitchFamily="34" charset="0"/>
              <a:buChar char="•"/>
            </a:pPr>
            <a:r>
              <a:rPr lang="en-US" sz="1600" dirty="0">
                <a:solidFill>
                  <a:schemeClr val="accent2"/>
                </a:solidFill>
              </a:rPr>
              <a:t>  </a:t>
            </a:r>
            <a:r>
              <a:rPr lang="en-US" sz="1600" dirty="0" smtClean="0">
                <a:solidFill>
                  <a:schemeClr val="accent2"/>
                </a:solidFill>
              </a:rPr>
              <a:t>  Visualize </a:t>
            </a:r>
            <a:r>
              <a:rPr lang="en-US" sz="1600" dirty="0">
                <a:solidFill>
                  <a:schemeClr val="accent2"/>
                </a:solidFill>
              </a:rPr>
              <a:t>the clustering</a:t>
            </a:r>
            <a:endParaRPr lang="en-US" sz="1600" dirty="0">
              <a:solidFill>
                <a:schemeClr val="accent2"/>
              </a:solidFill>
            </a:endParaRPr>
          </a:p>
        </p:txBody>
      </p:sp>
      <p:pic>
        <p:nvPicPr>
          <p:cNvPr id="6" name="Picture 5"/>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685799" y="3048000"/>
            <a:ext cx="4467849" cy="2133600"/>
          </a:xfrm>
          <a:prstGeom prst="rect">
            <a:avLst/>
          </a:prstGeom>
        </p:spPr>
      </p:pic>
      <p:pic>
        <p:nvPicPr>
          <p:cNvPr id="7" name="Picture 6"/>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5176508" y="1981200"/>
            <a:ext cx="3815092" cy="4591691"/>
          </a:xfrm>
          <a:prstGeom prst="rect">
            <a:avLst/>
          </a:prstGeom>
        </p:spPr>
      </p:pic>
    </p:spTree>
    <p:custDataLst>
      <p:tags r:id="rId1"/>
    </p:custDataLst>
    <p:extLst>
      <p:ext uri="{BB962C8B-B14F-4D97-AF65-F5344CB8AC3E}">
        <p14:creationId xmlns:p14="http://schemas.microsoft.com/office/powerpoint/2010/main" val="2595619587"/>
      </p:ext>
    </p:extLst>
  </p:cSld>
  <p:clrMapOvr>
    <a:masterClrMapping/>
  </p:clrMapOvr>
  <p:transition>
    <p:fade/>
  </p:transition>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Box 6"/>
          <p:cNvSpPr txBox="1"/>
          <p:nvPr/>
        </p:nvSpPr>
        <p:spPr>
          <a:xfrm>
            <a:off x="3810000" y="1676400"/>
            <a:ext cx="5257800" cy="4084260"/>
          </a:xfrm>
          <a:prstGeom prst="rect">
            <a:avLst/>
          </a:prstGeom>
          <a:noFill/>
        </p:spPr>
        <p:txBody>
          <a:bodyPr wrap="square" rtlCol="0">
            <a:normAutofit lnSpcReduction="10000"/>
          </a:bodyPr>
          <a:lstStyle/>
          <a:p>
            <a:r>
              <a:rPr lang="en-US" sz="7200" b="1" dirty="0" smtClean="0">
                <a:solidFill>
                  <a:srgbClr val="0070C0"/>
                </a:solidFill>
              </a:rPr>
              <a:t>Adjacency</a:t>
            </a:r>
          </a:p>
          <a:p>
            <a:r>
              <a:rPr lang="en-US" sz="7200" b="1" dirty="0" smtClean="0">
                <a:solidFill>
                  <a:srgbClr val="0070C0"/>
                </a:solidFill>
              </a:rPr>
              <a:t>Matrix and </a:t>
            </a:r>
            <a:r>
              <a:rPr lang="en-US" sz="7200" b="1" dirty="0" err="1" smtClean="0">
                <a:solidFill>
                  <a:srgbClr val="0070C0"/>
                </a:solidFill>
              </a:rPr>
              <a:t>Ipmortant</a:t>
            </a:r>
            <a:r>
              <a:rPr lang="en-US" sz="7200" b="1" dirty="0" smtClean="0">
                <a:solidFill>
                  <a:srgbClr val="0070C0"/>
                </a:solidFill>
              </a:rPr>
              <a:t> </a:t>
            </a:r>
          </a:p>
          <a:p>
            <a:r>
              <a:rPr lang="en-US" sz="7200" b="1" dirty="0" smtClean="0">
                <a:solidFill>
                  <a:srgbClr val="0070C0"/>
                </a:solidFill>
              </a:rPr>
              <a:t>Node</a:t>
            </a:r>
            <a:endParaRPr lang="en-US" sz="7200" b="1" dirty="0">
              <a:solidFill>
                <a:srgbClr val="0070C0"/>
              </a:solidFill>
            </a:endParaRPr>
          </a:p>
        </p:txBody>
      </p:sp>
      <p:pic>
        <p:nvPicPr>
          <p:cNvPr id="6" name="Picture 5"/>
          <p:cNvPicPr>
            <a:picLocks noChangeAspect="1"/>
          </p:cNvPicPr>
          <p:nvPr/>
        </p:nvPicPr>
        <p:blipFill>
          <a:blip r:embed="rId3" cstate="email">
            <a:extLst>
              <a:ext uri="{28A0092B-C50C-407E-A947-70E740481C1C}">
                <a14:useLocalDpi xmlns:a14="http://schemas.microsoft.com/office/drawing/2010/main"/>
              </a:ext>
            </a:extLst>
          </a:blip>
          <a:stretch>
            <a:fillRect/>
          </a:stretch>
        </p:blipFill>
        <p:spPr>
          <a:xfrm>
            <a:off x="-4963332" y="-6858000"/>
            <a:ext cx="7765662" cy="16476125"/>
          </a:xfrm>
          <a:prstGeom prst="rect">
            <a:avLst/>
          </a:prstGeom>
        </p:spPr>
      </p:pic>
      <p:pic>
        <p:nvPicPr>
          <p:cNvPr id="13" name="Picture 12"/>
          <p:cNvPicPr>
            <a:picLocks noChangeAspect="1"/>
          </p:cNvPicPr>
          <p:nvPr/>
        </p:nvPicPr>
        <p:blipFill rotWithShape="1">
          <a:blip r:embed="rId4" cstate="email">
            <a:extLst>
              <a:ext uri="{28A0092B-C50C-407E-A947-70E740481C1C}">
                <a14:useLocalDpi xmlns:a14="http://schemas.microsoft.com/office/drawing/2010/main"/>
              </a:ext>
            </a:extLst>
          </a:blip>
          <a:srcRect/>
          <a:stretch/>
        </p:blipFill>
        <p:spPr>
          <a:xfrm rot="20753331" flipH="1">
            <a:off x="-316180" y="3775286"/>
            <a:ext cx="2895600" cy="3390489"/>
          </a:xfrm>
          <a:prstGeom prst="rect">
            <a:avLst/>
          </a:prstGeom>
        </p:spPr>
      </p:pic>
    </p:spTree>
    <p:extLst>
      <p:ext uri="{BB962C8B-B14F-4D97-AF65-F5344CB8AC3E}">
        <p14:creationId xmlns:p14="http://schemas.microsoft.com/office/powerpoint/2010/main" val="1198906178"/>
      </p:ext>
    </p:extLst>
  </p:cSld>
  <p:clrMapOvr>
    <a:masterClrMapping/>
  </p:clrMapOvr>
  <p:transition spd="slow">
    <p:push dir="u"/>
  </p:transition>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7728" name="Rectangle 16"/>
          <p:cNvSpPr>
            <a:spLocks noGrp="1" noChangeArrowheads="1"/>
          </p:cNvSpPr>
          <p:nvPr>
            <p:ph type="title"/>
            <p:custDataLst>
              <p:tags r:id="rId2"/>
            </p:custDataLst>
          </p:nvPr>
        </p:nvSpPr>
        <p:spPr>
          <a:xfrm>
            <a:off x="647184" y="1066800"/>
            <a:ext cx="5486400" cy="533400"/>
          </a:xfrm>
        </p:spPr>
        <p:txBody>
          <a:bodyPr>
            <a:noAutofit/>
          </a:bodyPr>
          <a:lstStyle/>
          <a:p>
            <a:pPr marL="457200" indent="-457200">
              <a:buFont typeface="Arial" pitchFamily="34" charset="0"/>
              <a:buChar char="•"/>
              <a:defRPr/>
            </a:pPr>
            <a:r>
              <a:rPr lang="en-US" sz="1600" dirty="0" smtClean="0">
                <a:solidFill>
                  <a:schemeClr val="accent2"/>
                </a:solidFill>
              </a:rPr>
              <a:t>Adjacency Matrix</a:t>
            </a:r>
            <a:endParaRPr lang="en-US" sz="1600" dirty="0" smtClean="0"/>
          </a:p>
        </p:txBody>
      </p:sp>
      <p:sp>
        <p:nvSpPr>
          <p:cNvPr id="5" name="TextBox 4"/>
          <p:cNvSpPr txBox="1"/>
          <p:nvPr/>
        </p:nvSpPr>
        <p:spPr>
          <a:xfrm>
            <a:off x="533400" y="3048000"/>
            <a:ext cx="3886200" cy="338554"/>
          </a:xfrm>
          <a:prstGeom prst="rect">
            <a:avLst/>
          </a:prstGeom>
          <a:noFill/>
        </p:spPr>
        <p:txBody>
          <a:bodyPr wrap="square" rtlCol="0">
            <a:spAutoFit/>
          </a:bodyPr>
          <a:lstStyle/>
          <a:p>
            <a:pPr marL="342900" indent="-342900">
              <a:buFont typeface="Arial" pitchFamily="34" charset="0"/>
              <a:buChar char="•"/>
            </a:pPr>
            <a:r>
              <a:rPr lang="en-US" sz="1600" dirty="0">
                <a:solidFill>
                  <a:schemeClr val="accent2"/>
                </a:solidFill>
              </a:rPr>
              <a:t>  </a:t>
            </a:r>
            <a:r>
              <a:rPr lang="en-US" sz="1600" dirty="0" smtClean="0">
                <a:solidFill>
                  <a:schemeClr val="accent2"/>
                </a:solidFill>
              </a:rPr>
              <a:t>  Important Nodes</a:t>
            </a:r>
            <a:endParaRPr lang="en-US" sz="1600" dirty="0">
              <a:solidFill>
                <a:schemeClr val="accent2"/>
              </a:solidFill>
            </a:endParaRPr>
          </a:p>
        </p:txBody>
      </p:sp>
      <p:pic>
        <p:nvPicPr>
          <p:cNvPr id="2" name="Picture 1"/>
          <p:cNvPicPr>
            <a:picLocks noChangeAspect="1"/>
          </p:cNvPicPr>
          <p:nvPr/>
        </p:nvPicPr>
        <p:blipFill>
          <a:blip r:embed="rId5" cstate="email">
            <a:extLst>
              <a:ext uri="{28A0092B-C50C-407E-A947-70E740481C1C}">
                <a14:useLocalDpi xmlns:a14="http://schemas.microsoft.com/office/drawing/2010/main" val="0"/>
              </a:ext>
            </a:extLst>
          </a:blip>
          <a:stretch>
            <a:fillRect/>
          </a:stretch>
        </p:blipFill>
        <p:spPr>
          <a:xfrm>
            <a:off x="609600" y="1524000"/>
            <a:ext cx="7392432" cy="1295400"/>
          </a:xfrm>
          <a:prstGeom prst="rect">
            <a:avLst/>
          </a:prstGeom>
        </p:spPr>
      </p:pic>
      <p:pic>
        <p:nvPicPr>
          <p:cNvPr id="3" name="Picture 2"/>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609600" y="3657600"/>
            <a:ext cx="7325747" cy="628738"/>
          </a:xfrm>
          <a:prstGeom prst="rect">
            <a:avLst/>
          </a:prstGeom>
        </p:spPr>
      </p:pic>
    </p:spTree>
    <p:custDataLst>
      <p:tags r:id="rId1"/>
    </p:custDataLst>
    <p:extLst>
      <p:ext uri="{BB962C8B-B14F-4D97-AF65-F5344CB8AC3E}">
        <p14:creationId xmlns:p14="http://schemas.microsoft.com/office/powerpoint/2010/main" val="75934322"/>
      </p:ext>
    </p:extLst>
  </p:cSld>
  <p:clrMapOvr>
    <a:masterClrMapping/>
  </p:clrMapOvr>
  <p:transition>
    <p:fade/>
  </p:transition>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custDataLst>
              <p:tags r:id="rId2"/>
            </p:custDataLst>
          </p:nvPr>
        </p:nvSpPr>
        <p:spPr>
          <a:xfrm>
            <a:off x="838200" y="304800"/>
            <a:ext cx="4953000" cy="1143000"/>
          </a:xfrm>
        </p:spPr>
        <p:txBody>
          <a:bodyPr>
            <a:normAutofit fontScale="90000"/>
          </a:bodyPr>
          <a:lstStyle/>
          <a:p>
            <a:r>
              <a:rPr lang="en-US" b="1" dirty="0" smtClean="0">
                <a:solidFill>
                  <a:srgbClr val="00B0F0"/>
                </a:solidFill>
              </a:rPr>
              <a:t>Analysis of Measures</a:t>
            </a:r>
            <a:endParaRPr lang="en-US" b="1" dirty="0">
              <a:solidFill>
                <a:srgbClr val="00B0F0"/>
              </a:solidFill>
            </a:endParaRPr>
          </a:p>
        </p:txBody>
      </p:sp>
      <p:sp>
        <p:nvSpPr>
          <p:cNvPr id="3" name="Content Placeholder 2"/>
          <p:cNvSpPr>
            <a:spLocks noGrp="1"/>
          </p:cNvSpPr>
          <p:nvPr>
            <p:ph idx="1"/>
            <p:custDataLst>
              <p:tags r:id="rId3"/>
            </p:custDataLst>
          </p:nvPr>
        </p:nvSpPr>
        <p:spPr>
          <a:xfrm>
            <a:off x="838200" y="1143000"/>
            <a:ext cx="4267200" cy="4297363"/>
          </a:xfrm>
        </p:spPr>
        <p:txBody>
          <a:bodyPr>
            <a:normAutofit/>
          </a:bodyPr>
          <a:lstStyle/>
          <a:p>
            <a:r>
              <a:rPr lang="en-US" sz="2000" b="1" i="1" dirty="0" smtClean="0"/>
              <a:t>For degree centrality:</a:t>
            </a:r>
            <a:br>
              <a:rPr lang="en-US" sz="2000" b="1" i="1" dirty="0" smtClean="0"/>
            </a:br>
            <a:r>
              <a:rPr lang="en-US" sz="2000" b="1" i="1" dirty="0" smtClean="0"/>
              <a:t>Upon </a:t>
            </a:r>
            <a:r>
              <a:rPr lang="en-US" sz="2000" b="1" i="1" dirty="0"/>
              <a:t>analyzing the </a:t>
            </a:r>
            <a:r>
              <a:rPr lang="en-US" sz="2000" b="1" i="1" dirty="0" err="1"/>
              <a:t>Ethereum</a:t>
            </a:r>
            <a:r>
              <a:rPr lang="en-US" sz="2000" b="1" i="1" dirty="0"/>
              <a:t> exchange network, it was observed that a specific label exhibited the highest out-degree centrality, with a value of </a:t>
            </a:r>
            <a:r>
              <a:rPr lang="en-US" sz="2000" b="1" i="1" dirty="0" smtClean="0"/>
              <a:t>133. </a:t>
            </a:r>
            <a:r>
              <a:rPr lang="en-US" sz="2000" b="1" i="1" dirty="0"/>
              <a:t>This indicates that this particular label has the most outgoing connections to other nodes in the network, suggesting a potentially influential role in the exchange of assets within the </a:t>
            </a:r>
            <a:r>
              <a:rPr lang="en-US" sz="2000" b="1" i="1" dirty="0" err="1"/>
              <a:t>Ethereum</a:t>
            </a:r>
            <a:r>
              <a:rPr lang="en-US" sz="2000" b="1" i="1" dirty="0"/>
              <a:t> ecosystem.</a:t>
            </a:r>
            <a:endParaRPr lang="en-US" sz="2000" b="1" i="1" dirty="0"/>
          </a:p>
        </p:txBody>
      </p:sp>
      <p:pic>
        <p:nvPicPr>
          <p:cNvPr id="5" name="Picture 4"/>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723900" y="4876800"/>
            <a:ext cx="8153400" cy="1981200"/>
          </a:xfrm>
          <a:prstGeom prst="rect">
            <a:avLst/>
          </a:prstGeom>
        </p:spPr>
      </p:pic>
      <p:sp>
        <p:nvSpPr>
          <p:cNvPr id="7" name="TextBox 6"/>
          <p:cNvSpPr txBox="1"/>
          <p:nvPr/>
        </p:nvSpPr>
        <p:spPr>
          <a:xfrm>
            <a:off x="5554980" y="15240"/>
            <a:ext cx="3352800" cy="5078313"/>
          </a:xfrm>
          <a:prstGeom prst="rect">
            <a:avLst/>
          </a:prstGeom>
          <a:noFill/>
        </p:spPr>
        <p:txBody>
          <a:bodyPr wrap="square" rtlCol="0">
            <a:spAutoFit/>
          </a:bodyPr>
          <a:lstStyle/>
          <a:p>
            <a:r>
              <a:rPr lang="en-US" b="1" i="1" dirty="0" smtClean="0"/>
              <a:t>For </a:t>
            </a:r>
            <a:r>
              <a:rPr lang="en-US" b="1" i="1" dirty="0" err="1" smtClean="0"/>
              <a:t>Betweenness</a:t>
            </a:r>
            <a:r>
              <a:rPr lang="en-US" b="1" i="1" dirty="0" smtClean="0"/>
              <a:t> centrality:</a:t>
            </a:r>
            <a:br>
              <a:rPr lang="en-US" b="1" i="1" dirty="0" smtClean="0"/>
            </a:br>
            <a:r>
              <a:rPr lang="en-US" b="1" i="1" dirty="0" smtClean="0"/>
              <a:t>If </a:t>
            </a:r>
            <a:r>
              <a:rPr lang="en-US" b="1" i="1" dirty="0"/>
              <a:t>the </a:t>
            </a:r>
            <a:r>
              <a:rPr lang="en-US" b="1" i="1" dirty="0" err="1" smtClean="0"/>
              <a:t>Betweenness</a:t>
            </a:r>
            <a:r>
              <a:rPr lang="en-US" b="1" i="1" dirty="0" smtClean="0"/>
              <a:t> </a:t>
            </a:r>
            <a:r>
              <a:rPr lang="en-US" b="1" i="1" dirty="0"/>
              <a:t>centrality values are all zero for the nodes in the network, it </a:t>
            </a:r>
            <a:r>
              <a:rPr lang="en-US" b="1" i="1" dirty="0" smtClean="0"/>
              <a:t>indicate </a:t>
            </a:r>
            <a:r>
              <a:rPr lang="en-US" b="1" i="1" dirty="0"/>
              <a:t>that there are no shortest paths that pass through those nodes. This </a:t>
            </a:r>
            <a:r>
              <a:rPr lang="en-US" b="1" i="1" dirty="0" smtClean="0"/>
              <a:t>happen </a:t>
            </a:r>
            <a:r>
              <a:rPr lang="en-US" b="1" i="1" dirty="0"/>
              <a:t>in a network where there are multiple paths of equal length between nodes, or where the network is highly interconnected, making it difficult for any single node to act as a bridge between other nodes</a:t>
            </a:r>
            <a:r>
              <a:rPr lang="en-US" b="1" i="1" dirty="0" smtClean="0"/>
              <a:t>.</a:t>
            </a:r>
          </a:p>
          <a:p>
            <a:r>
              <a:rPr lang="en-US" b="1" i="1" dirty="0" smtClean="0"/>
              <a:t>For closeness centrality : </a:t>
            </a:r>
          </a:p>
          <a:p>
            <a:r>
              <a:rPr lang="en-US" b="1" i="1" dirty="0"/>
              <a:t>that every node is reachable from every other node in the network</a:t>
            </a:r>
            <a:r>
              <a:rPr lang="en-US" dirty="0"/>
              <a:t>.</a:t>
            </a:r>
            <a:endParaRPr lang="en-US" b="1" i="1" dirty="0"/>
          </a:p>
        </p:txBody>
      </p:sp>
    </p:spTree>
    <p:custDataLst>
      <p:tags r:id="rId1"/>
    </p:custDataLst>
  </p:cSld>
  <p:clrMapOvr>
    <a:masterClrMapping/>
  </p:clrMapOvr>
  <p:transition spd="slow">
    <p:wipe dir="d"/>
  </p:transition>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custDataLst>
              <p:tags r:id="rId2"/>
            </p:custDataLst>
          </p:nvPr>
        </p:nvSpPr>
        <p:spPr/>
        <p:txBody>
          <a:bodyPr/>
          <a:lstStyle/>
          <a:p>
            <a:r>
              <a:rPr lang="en-US" b="1" dirty="0" smtClean="0">
                <a:solidFill>
                  <a:srgbClr val="00B0F0"/>
                </a:solidFill>
              </a:rPr>
              <a:t>Summary</a:t>
            </a:r>
            <a:endParaRPr lang="en-US" b="1" dirty="0">
              <a:solidFill>
                <a:srgbClr val="00B0F0"/>
              </a:solidFill>
            </a:endParaRPr>
          </a:p>
        </p:txBody>
      </p:sp>
      <p:sp>
        <p:nvSpPr>
          <p:cNvPr id="3" name="Content Placeholder 2"/>
          <p:cNvSpPr>
            <a:spLocks noGrp="1"/>
          </p:cNvSpPr>
          <p:nvPr>
            <p:ph idx="1"/>
            <p:custDataLst>
              <p:tags r:id="rId3"/>
            </p:custDataLst>
          </p:nvPr>
        </p:nvSpPr>
        <p:spPr/>
        <p:txBody>
          <a:bodyPr>
            <a:normAutofit/>
          </a:bodyPr>
          <a:lstStyle/>
          <a:p>
            <a:r>
              <a:rPr lang="en-US" b="1" dirty="0" err="1" smtClean="0">
                <a:solidFill>
                  <a:schemeClr val="accent6">
                    <a:lumMod val="75000"/>
                  </a:schemeClr>
                </a:solidFill>
              </a:rPr>
              <a:t>Uniswap</a:t>
            </a:r>
            <a:r>
              <a:rPr lang="en-US" b="1" dirty="0" smtClean="0">
                <a:solidFill>
                  <a:schemeClr val="accent6">
                    <a:lumMod val="75000"/>
                  </a:schemeClr>
                </a:solidFill>
              </a:rPr>
              <a:t> is the most important label</a:t>
            </a:r>
            <a:endParaRPr lang="en-US" b="1" dirty="0" smtClean="0">
              <a:solidFill>
                <a:schemeClr val="accent6">
                  <a:lumMod val="75000"/>
                </a:schemeClr>
              </a:solidFill>
            </a:endParaRPr>
          </a:p>
          <a:p>
            <a:r>
              <a:rPr lang="en-US" b="1" dirty="0" smtClean="0">
                <a:solidFill>
                  <a:schemeClr val="accent6">
                    <a:lumMod val="75000"/>
                  </a:schemeClr>
                </a:solidFill>
              </a:rPr>
              <a:t>There is no bridge edges</a:t>
            </a:r>
            <a:endParaRPr lang="en-US" b="1" dirty="0">
              <a:solidFill>
                <a:schemeClr val="accent6">
                  <a:lumMod val="75000"/>
                </a:schemeClr>
              </a:solidFill>
            </a:endParaRPr>
          </a:p>
          <a:p>
            <a:r>
              <a:rPr lang="en-US" b="1" dirty="0" smtClean="0">
                <a:solidFill>
                  <a:schemeClr val="accent6">
                    <a:lumMod val="75000"/>
                  </a:schemeClr>
                </a:solidFill>
              </a:rPr>
              <a:t>Every node is reachable from other</a:t>
            </a:r>
          </a:p>
          <a:p>
            <a:r>
              <a:rPr lang="en-US" b="1" dirty="0" smtClean="0">
                <a:solidFill>
                  <a:schemeClr val="accent6">
                    <a:lumMod val="75000"/>
                  </a:schemeClr>
                </a:solidFill>
              </a:rPr>
              <a:t>The network is the connected</a:t>
            </a:r>
            <a:endParaRPr lang="en-US" b="1" dirty="0" smtClean="0">
              <a:solidFill>
                <a:schemeClr val="accent6">
                  <a:lumMod val="75000"/>
                </a:schemeClr>
              </a:solidFill>
            </a:endParaRPr>
          </a:p>
        </p:txBody>
      </p:sp>
    </p:spTree>
    <p:custDataLst>
      <p:tags r:id="rId1"/>
    </p:custDataLst>
  </p:cSld>
  <p:clrMapOvr>
    <a:masterClrMapping/>
  </p:clrMapOvr>
  <p:transition spd="slow">
    <p:wipe dir="d"/>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after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1000"/>
                                        <p:tgtEl>
                                          <p:spTgt spid="3">
                                            <p:txEl>
                                              <p:pRg st="0" end="0"/>
                                            </p:txEl>
                                          </p:spTgt>
                                        </p:tgtEl>
                                      </p:cBhvr>
                                    </p:animEffect>
                                    <p:anim calcmode="lin" valueType="num">
                                      <p:cBhvr>
                                        <p:cTn id="8" dur="1000" fill="hold"/>
                                        <p:tgtEl>
                                          <p:spTgt spid="3">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3">
                                            <p:txEl>
                                              <p:pRg st="0" end="0"/>
                                            </p:txEl>
                                          </p:spTgt>
                                        </p:tgtEl>
                                        <p:attrNameLst>
                                          <p:attrName>ppt_y</p:attrName>
                                        </p:attrNameLst>
                                      </p:cBhvr>
                                      <p:tavLst>
                                        <p:tav tm="0">
                                          <p:val>
                                            <p:strVal val="#ppt_y+.1"/>
                                          </p:val>
                                        </p:tav>
                                        <p:tav tm="100000">
                                          <p:val>
                                            <p:strVal val="#ppt_y"/>
                                          </p:val>
                                        </p:tav>
                                      </p:tavLst>
                                    </p:anim>
                                  </p:childTnLst>
                                </p:cTn>
                              </p:par>
                            </p:childTnLst>
                          </p:cTn>
                        </p:par>
                        <p:par>
                          <p:cTn id="10" fill="hold">
                            <p:stCondLst>
                              <p:cond delay="1000"/>
                            </p:stCondLst>
                            <p:childTnLst>
                              <p:par>
                                <p:cTn id="11" presetID="42" presetClass="entr" presetSubtype="0" fill="hold" grpId="0" nodeType="afterEffect">
                                  <p:stCondLst>
                                    <p:cond delay="0"/>
                                  </p:stCondLst>
                                  <p:childTnLst>
                                    <p:set>
                                      <p:cBhvr>
                                        <p:cTn id="12" dur="1" fill="hold">
                                          <p:stCondLst>
                                            <p:cond delay="0"/>
                                          </p:stCondLst>
                                        </p:cTn>
                                        <p:tgtEl>
                                          <p:spTgt spid="3">
                                            <p:txEl>
                                              <p:pRg st="1" end="1"/>
                                            </p:txEl>
                                          </p:spTgt>
                                        </p:tgtEl>
                                        <p:attrNameLst>
                                          <p:attrName>style.visibility</p:attrName>
                                        </p:attrNameLst>
                                      </p:cBhvr>
                                      <p:to>
                                        <p:strVal val="visible"/>
                                      </p:to>
                                    </p:set>
                                    <p:animEffect transition="in" filter="fade">
                                      <p:cBhvr>
                                        <p:cTn id="13" dur="1000"/>
                                        <p:tgtEl>
                                          <p:spTgt spid="3">
                                            <p:txEl>
                                              <p:pRg st="1" end="1"/>
                                            </p:txEl>
                                          </p:spTgt>
                                        </p:tgtEl>
                                      </p:cBhvr>
                                    </p:animEffect>
                                    <p:anim calcmode="lin" valueType="num">
                                      <p:cBhvr>
                                        <p:cTn id="14" dur="1000" fill="hold"/>
                                        <p:tgtEl>
                                          <p:spTgt spid="3">
                                            <p:txEl>
                                              <p:pRg st="1" end="1"/>
                                            </p:txEl>
                                          </p:spTgt>
                                        </p:tgtEl>
                                        <p:attrNameLst>
                                          <p:attrName>ppt_x</p:attrName>
                                        </p:attrNameLst>
                                      </p:cBhvr>
                                      <p:tavLst>
                                        <p:tav tm="0">
                                          <p:val>
                                            <p:strVal val="#ppt_x"/>
                                          </p:val>
                                        </p:tav>
                                        <p:tav tm="100000">
                                          <p:val>
                                            <p:strVal val="#ppt_x"/>
                                          </p:val>
                                        </p:tav>
                                      </p:tavLst>
                                    </p:anim>
                                    <p:anim calcmode="lin" valueType="num">
                                      <p:cBhvr>
                                        <p:cTn id="15" dur="1000" fill="hold"/>
                                        <p:tgtEl>
                                          <p:spTgt spid="3">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16" fill="hold">
                      <p:stCondLst>
                        <p:cond delay="indefinite"/>
                      </p:stCondLst>
                      <p:childTnLst>
                        <p:par>
                          <p:cTn id="17" fill="hold">
                            <p:stCondLst>
                              <p:cond delay="0"/>
                            </p:stCondLst>
                            <p:childTnLst>
                              <p:par>
                                <p:cTn id="18" presetID="42" presetClass="entr" presetSubtype="0" fill="hold" grpId="0" nodeType="clickEffect">
                                  <p:stCondLst>
                                    <p:cond delay="0"/>
                                  </p:stCondLst>
                                  <p:childTnLst>
                                    <p:set>
                                      <p:cBhvr>
                                        <p:cTn id="19" dur="1" fill="hold">
                                          <p:stCondLst>
                                            <p:cond delay="0"/>
                                          </p:stCondLst>
                                        </p:cTn>
                                        <p:tgtEl>
                                          <p:spTgt spid="3">
                                            <p:txEl>
                                              <p:pRg st="2" end="2"/>
                                            </p:txEl>
                                          </p:spTgt>
                                        </p:tgtEl>
                                        <p:attrNameLst>
                                          <p:attrName>style.visibility</p:attrName>
                                        </p:attrNameLst>
                                      </p:cBhvr>
                                      <p:to>
                                        <p:strVal val="visible"/>
                                      </p:to>
                                    </p:set>
                                    <p:animEffect transition="in" filter="fade">
                                      <p:cBhvr>
                                        <p:cTn id="20" dur="1000"/>
                                        <p:tgtEl>
                                          <p:spTgt spid="3">
                                            <p:txEl>
                                              <p:pRg st="2" end="2"/>
                                            </p:txEl>
                                          </p:spTgt>
                                        </p:tgtEl>
                                      </p:cBhvr>
                                    </p:animEffect>
                                    <p:anim calcmode="lin" valueType="num">
                                      <p:cBhvr>
                                        <p:cTn id="21" dur="1000" fill="hold"/>
                                        <p:tgtEl>
                                          <p:spTgt spid="3">
                                            <p:txEl>
                                              <p:pRg st="2" end="2"/>
                                            </p:txEl>
                                          </p:spTgt>
                                        </p:tgtEl>
                                        <p:attrNameLst>
                                          <p:attrName>ppt_x</p:attrName>
                                        </p:attrNameLst>
                                      </p:cBhvr>
                                      <p:tavLst>
                                        <p:tav tm="0">
                                          <p:val>
                                            <p:strVal val="#ppt_x"/>
                                          </p:val>
                                        </p:tav>
                                        <p:tav tm="100000">
                                          <p:val>
                                            <p:strVal val="#ppt_x"/>
                                          </p:val>
                                        </p:tav>
                                      </p:tavLst>
                                    </p:anim>
                                    <p:anim calcmode="lin" valueType="num">
                                      <p:cBhvr>
                                        <p:cTn id="22" dur="1000" fill="hold"/>
                                        <p:tgtEl>
                                          <p:spTgt spid="3">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23" fill="hold">
                      <p:stCondLst>
                        <p:cond delay="indefinite"/>
                      </p:stCondLst>
                      <p:childTnLst>
                        <p:par>
                          <p:cTn id="24" fill="hold">
                            <p:stCondLst>
                              <p:cond delay="0"/>
                            </p:stCondLst>
                            <p:childTnLst>
                              <p:par>
                                <p:cTn id="25" presetID="42" presetClass="entr" presetSubtype="0" fill="hold" grpId="0" nodeType="clickEffect">
                                  <p:stCondLst>
                                    <p:cond delay="0"/>
                                  </p:stCondLst>
                                  <p:childTnLst>
                                    <p:set>
                                      <p:cBhvr>
                                        <p:cTn id="26" dur="1" fill="hold">
                                          <p:stCondLst>
                                            <p:cond delay="0"/>
                                          </p:stCondLst>
                                        </p:cTn>
                                        <p:tgtEl>
                                          <p:spTgt spid="3">
                                            <p:txEl>
                                              <p:pRg st="3" end="3"/>
                                            </p:txEl>
                                          </p:spTgt>
                                        </p:tgtEl>
                                        <p:attrNameLst>
                                          <p:attrName>style.visibility</p:attrName>
                                        </p:attrNameLst>
                                      </p:cBhvr>
                                      <p:to>
                                        <p:strVal val="visible"/>
                                      </p:to>
                                    </p:set>
                                    <p:animEffect transition="in" filter="fade">
                                      <p:cBhvr>
                                        <p:cTn id="27" dur="1000"/>
                                        <p:tgtEl>
                                          <p:spTgt spid="3">
                                            <p:txEl>
                                              <p:pRg st="3" end="3"/>
                                            </p:txEl>
                                          </p:spTgt>
                                        </p:tgtEl>
                                      </p:cBhvr>
                                    </p:animEffect>
                                    <p:anim calcmode="lin" valueType="num">
                                      <p:cBhvr>
                                        <p:cTn id="28" dur="1000" fill="hold"/>
                                        <p:tgtEl>
                                          <p:spTgt spid="3">
                                            <p:txEl>
                                              <p:pRg st="3" end="3"/>
                                            </p:txEl>
                                          </p:spTgt>
                                        </p:tgtEl>
                                        <p:attrNameLst>
                                          <p:attrName>ppt_x</p:attrName>
                                        </p:attrNameLst>
                                      </p:cBhvr>
                                      <p:tavLst>
                                        <p:tav tm="0">
                                          <p:val>
                                            <p:strVal val="#ppt_x"/>
                                          </p:val>
                                        </p:tav>
                                        <p:tav tm="100000">
                                          <p:val>
                                            <p:strVal val="#ppt_x"/>
                                          </p:val>
                                        </p:tav>
                                      </p:tavLst>
                                    </p:anim>
                                    <p:anim calcmode="lin" valueType="num">
                                      <p:cBhvr>
                                        <p:cTn id="29" dur="1000" fill="hold"/>
                                        <p:tgtEl>
                                          <p:spTgt spid="3">
                                            <p:txEl>
                                              <p:pRg st="3" end="3"/>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8498" name="Rectangle 2"/>
          <p:cNvSpPr>
            <a:spLocks noGrp="1" noChangeArrowheads="1"/>
          </p:cNvSpPr>
          <p:nvPr>
            <p:ph type="title"/>
            <p:custDataLst>
              <p:tags r:id="rId2"/>
            </p:custDataLst>
          </p:nvPr>
        </p:nvSpPr>
        <p:spPr/>
        <p:txBody>
          <a:bodyPr/>
          <a:lstStyle/>
          <a:p>
            <a:pPr>
              <a:defRPr/>
            </a:pPr>
            <a:r>
              <a:rPr lang="en-US" dirty="0" smtClean="0"/>
              <a:t>Resources</a:t>
            </a:r>
          </a:p>
        </p:txBody>
      </p:sp>
      <p:sp>
        <p:nvSpPr>
          <p:cNvPr id="618499" name="Rectangle 3"/>
          <p:cNvSpPr>
            <a:spLocks noGrp="1" noChangeArrowheads="1"/>
          </p:cNvSpPr>
          <p:nvPr>
            <p:ph type="body" idx="1"/>
            <p:custDataLst>
              <p:tags r:id="rId3"/>
            </p:custDataLst>
          </p:nvPr>
        </p:nvSpPr>
        <p:spPr/>
        <p:txBody>
          <a:bodyPr>
            <a:normAutofit lnSpcReduction="10000"/>
          </a:bodyPr>
          <a:lstStyle/>
          <a:p>
            <a:pPr>
              <a:defRPr/>
            </a:pPr>
            <a:r>
              <a:rPr lang="en-US" dirty="0"/>
              <a:t>https://snap.stanford.edu/data/ethereum-exchanges.html</a:t>
            </a:r>
            <a:endParaRPr lang="en-US" dirty="0" smtClean="0"/>
          </a:p>
          <a:p>
            <a:pPr>
              <a:buFontTx/>
              <a:buNone/>
              <a:defRPr/>
            </a:pPr>
            <a:endParaRPr lang="en-US" dirty="0" smtClean="0"/>
          </a:p>
          <a:p>
            <a:pPr>
              <a:defRPr/>
            </a:pPr>
            <a:r>
              <a:rPr lang="en-US" dirty="0">
                <a:hlinkClick r:id="rId6"/>
              </a:rPr>
              <a:t>https://</a:t>
            </a:r>
            <a:r>
              <a:rPr lang="en-US" dirty="0" smtClean="0">
                <a:hlinkClick r:id="rId6"/>
              </a:rPr>
              <a:t>www.sciencedirect.com/topics/computer-science/betweenness-centrality</a:t>
            </a:r>
            <a:endParaRPr lang="en-US" dirty="0" smtClean="0"/>
          </a:p>
          <a:p>
            <a:pPr>
              <a:defRPr/>
            </a:pPr>
            <a:endParaRPr lang="en-US" dirty="0" smtClean="0"/>
          </a:p>
          <a:p>
            <a:pPr>
              <a:defRPr/>
            </a:pPr>
            <a:r>
              <a:rPr lang="en-US" u="sng" dirty="0">
                <a:solidFill>
                  <a:schemeClr val="tx2"/>
                </a:solidFill>
              </a:rPr>
              <a:t>https://www.sciencedirect.com/topics/computer-science/community-detection</a:t>
            </a:r>
            <a:endParaRPr lang="en-US" u="sng" dirty="0" smtClean="0">
              <a:solidFill>
                <a:schemeClr val="tx2"/>
              </a:solidFill>
            </a:endParaRPr>
          </a:p>
        </p:txBody>
      </p:sp>
    </p:spTree>
    <p:custDataLst>
      <p:tags r:id="rId1"/>
    </p:custDataLst>
  </p:cSld>
  <p:clrMapOvr>
    <a:masterClrMapping/>
  </p:clrMapOvr>
  <p:transition>
    <p:fade/>
  </p:transition>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0546" name="Rectangle 2"/>
          <p:cNvSpPr>
            <a:spLocks noGrp="1" noChangeArrowheads="1"/>
          </p:cNvSpPr>
          <p:nvPr>
            <p:ph type="title"/>
            <p:custDataLst>
              <p:tags r:id="rId2"/>
            </p:custDataLst>
          </p:nvPr>
        </p:nvSpPr>
        <p:spPr/>
        <p:txBody>
          <a:bodyPr>
            <a:normAutofit/>
          </a:bodyPr>
          <a:lstStyle/>
          <a:p>
            <a:pPr>
              <a:defRPr/>
            </a:pPr>
            <a:r>
              <a:rPr lang="en-US" dirty="0" smtClean="0"/>
              <a:t>Thank you !</a:t>
            </a:r>
            <a:endParaRPr lang="en-US" dirty="0" smtClean="0"/>
          </a:p>
        </p:txBody>
      </p:sp>
    </p:spTree>
    <p:custDataLst>
      <p:tags r:id="rId1"/>
    </p:custDataLst>
  </p:cSld>
  <p:clrMapOvr>
    <a:masterClrMapping/>
  </p:clrMapOvr>
  <p:transition>
    <p:fade/>
  </p:transition>
  <p:timing>
    <p:tnLst>
      <p:par>
        <p:cTn id="1" dur="indefinite" restart="never" nodeType="tmRoot"/>
      </p:par>
    </p:tnLst>
  </p:timing>
</p:sld>
</file>

<file path=ppt/tags/tag1.xml><?xml version="1.0" encoding="utf-8"?>
<p:tagLst xmlns:a="http://schemas.openxmlformats.org/drawingml/2006/main" xmlns:r="http://schemas.openxmlformats.org/officeDocument/2006/relationships" xmlns:p="http://schemas.openxmlformats.org/presentationml/2006/main">
  <p:tag name="DVSECTIONID" val="yI2DOt6RzRcU51QxdhNewL"/>
</p:tagLst>
</file>

<file path=ppt/tags/tag2.xml><?xml version="1.0" encoding="utf-8"?>
<p:tagLst xmlns:a="http://schemas.openxmlformats.org/drawingml/2006/main" xmlns:r="http://schemas.openxmlformats.org/officeDocument/2006/relationships" xmlns:p="http://schemas.openxmlformats.org/presentationml/2006/main">
  <p:tag name="DVSHAPEID" val="HAGzTPKJNXuuOK4v20iPS7"/>
</p:tagLst>
</file>

<file path=ppt/tags/tag3.xml><?xml version="1.0" encoding="utf-8"?>
<p:tagLst xmlns:a="http://schemas.openxmlformats.org/drawingml/2006/main" xmlns:r="http://schemas.openxmlformats.org/officeDocument/2006/relationships" xmlns:p="http://schemas.openxmlformats.org/presentationml/2006/main">
  <p:tag name="DVSHAPEID" val="0uhWvCQomImT50qU5y4Znw"/>
</p:tagLst>
</file>

<file path=ppt/tags/tag4.xml><?xml version="1.0" encoding="utf-8"?>
<p:tagLst xmlns:a="http://schemas.openxmlformats.org/drawingml/2006/main" xmlns:r="http://schemas.openxmlformats.org/officeDocument/2006/relationships" xmlns:p="http://schemas.openxmlformats.org/presentationml/2006/main">
  <p:tag name="DVSECTIONID" val="gLLkbNYfJYmMS8cGCr6Zqx"/>
</p:tagLst>
</file>

<file path=ppt/tags/tag5.xml><?xml version="1.0" encoding="utf-8"?>
<p:tagLst xmlns:a="http://schemas.openxmlformats.org/drawingml/2006/main" xmlns:r="http://schemas.openxmlformats.org/officeDocument/2006/relationships" xmlns:p="http://schemas.openxmlformats.org/presentationml/2006/main">
  <p:tag name="DVSHAPEID" val="Q5rpkfSAY2XQl9CRvNvPMK"/>
</p:tagLst>
</file>

<file path=ppt/tags/tag6.xml><?xml version="1.0" encoding="utf-8"?>
<p:tagLst xmlns:a="http://schemas.openxmlformats.org/drawingml/2006/main" xmlns:r="http://schemas.openxmlformats.org/officeDocument/2006/relationships" xmlns:p="http://schemas.openxmlformats.org/presentationml/2006/main">
  <p:tag name="DVSECTIONID" val="FpChuQ9mrn7ncHkUb4wJDg"/>
</p:tagLst>
</file>

<file path=ppt/tags/tag7.xml><?xml version="1.0" encoding="utf-8"?>
<p:tagLst xmlns:a="http://schemas.openxmlformats.org/drawingml/2006/main" xmlns:r="http://schemas.openxmlformats.org/officeDocument/2006/relationships" xmlns:p="http://schemas.openxmlformats.org/presentationml/2006/main">
  <p:tag name="DVSECTIONID" val="7wNinuYvMzfZ5U1vBqhNhA"/>
</p:tagLst>
</file>

<file path=ppt/tags/tag8.xml><?xml version="1.0" encoding="utf-8"?>
<p:tagLst xmlns:a="http://schemas.openxmlformats.org/drawingml/2006/main" xmlns:r="http://schemas.openxmlformats.org/officeDocument/2006/relationships" xmlns:p="http://schemas.openxmlformats.org/presentationml/2006/main">
  <p:tag name="DVSHAPEID" val="xiNleKja73hohXWjuz775t"/>
</p:tagLst>
</file>

<file path=ppt/tags/tag9.xml><?xml version="1.0" encoding="utf-8"?>
<p:tagLst xmlns:a="http://schemas.openxmlformats.org/drawingml/2006/main" xmlns:r="http://schemas.openxmlformats.org/officeDocument/2006/relationships" xmlns:p="http://schemas.openxmlformats.org/presentationml/2006/main">
  <p:tag name="DVSECTIONID" val="7wNinuYvMzfZ5U1vBqhNhA"/>
</p:tagLst>
</file>

<file path=ppt/tags/tag10.xml><?xml version="1.0" encoding="utf-8"?>
<p:tagLst xmlns:a="http://schemas.openxmlformats.org/drawingml/2006/main" xmlns:r="http://schemas.openxmlformats.org/officeDocument/2006/relationships" xmlns:p="http://schemas.openxmlformats.org/presentationml/2006/main">
  <p:tag name="DVSHAPEID" val="xiNleKja73hohXWjuz775t"/>
</p:tagLst>
</file>

<file path=ppt/tags/tag11.xml><?xml version="1.0" encoding="utf-8"?>
<p:tagLst xmlns:a="http://schemas.openxmlformats.org/drawingml/2006/main" xmlns:r="http://schemas.openxmlformats.org/officeDocument/2006/relationships" xmlns:p="http://schemas.openxmlformats.org/presentationml/2006/main">
  <p:tag name="DVSECTIONID" val="7wNinuYvMzfZ5U1vBqhNhA"/>
</p:tagLst>
</file>

<file path=ppt/tags/tag12.xml><?xml version="1.0" encoding="utf-8"?>
<p:tagLst xmlns:a="http://schemas.openxmlformats.org/drawingml/2006/main" xmlns:r="http://schemas.openxmlformats.org/officeDocument/2006/relationships" xmlns:p="http://schemas.openxmlformats.org/presentationml/2006/main">
  <p:tag name="DVSHAPEID" val="xiNleKja73hohXWjuz775t"/>
</p:tagLst>
</file>

<file path=ppt/tags/tag13.xml><?xml version="1.0" encoding="utf-8"?>
<p:tagLst xmlns:a="http://schemas.openxmlformats.org/drawingml/2006/main" xmlns:r="http://schemas.openxmlformats.org/officeDocument/2006/relationships" xmlns:p="http://schemas.openxmlformats.org/presentationml/2006/main">
  <p:tag name="DVSECTIONID" val="7wNinuYvMzfZ5U1vBqhNhA"/>
</p:tagLst>
</file>

<file path=ppt/tags/tag14.xml><?xml version="1.0" encoding="utf-8"?>
<p:tagLst xmlns:a="http://schemas.openxmlformats.org/drawingml/2006/main" xmlns:r="http://schemas.openxmlformats.org/officeDocument/2006/relationships" xmlns:p="http://schemas.openxmlformats.org/presentationml/2006/main">
  <p:tag name="DVSHAPEID" val="xiNleKja73hohXWjuz775t"/>
</p:tagLst>
</file>

<file path=ppt/tags/tag15.xml><?xml version="1.0" encoding="utf-8"?>
<p:tagLst xmlns:a="http://schemas.openxmlformats.org/drawingml/2006/main" xmlns:r="http://schemas.openxmlformats.org/officeDocument/2006/relationships" xmlns:p="http://schemas.openxmlformats.org/presentationml/2006/main">
  <p:tag name="DVSECTIONID" val="7wNinuYvMzfZ5U1vBqhNhA"/>
</p:tagLst>
</file>

<file path=ppt/tags/tag16.xml><?xml version="1.0" encoding="utf-8"?>
<p:tagLst xmlns:a="http://schemas.openxmlformats.org/drawingml/2006/main" xmlns:r="http://schemas.openxmlformats.org/officeDocument/2006/relationships" xmlns:p="http://schemas.openxmlformats.org/presentationml/2006/main">
  <p:tag name="DVSHAPEID" val="xiNleKja73hohXWjuz775t"/>
</p:tagLst>
</file>

<file path=ppt/tags/tag17.xml><?xml version="1.0" encoding="utf-8"?>
<p:tagLst xmlns:a="http://schemas.openxmlformats.org/drawingml/2006/main" xmlns:r="http://schemas.openxmlformats.org/officeDocument/2006/relationships" xmlns:p="http://schemas.openxmlformats.org/presentationml/2006/main">
  <p:tag name="DVSECTIONID" val="7wNinuYvMzfZ5U1vBqhNhA"/>
</p:tagLst>
</file>

<file path=ppt/tags/tag18.xml><?xml version="1.0" encoding="utf-8"?>
<p:tagLst xmlns:a="http://schemas.openxmlformats.org/drawingml/2006/main" xmlns:r="http://schemas.openxmlformats.org/officeDocument/2006/relationships" xmlns:p="http://schemas.openxmlformats.org/presentationml/2006/main">
  <p:tag name="DVSHAPEID" val="xiNleKja73hohXWjuz775t"/>
</p:tagLst>
</file>

<file path=ppt/tags/tag19.xml><?xml version="1.0" encoding="utf-8"?>
<p:tagLst xmlns:a="http://schemas.openxmlformats.org/drawingml/2006/main" xmlns:r="http://schemas.openxmlformats.org/officeDocument/2006/relationships" xmlns:p="http://schemas.openxmlformats.org/presentationml/2006/main">
  <p:tag name="DVSECTIONID" val="7wNinuYvMzfZ5U1vBqhNhA"/>
</p:tagLst>
</file>

<file path=ppt/tags/tag20.xml><?xml version="1.0" encoding="utf-8"?>
<p:tagLst xmlns:a="http://schemas.openxmlformats.org/drawingml/2006/main" xmlns:r="http://schemas.openxmlformats.org/officeDocument/2006/relationships" xmlns:p="http://schemas.openxmlformats.org/presentationml/2006/main">
  <p:tag name="DVSHAPEID" val="xiNleKja73hohXWjuz775t"/>
</p:tagLst>
</file>

<file path=ppt/tags/tag21.xml><?xml version="1.0" encoding="utf-8"?>
<p:tagLst xmlns:a="http://schemas.openxmlformats.org/drawingml/2006/main" xmlns:r="http://schemas.openxmlformats.org/officeDocument/2006/relationships" xmlns:p="http://schemas.openxmlformats.org/presentationml/2006/main">
  <p:tag name="DVSECTIONID" val="CdIAG7WhWjupCZ4n8F2Kse"/>
</p:tagLst>
</file>

<file path=ppt/tags/tag22.xml><?xml version="1.0" encoding="utf-8"?>
<p:tagLst xmlns:a="http://schemas.openxmlformats.org/drawingml/2006/main" xmlns:r="http://schemas.openxmlformats.org/officeDocument/2006/relationships" xmlns:p="http://schemas.openxmlformats.org/presentationml/2006/main">
  <p:tag name="DVSHAPEID" val="7C7AXHsIfcZM0GIL5sI0jk"/>
</p:tagLst>
</file>

<file path=ppt/tags/tag23.xml><?xml version="1.0" encoding="utf-8"?>
<p:tagLst xmlns:a="http://schemas.openxmlformats.org/drawingml/2006/main" xmlns:r="http://schemas.openxmlformats.org/officeDocument/2006/relationships" xmlns:p="http://schemas.openxmlformats.org/presentationml/2006/main">
  <p:tag name="DVSHAPEID" val="Nt3NLyN5bG9MX84Ywq40Qo"/>
</p:tagLst>
</file>

<file path=ppt/tags/tag24.xml><?xml version="1.0" encoding="utf-8"?>
<p:tagLst xmlns:a="http://schemas.openxmlformats.org/drawingml/2006/main" xmlns:r="http://schemas.openxmlformats.org/officeDocument/2006/relationships" xmlns:p="http://schemas.openxmlformats.org/presentationml/2006/main">
  <p:tag name="DVSECTIONID" val="Unk8vjtC9q0JAXtyxsX2O5"/>
</p:tagLst>
</file>

<file path=ppt/tags/tag25.xml><?xml version="1.0" encoding="utf-8"?>
<p:tagLst xmlns:a="http://schemas.openxmlformats.org/drawingml/2006/main" xmlns:r="http://schemas.openxmlformats.org/officeDocument/2006/relationships" xmlns:p="http://schemas.openxmlformats.org/presentationml/2006/main">
  <p:tag name="DVSHAPEID" val="Rcuf4iZwLgLEPe9Eifdx3u"/>
</p:tagLst>
</file>

<file path=ppt/tags/tag26.xml><?xml version="1.0" encoding="utf-8"?>
<p:tagLst xmlns:a="http://schemas.openxmlformats.org/drawingml/2006/main" xmlns:r="http://schemas.openxmlformats.org/officeDocument/2006/relationships" xmlns:p="http://schemas.openxmlformats.org/presentationml/2006/main">
  <p:tag name="DVSHAPEID" val="uzParF19LzvJyR9qw266In"/>
</p:tagLst>
</file>

<file path=ppt/tags/tag27.xml><?xml version="1.0" encoding="utf-8"?>
<p:tagLst xmlns:a="http://schemas.openxmlformats.org/drawingml/2006/main" xmlns:r="http://schemas.openxmlformats.org/officeDocument/2006/relationships" xmlns:p="http://schemas.openxmlformats.org/presentationml/2006/main">
  <p:tag name="DVSECTIONID" val="OOKFAmQ6LnTdkKqqzhwoax"/>
</p:tagLst>
</file>

<file path=ppt/tags/tag28.xml><?xml version="1.0" encoding="utf-8"?>
<p:tagLst xmlns:a="http://schemas.openxmlformats.org/drawingml/2006/main" xmlns:r="http://schemas.openxmlformats.org/officeDocument/2006/relationships" xmlns:p="http://schemas.openxmlformats.org/presentationml/2006/main">
  <p:tag name="DVSHAPEID" val="XuPQogmzKvTp1YV9ymQ2ZW"/>
</p:tagLst>
</file>

<file path=ppt/tags/tag29.xml><?xml version="1.0" encoding="utf-8"?>
<p:tagLst xmlns:a="http://schemas.openxmlformats.org/drawingml/2006/main" xmlns:r="http://schemas.openxmlformats.org/officeDocument/2006/relationships" xmlns:p="http://schemas.openxmlformats.org/presentationml/2006/main">
  <p:tag name="DVSHAPEID" val="S8Cm1higbyIl35Abad2Rjv"/>
</p:tagLst>
</file>

<file path=ppt/tags/tag30.xml><?xml version="1.0" encoding="utf-8"?>
<p:tagLst xmlns:a="http://schemas.openxmlformats.org/drawingml/2006/main" xmlns:r="http://schemas.openxmlformats.org/officeDocument/2006/relationships" xmlns:p="http://schemas.openxmlformats.org/presentationml/2006/main">
  <p:tag name="DVSECTIONID" val="ezdaKHeWyBnZyZ2cDqRSoa"/>
</p:tagLst>
</file>

<file path=ppt/tags/tag31.xml><?xml version="1.0" encoding="utf-8"?>
<p:tagLst xmlns:a="http://schemas.openxmlformats.org/drawingml/2006/main" xmlns:r="http://schemas.openxmlformats.org/officeDocument/2006/relationships" xmlns:p="http://schemas.openxmlformats.org/presentationml/2006/main">
  <p:tag name="DVSHAPEID" val="LRMR96J2MVd0CGe2e5htjk"/>
</p:tagLst>
</file>

<file path=ppt/theme/theme1.xml><?xml version="1.0" encoding="utf-8"?>
<a:theme xmlns:a="http://schemas.openxmlformats.org/drawingml/2006/main" name="Training">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Training</Template>
  <TotalTime>0</TotalTime>
  <Words>938</Words>
  <Application>Microsoft Office PowerPoint</Application>
  <PresentationFormat>On-screen Show (4:3)</PresentationFormat>
  <Paragraphs>146</Paragraphs>
  <Slides>30</Slides>
  <Notes>30</Notes>
  <HiddenSlides>0</HiddenSlides>
  <MMClips>0</MMClips>
  <ScaleCrop>false</ScaleCrop>
  <HeadingPairs>
    <vt:vector size="4" baseType="variant">
      <vt:variant>
        <vt:lpstr>Theme</vt:lpstr>
      </vt:variant>
      <vt:variant>
        <vt:i4>1</vt:i4>
      </vt:variant>
      <vt:variant>
        <vt:lpstr>Slide Titles</vt:lpstr>
      </vt:variant>
      <vt:variant>
        <vt:i4>30</vt:i4>
      </vt:variant>
    </vt:vector>
  </HeadingPairs>
  <TitlesOfParts>
    <vt:vector size="31" baseType="lpstr">
      <vt:lpstr>Training</vt:lpstr>
      <vt:lpstr>Social Network Project</vt:lpstr>
      <vt:lpstr>The main goals of this project</vt:lpstr>
      <vt:lpstr>PowerPoint Presentation</vt:lpstr>
      <vt:lpstr>PowerPoint Presentation</vt:lpstr>
      <vt:lpstr>PowerPoint Presentation</vt:lpstr>
      <vt:lpstr>PowerPoint Presentation</vt:lpstr>
      <vt:lpstr>PowerPoint Presentation</vt:lpstr>
      <vt:lpstr>PowerPoint Presentation</vt:lpstr>
      <vt:lpstr>Let’s Start!</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In degree centrality </vt:lpstr>
      <vt:lpstr>Betweenness centrality </vt:lpstr>
      <vt:lpstr>View Of centrality </vt:lpstr>
      <vt:lpstr>visualization Of centrality </vt:lpstr>
      <vt:lpstr>PowerPoint Presentation</vt:lpstr>
      <vt:lpstr>Community detection using the walktrap algorithm</vt:lpstr>
      <vt:lpstr>PowerPoint Presentation</vt:lpstr>
      <vt:lpstr> Clustering using the edge Betweenness algorithm</vt:lpstr>
      <vt:lpstr>PowerPoint Presentation</vt:lpstr>
      <vt:lpstr>Adjacency Matrix</vt:lpstr>
      <vt:lpstr>Analysis of Measures</vt:lpstr>
      <vt:lpstr>Summary</vt:lpstr>
      <vt:lpstr>Resources</vt:lpstr>
      <vt:lpstr>Thank you !</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
  <cp:lastModifiedBy/>
  <cp:revision>1</cp:revision>
  <dcterms:created xsi:type="dcterms:W3CDTF">2023-12-23T23:04:44Z</dcterms:created>
  <dcterms:modified xsi:type="dcterms:W3CDTF">2023-12-24T16:31:02Z</dcterms:modified>
</cp:coreProperties>
</file>